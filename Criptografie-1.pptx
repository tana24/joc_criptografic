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s/modernComment_10F_DCC56236.xml" ContentType="application/vnd.ms-powerpoint.comments+xml"/>
  <Override PartName="/ppt/comments/modernComment_111_EC5D9394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1" r:id="rId3"/>
    <p:sldId id="262" r:id="rId4"/>
    <p:sldId id="257" r:id="rId5"/>
    <p:sldId id="260" r:id="rId6"/>
    <p:sldId id="259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3" r:id="rId16"/>
    <p:sldId id="274" r:id="rId17"/>
    <p:sldId id="275" r:id="rId18"/>
    <p:sldId id="277" r:id="rId19"/>
    <p:sldId id="279" r:id="rId20"/>
    <p:sldId id="280" r:id="rId21"/>
    <p:sldId id="281" r:id="rId22"/>
    <p:sldId id="282" r:id="rId23"/>
    <p:sldId id="283" r:id="rId24"/>
    <p:sldId id="284" r:id="rId25"/>
    <p:sldId id="286" r:id="rId26"/>
    <p:sldId id="288" r:id="rId27"/>
    <p:sldId id="289" r:id="rId28"/>
    <p:sldId id="290" r:id="rId29"/>
    <p:sldId id="291" r:id="rId30"/>
    <p:sldId id="292" r:id="rId31"/>
    <p:sldId id="296" r:id="rId32"/>
    <p:sldId id="293" r:id="rId33"/>
    <p:sldId id="294" r:id="rId34"/>
    <p:sldId id="299" r:id="rId35"/>
    <p:sldId id="298" r:id="rId36"/>
    <p:sldId id="301" r:id="rId37"/>
    <p:sldId id="302" r:id="rId38"/>
    <p:sldId id="303" r:id="rId39"/>
    <p:sldId id="304" r:id="rId40"/>
    <p:sldId id="305" r:id="rId41"/>
    <p:sldId id="307" r:id="rId42"/>
    <p:sldId id="306" r:id="rId43"/>
    <p:sldId id="308" r:id="rId44"/>
    <p:sldId id="309" r:id="rId45"/>
    <p:sldId id="311" r:id="rId46"/>
    <p:sldId id="318" r:id="rId47"/>
    <p:sldId id="310" r:id="rId48"/>
    <p:sldId id="295" r:id="rId49"/>
    <p:sldId id="312" r:id="rId50"/>
    <p:sldId id="313" r:id="rId51"/>
    <p:sldId id="314" r:id="rId52"/>
    <p:sldId id="315" r:id="rId53"/>
    <p:sldId id="316" r:id="rId54"/>
    <p:sldId id="317" r:id="rId55"/>
    <p:sldId id="258" r:id="rId56"/>
    <p:sldId id="278" r:id="rId57"/>
    <p:sldId id="297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A323BB-A2C5-8876-2CA1-418739D09974}" name="TANASESCU LUCA" initials="TL" userId="S::p.luca.tanasescu@cnicbag.ro::d021c2b3-cd8f-4930-9f39-7814f3e7729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DAD688-1587-ACD9-D473-9A220F2547A7}" v="3" dt="2025-12-14T10:53:32.439"/>
    <p1510:client id="{F1507E32-B6ED-FFAA-2404-6FAAEFBE0457}" v="18" dt="2025-12-14T14:50:44.3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65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ASESCU LUCA" userId="S::p.luca.tanasescu@cnicbag.ro::d021c2b3-cd8f-4930-9f39-7814f3e77293" providerId="AD" clId="Web-{F1507E32-B6ED-FFAA-2404-6FAAEFBE0457}"/>
    <pc:docChg chg="addSld modSld">
      <pc:chgData name="TANASESCU LUCA" userId="S::p.luca.tanasescu@cnicbag.ro::d021c2b3-cd8f-4930-9f39-7814f3e77293" providerId="AD" clId="Web-{F1507E32-B6ED-FFAA-2404-6FAAEFBE0457}" dt="2025-12-14T14:50:44.306" v="19" actId="20577"/>
      <pc:docMkLst>
        <pc:docMk/>
      </pc:docMkLst>
      <pc:sldChg chg="modSp">
        <pc:chgData name="TANASESCU LUCA" userId="S::p.luca.tanasescu@cnicbag.ro::d021c2b3-cd8f-4930-9f39-7814f3e77293" providerId="AD" clId="Web-{F1507E32-B6ED-FFAA-2404-6FAAEFBE0457}" dt="2025-12-14T14:37:26.135" v="1" actId="20577"/>
        <pc:sldMkLst>
          <pc:docMk/>
          <pc:sldMk cId="2504785293" sldId="265"/>
        </pc:sldMkLst>
        <pc:spChg chg="mod">
          <ac:chgData name="TANASESCU LUCA" userId="S::p.luca.tanasescu@cnicbag.ro::d021c2b3-cd8f-4930-9f39-7814f3e77293" providerId="AD" clId="Web-{F1507E32-B6ED-FFAA-2404-6FAAEFBE0457}" dt="2025-12-14T14:37:26.135" v="1" actId="20577"/>
          <ac:spMkLst>
            <pc:docMk/>
            <pc:sldMk cId="2504785293" sldId="265"/>
            <ac:spMk id="3" creationId="{5EA1E926-B235-1E5D-DBCC-CD7F46793384}"/>
          </ac:spMkLst>
        </pc:spChg>
      </pc:sldChg>
      <pc:sldChg chg="modSp">
        <pc:chgData name="TANASESCU LUCA" userId="S::p.luca.tanasescu@cnicbag.ro::d021c2b3-cd8f-4930-9f39-7814f3e77293" providerId="AD" clId="Web-{F1507E32-B6ED-FFAA-2404-6FAAEFBE0457}" dt="2025-12-14T14:50:44.306" v="19" actId="20577"/>
        <pc:sldMkLst>
          <pc:docMk/>
          <pc:sldMk cId="4048548634" sldId="278"/>
        </pc:sldMkLst>
        <pc:spChg chg="mod">
          <ac:chgData name="TANASESCU LUCA" userId="S::p.luca.tanasescu@cnicbag.ro::d021c2b3-cd8f-4930-9f39-7814f3e77293" providerId="AD" clId="Web-{F1507E32-B6ED-FFAA-2404-6FAAEFBE0457}" dt="2025-12-14T14:50:44.306" v="19" actId="20577"/>
          <ac:spMkLst>
            <pc:docMk/>
            <pc:sldMk cId="4048548634" sldId="278"/>
            <ac:spMk id="3" creationId="{A6455111-1A84-B992-9EE4-F5E3D01F1D14}"/>
          </ac:spMkLst>
        </pc:spChg>
      </pc:sldChg>
      <pc:sldChg chg="modSp">
        <pc:chgData name="TANASESCU LUCA" userId="S::p.luca.tanasescu@cnicbag.ro::d021c2b3-cd8f-4930-9f39-7814f3e77293" providerId="AD" clId="Web-{F1507E32-B6ED-FFAA-2404-6FAAEFBE0457}" dt="2025-12-14T14:40:22.607" v="2" actId="14100"/>
        <pc:sldMkLst>
          <pc:docMk/>
          <pc:sldMk cId="917241035" sldId="283"/>
        </pc:sldMkLst>
        <pc:spChg chg="mod">
          <ac:chgData name="TANASESCU LUCA" userId="S::p.luca.tanasescu@cnicbag.ro::d021c2b3-cd8f-4930-9f39-7814f3e77293" providerId="AD" clId="Web-{F1507E32-B6ED-FFAA-2404-6FAAEFBE0457}" dt="2025-12-14T14:40:22.607" v="2" actId="14100"/>
          <ac:spMkLst>
            <pc:docMk/>
            <pc:sldMk cId="917241035" sldId="283"/>
            <ac:spMk id="2" creationId="{3B073825-4255-8D55-D81C-1E27F82ED2F0}"/>
          </ac:spMkLst>
        </pc:spChg>
      </pc:sldChg>
      <pc:sldChg chg="modSp add replId">
        <pc:chgData name="TANASESCU LUCA" userId="S::p.luca.tanasescu@cnicbag.ro::d021c2b3-cd8f-4930-9f39-7814f3e77293" providerId="AD" clId="Web-{F1507E32-B6ED-FFAA-2404-6FAAEFBE0457}" dt="2025-12-14T14:50:24.664" v="16" actId="20577"/>
        <pc:sldMkLst>
          <pc:docMk/>
          <pc:sldMk cId="3792116193" sldId="318"/>
        </pc:sldMkLst>
        <pc:spChg chg="mod">
          <ac:chgData name="TANASESCU LUCA" userId="S::p.luca.tanasescu@cnicbag.ro::d021c2b3-cd8f-4930-9f39-7814f3e77293" providerId="AD" clId="Web-{F1507E32-B6ED-FFAA-2404-6FAAEFBE0457}" dt="2025-12-14T14:50:18.789" v="13" actId="20577"/>
          <ac:spMkLst>
            <pc:docMk/>
            <pc:sldMk cId="3792116193" sldId="318"/>
            <ac:spMk id="2" creationId="{048B4420-8F13-EA59-55B9-A1DFA5B31133}"/>
          </ac:spMkLst>
        </pc:spChg>
        <pc:spChg chg="mod">
          <ac:chgData name="TANASESCU LUCA" userId="S::p.luca.tanasescu@cnicbag.ro::d021c2b3-cd8f-4930-9f39-7814f3e77293" providerId="AD" clId="Web-{F1507E32-B6ED-FFAA-2404-6FAAEFBE0457}" dt="2025-12-14T14:50:24.664" v="16" actId="20577"/>
          <ac:spMkLst>
            <pc:docMk/>
            <pc:sldMk cId="3792116193" sldId="318"/>
            <ac:spMk id="3" creationId="{516D407F-20E2-B30A-250A-C1792FB94FD7}"/>
          </ac:spMkLst>
        </pc:spChg>
      </pc:sldChg>
    </pc:docChg>
  </pc:docChgLst>
  <pc:docChgLst>
    <pc:chgData name="TANASESCU LUCA" userId="S::p.luca.tanasescu@cnicbag.ro::d021c2b3-cd8f-4930-9f39-7814f3e77293" providerId="AD" clId="Web-{78DAD688-1587-ACD9-D473-9A220F2547A7}"/>
    <pc:docChg chg="modSld">
      <pc:chgData name="TANASESCU LUCA" userId="S::p.luca.tanasescu@cnicbag.ro::d021c2b3-cd8f-4930-9f39-7814f3e77293" providerId="AD" clId="Web-{78DAD688-1587-ACD9-D473-9A220F2547A7}" dt="2025-12-14T10:53:28.220" v="1" actId="20577"/>
      <pc:docMkLst>
        <pc:docMk/>
      </pc:docMkLst>
      <pc:sldChg chg="modSp">
        <pc:chgData name="TANASESCU LUCA" userId="S::p.luca.tanasescu@cnicbag.ro::d021c2b3-cd8f-4930-9f39-7814f3e77293" providerId="AD" clId="Web-{78DAD688-1587-ACD9-D473-9A220F2547A7}" dt="2025-12-14T10:53:28.220" v="1" actId="20577"/>
        <pc:sldMkLst>
          <pc:docMk/>
          <pc:sldMk cId="109857222" sldId="256"/>
        </pc:sldMkLst>
        <pc:spChg chg="mod">
          <ac:chgData name="TANASESCU LUCA" userId="S::p.luca.tanasescu@cnicbag.ro::d021c2b3-cd8f-4930-9f39-7814f3e77293" providerId="AD" clId="Web-{78DAD688-1587-ACD9-D473-9A220F2547A7}" dt="2025-12-14T10:53:28.220" v="1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</pc:chgInfo>
</file>

<file path=ppt/comments/modernComment_10F_DCC5623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12EFB9-0DB0-43B7-AC23-A0B05A38411C}" authorId="{DCA323BB-A2C5-8876-2CA1-418739D09974}" created="2024-10-31T09:48:05.56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03923254" sldId="271"/>
      <ac:picMk id="5" creationId="{85580996-EC1C-8674-D378-7116EC8569DB}"/>
    </ac:deMkLst>
    <p188:txBody>
      <a:bodyPr/>
      <a:lstStyle/>
      <a:p>
        <a:r>
          <a:rPr lang="en-US"/>
          <a:t>OARE A^B=C ESTE ACELASI LUCRU CU A=B^C ȘI? B= A^C???</a:t>
        </a:r>
      </a:p>
    </p188:txBody>
  </p188:cm>
</p188:cmLst>
</file>

<file path=ppt/comments/modernComment_111_EC5D939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72A6889-4DF1-46D6-A4AE-9728176EE6B6}" authorId="{DCA323BB-A2C5-8876-2CA1-418739D09974}" created="2024-10-31T09:52:16.422">
    <pc:sldMkLst xmlns:pc="http://schemas.microsoft.com/office/powerpoint/2013/main/command">
      <pc:docMk/>
      <pc:sldMk cId="3965555604" sldId="273"/>
    </pc:sldMkLst>
    <p188:txBody>
      <a:bodyPr/>
      <a:lstStyle/>
      <a:p>
        <a:r>
          <a:rPr lang="en-US"/>
          <a:t>demonstram chestia de mai devreme</a:t>
        </a:r>
      </a:p>
    </p188:txBody>
  </p188:cm>
  <p188:cm id="{4762E58E-5B00-4C90-BC12-F7DBA4428F95}" authorId="{DCA323BB-A2C5-8876-2CA1-418739D09974}" created="2024-10-31T09:52:29.610">
    <pc:sldMkLst xmlns:pc="http://schemas.microsoft.com/office/powerpoint/2013/main/command">
      <pc:docMk/>
      <pc:sldMk cId="3965555604" sldId="273"/>
    </pc:sldMkLst>
    <p188:txBody>
      <a:bodyPr/>
      <a:lstStyle/>
      <a:p>
        <a:r>
          <a:rPr lang="en-US"/>
          <a:t>testam daca avem pwn - xor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0F099D-5195-434A-A6AC-9F15CB60D6AD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B792322-5DED-46A8-9F19-179B7E507214}">
      <dgm:prSet/>
      <dgm:spPr/>
      <dgm:t>
        <a:bodyPr/>
        <a:lstStyle/>
        <a:p>
          <a:r>
            <a:rPr lang="en-US"/>
            <a:t>Fie a și b două numere întregi nenule, fie d – cel mai mare divizor comun al numerelor a,b, atunci există x și y întregi nenule astfel încât:</a:t>
          </a:r>
        </a:p>
      </dgm:t>
    </dgm:pt>
    <dgm:pt modelId="{E4302E8C-FE4B-4A45-AF7E-E03E9240D024}" type="parTrans" cxnId="{3282E0E9-E234-44C1-8ED7-18F277395803}">
      <dgm:prSet/>
      <dgm:spPr/>
      <dgm:t>
        <a:bodyPr/>
        <a:lstStyle/>
        <a:p>
          <a:endParaRPr lang="en-US"/>
        </a:p>
      </dgm:t>
    </dgm:pt>
    <dgm:pt modelId="{1FB025A0-C716-4938-88BA-0B492733F2AE}" type="sibTrans" cxnId="{3282E0E9-E234-44C1-8ED7-18F277395803}">
      <dgm:prSet/>
      <dgm:spPr/>
      <dgm:t>
        <a:bodyPr/>
        <a:lstStyle/>
        <a:p>
          <a:endParaRPr lang="en-US"/>
        </a:p>
      </dgm:t>
    </dgm:pt>
    <dgm:pt modelId="{41ED4FAF-332C-432B-BC7D-E8E14A521F76}">
      <dgm:prSet/>
      <dgm:spPr/>
      <dgm:t>
        <a:bodyPr/>
        <a:lstStyle/>
        <a:p>
          <a:r>
            <a:rPr lang="en-US"/>
            <a:t>Caz particular: (a,b)=1</a:t>
          </a:r>
        </a:p>
      </dgm:t>
    </dgm:pt>
    <dgm:pt modelId="{7054F0F7-C5A0-48B3-877B-85989529AC49}" type="parTrans" cxnId="{00C363CF-C1EF-4AE9-8CEC-1EF4B6D4E4F2}">
      <dgm:prSet/>
      <dgm:spPr/>
      <dgm:t>
        <a:bodyPr/>
        <a:lstStyle/>
        <a:p>
          <a:endParaRPr lang="en-US"/>
        </a:p>
      </dgm:t>
    </dgm:pt>
    <dgm:pt modelId="{67FF3AE1-4B9C-4668-817E-BFACDC0112EC}" type="sibTrans" cxnId="{00C363CF-C1EF-4AE9-8CEC-1EF4B6D4E4F2}">
      <dgm:prSet/>
      <dgm:spPr/>
      <dgm:t>
        <a:bodyPr/>
        <a:lstStyle/>
        <a:p>
          <a:endParaRPr lang="en-US"/>
        </a:p>
      </dgm:t>
    </dgm:pt>
    <dgm:pt modelId="{72827E32-C297-486B-B86B-42113517E8C3}" type="pres">
      <dgm:prSet presAssocID="{BC0F099D-5195-434A-A6AC-9F15CB60D6AD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75CEED3-CD1B-44BF-8FE2-82C4A959A460}" type="pres">
      <dgm:prSet presAssocID="{BC0F099D-5195-434A-A6AC-9F15CB60D6AD}" presName="dummyMaxCanvas" presStyleCnt="0">
        <dgm:presLayoutVars/>
      </dgm:prSet>
      <dgm:spPr/>
    </dgm:pt>
    <dgm:pt modelId="{13241A60-AE78-4DF4-8766-D0A3A54A5CDB}" type="pres">
      <dgm:prSet presAssocID="{BC0F099D-5195-434A-A6AC-9F15CB60D6AD}" presName="TwoNodes_1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44534F-F4A8-423E-AC62-3BF78CA52DA1}" type="pres">
      <dgm:prSet presAssocID="{BC0F099D-5195-434A-A6AC-9F15CB60D6AD}" presName="TwoNodes_2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D66E6B-6EBC-47DD-A2AB-8344D567ABA2}" type="pres">
      <dgm:prSet presAssocID="{BC0F099D-5195-434A-A6AC-9F15CB60D6AD}" presName="TwoConn_1-2" presStyleLbl="fg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AEC697-F722-4594-BC4F-B029BB641CA3}" type="pres">
      <dgm:prSet presAssocID="{BC0F099D-5195-434A-A6AC-9F15CB60D6AD}" presName="TwoNodes_1_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160D8F-6221-40B5-8354-99EA2AED0A37}" type="pres">
      <dgm:prSet presAssocID="{BC0F099D-5195-434A-A6AC-9F15CB60D6AD}" presName="TwoNodes_2_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85FBB68-BC3C-4EC8-8C56-657FED766EF8}" type="presOf" srcId="{9B792322-5DED-46A8-9F19-179B7E507214}" destId="{AAAEC697-F722-4594-BC4F-B029BB641CA3}" srcOrd="1" destOrd="0" presId="urn:microsoft.com/office/officeart/2005/8/layout/vProcess5"/>
    <dgm:cxn modelId="{00C363CF-C1EF-4AE9-8CEC-1EF4B6D4E4F2}" srcId="{BC0F099D-5195-434A-A6AC-9F15CB60D6AD}" destId="{41ED4FAF-332C-432B-BC7D-E8E14A521F76}" srcOrd="1" destOrd="0" parTransId="{7054F0F7-C5A0-48B3-877B-85989529AC49}" sibTransId="{67FF3AE1-4B9C-4668-817E-BFACDC0112EC}"/>
    <dgm:cxn modelId="{9BC46003-5C7E-4498-BDB1-165EE6D30C9F}" type="presOf" srcId="{BC0F099D-5195-434A-A6AC-9F15CB60D6AD}" destId="{72827E32-C297-486B-B86B-42113517E8C3}" srcOrd="0" destOrd="0" presId="urn:microsoft.com/office/officeart/2005/8/layout/vProcess5"/>
    <dgm:cxn modelId="{982CBE2A-AF43-4BBD-AF24-77394703588B}" type="presOf" srcId="{1FB025A0-C716-4938-88BA-0B492733F2AE}" destId="{FFD66E6B-6EBC-47DD-A2AB-8344D567ABA2}" srcOrd="0" destOrd="0" presId="urn:microsoft.com/office/officeart/2005/8/layout/vProcess5"/>
    <dgm:cxn modelId="{AA20C203-0473-4060-AE77-0212BDF50368}" type="presOf" srcId="{41ED4FAF-332C-432B-BC7D-E8E14A521F76}" destId="{E544534F-F4A8-423E-AC62-3BF78CA52DA1}" srcOrd="0" destOrd="0" presId="urn:microsoft.com/office/officeart/2005/8/layout/vProcess5"/>
    <dgm:cxn modelId="{4396791A-594B-46AD-8C8E-6C652AA75AE6}" type="presOf" srcId="{9B792322-5DED-46A8-9F19-179B7E507214}" destId="{13241A60-AE78-4DF4-8766-D0A3A54A5CDB}" srcOrd="0" destOrd="0" presId="urn:microsoft.com/office/officeart/2005/8/layout/vProcess5"/>
    <dgm:cxn modelId="{DF11F6FE-C283-4C03-A04F-B5523D884EF2}" type="presOf" srcId="{41ED4FAF-332C-432B-BC7D-E8E14A521F76}" destId="{A6160D8F-6221-40B5-8354-99EA2AED0A37}" srcOrd="1" destOrd="0" presId="urn:microsoft.com/office/officeart/2005/8/layout/vProcess5"/>
    <dgm:cxn modelId="{3282E0E9-E234-44C1-8ED7-18F277395803}" srcId="{BC0F099D-5195-434A-A6AC-9F15CB60D6AD}" destId="{9B792322-5DED-46A8-9F19-179B7E507214}" srcOrd="0" destOrd="0" parTransId="{E4302E8C-FE4B-4A45-AF7E-E03E9240D024}" sibTransId="{1FB025A0-C716-4938-88BA-0B492733F2AE}"/>
    <dgm:cxn modelId="{26A76360-42DC-48CB-8491-2052D52865B3}" type="presParOf" srcId="{72827E32-C297-486B-B86B-42113517E8C3}" destId="{D75CEED3-CD1B-44BF-8FE2-82C4A959A460}" srcOrd="0" destOrd="0" presId="urn:microsoft.com/office/officeart/2005/8/layout/vProcess5"/>
    <dgm:cxn modelId="{60BE04DB-54FA-4BEB-A96A-B1BCF6A57359}" type="presParOf" srcId="{72827E32-C297-486B-B86B-42113517E8C3}" destId="{13241A60-AE78-4DF4-8766-D0A3A54A5CDB}" srcOrd="1" destOrd="0" presId="urn:microsoft.com/office/officeart/2005/8/layout/vProcess5"/>
    <dgm:cxn modelId="{4E90AFDE-BA2D-47D6-8714-7FE4153C7413}" type="presParOf" srcId="{72827E32-C297-486B-B86B-42113517E8C3}" destId="{E544534F-F4A8-423E-AC62-3BF78CA52DA1}" srcOrd="2" destOrd="0" presId="urn:microsoft.com/office/officeart/2005/8/layout/vProcess5"/>
    <dgm:cxn modelId="{3F241D67-01F1-4BE6-8B62-852E0252FFCC}" type="presParOf" srcId="{72827E32-C297-486B-B86B-42113517E8C3}" destId="{FFD66E6B-6EBC-47DD-A2AB-8344D567ABA2}" srcOrd="3" destOrd="0" presId="urn:microsoft.com/office/officeart/2005/8/layout/vProcess5"/>
    <dgm:cxn modelId="{A85DC949-82A8-4727-93E9-3C6424DCC291}" type="presParOf" srcId="{72827E32-C297-486B-B86B-42113517E8C3}" destId="{AAAEC697-F722-4594-BC4F-B029BB641CA3}" srcOrd="4" destOrd="0" presId="urn:microsoft.com/office/officeart/2005/8/layout/vProcess5"/>
    <dgm:cxn modelId="{EA30F12E-6178-47EE-8E53-121661E22D2E}" type="presParOf" srcId="{72827E32-C297-486B-B86B-42113517E8C3}" destId="{A6160D8F-6221-40B5-8354-99EA2AED0A37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41A60-AE78-4DF4-8766-D0A3A54A5CDB}">
      <dsp:nvSpPr>
        <dsp:cNvPr id="0" name=""/>
        <dsp:cNvSpPr/>
      </dsp:nvSpPr>
      <dsp:spPr>
        <a:xfrm>
          <a:off x="0" y="0"/>
          <a:ext cx="6967375" cy="1886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Fie a și b două numere întregi nenule, fie d – cel mai mare divizor comun al numerelor a,b, atunci există x și y întregi nenule astfel încât:</a:t>
          </a:r>
        </a:p>
      </dsp:txBody>
      <dsp:txXfrm>
        <a:off x="55245" y="55245"/>
        <a:ext cx="5017839" cy="1775710"/>
      </dsp:txXfrm>
    </dsp:sp>
    <dsp:sp modelId="{E544534F-F4A8-423E-AC62-3BF78CA52DA1}">
      <dsp:nvSpPr>
        <dsp:cNvPr id="0" name=""/>
        <dsp:cNvSpPr/>
      </dsp:nvSpPr>
      <dsp:spPr>
        <a:xfrm>
          <a:off x="1229536" y="2305356"/>
          <a:ext cx="6967375" cy="1886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Caz particular: (a,b)=1</a:t>
          </a:r>
        </a:p>
      </dsp:txBody>
      <dsp:txXfrm>
        <a:off x="1284781" y="2360601"/>
        <a:ext cx="4401317" cy="1775710"/>
      </dsp:txXfrm>
    </dsp:sp>
    <dsp:sp modelId="{FFD66E6B-6EBC-47DD-A2AB-8344D567ABA2}">
      <dsp:nvSpPr>
        <dsp:cNvPr id="0" name=""/>
        <dsp:cNvSpPr/>
      </dsp:nvSpPr>
      <dsp:spPr>
        <a:xfrm>
          <a:off x="5741344" y="1482763"/>
          <a:ext cx="1226030" cy="122603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6017201" y="1482763"/>
        <a:ext cx="674316" cy="9225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7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583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70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002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7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847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49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68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75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4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251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753004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microsoft.com/office/2018/10/relationships/comments" Target="../comments/modernComment_10F_DCC56236.xml"/></Relationships>
</file>

<file path=ppt/slides/_rels/slide1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1_EC5D939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https://www.youtube.com/embed/Fhni-6Q5z80?feature=oembed" TargetMode="External"/><Relationship Id="rId1" Type="http://schemas.openxmlformats.org/officeDocument/2006/relationships/video" Target="https://www.youtube.com/embed/DY70AcaXq40?feature=oembed" TargetMode="Externa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ntenanta.it/blog/academia-it/ce-este-criptografia-cum-algoritmii-pastreaza-informatiile-secrete-si-sigure/" TargetMode="External"/><Relationship Id="rId7" Type="http://schemas.openxmlformats.org/officeDocument/2006/relationships/hyperlink" Target="https://cryptohack.org/challenges/general/" TargetMode="External"/><Relationship Id="rId2" Type="http://schemas.openxmlformats.org/officeDocument/2006/relationships/hyperlink" Target="https://ro.wikipedia.org/wiki/Criptografi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difference-between-python-and-c/" TargetMode="External"/><Relationship Id="rId5" Type="http://schemas.openxmlformats.org/officeDocument/2006/relationships/hyperlink" Target="https://chatgpt.com/c/6722c9ff-cff0-8000-9651-da757dd0e4c0" TargetMode="External"/><Relationship Id="rId4" Type="http://schemas.openxmlformats.org/officeDocument/2006/relationships/hyperlink" Target="https://ro.wikipedia.org/wiki/Criptare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ro.wikipedia.org/wiki/Func%C8%9Bie_hash" TargetMode="External"/><Relationship Id="rId2" Type="http://schemas.openxmlformats.org/officeDocument/2006/relationships/hyperlink" Target="https://moodle.usm.md/pluginfile.php/234513/mod_resource/content/0/Tema%208.%20Func%C8%9Bii%20hash%20criptografice%20%C8%99i%20semn%C4%83turi%20digitale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highgo.ca/2019/08/08/the-difference-in-five-modes-in-the-aes-encryption-algorithm/" TargetMode="External"/><Relationship Id="rId5" Type="http://schemas.openxmlformats.org/officeDocument/2006/relationships/hyperlink" Target="https://www.geeksforgeeks.org/multiplicative-inverse-under-modulo-m/" TargetMode="External"/><Relationship Id="rId4" Type="http://schemas.openxmlformats.org/officeDocument/2006/relationships/hyperlink" Target="https://www.infoarena.ro/problema/inversmodular" TargetMode="Externa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gowtham180502/implementing-rsa-algorithm-using-python-836f7da2a8e0" TargetMode="External"/><Relationship Id="rId3" Type="http://schemas.openxmlformats.org/officeDocument/2006/relationships/hyperlink" Target="https://www.geeksforgeeks.org/data-encryption-standard-des-set-1/" TargetMode="External"/><Relationship Id="rId7" Type="http://schemas.openxmlformats.org/officeDocument/2006/relationships/hyperlink" Target="https://www.simplilearn.com/tutorials/cryptography-tutorial/aes-encryption" TargetMode="External"/><Relationship Id="rId2" Type="http://schemas.openxmlformats.org/officeDocument/2006/relationships/hyperlink" Target="https://ro.wikipedia.org/wiki/Ma%C8%99ina_Enigm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hatgpt.com/c/6723ea2f-e3bc-8000-9622-051818341f42" TargetMode="External"/><Relationship Id="rId5" Type="http://schemas.openxmlformats.org/officeDocument/2006/relationships/hyperlink" Target="https://www.geeksforgeeks.org/double-des-and-triple-des/" TargetMode="External"/><Relationship Id="rId4" Type="http://schemas.openxmlformats.org/officeDocument/2006/relationships/hyperlink" Target="https://chatgpt.com/c/6723d98a-ae74-8000-8e72-cd4e963a8ca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>
                <a:cs typeface="Arial"/>
              </a:rPr>
              <a:t>Introducere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în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criptografie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De Luca de la </a:t>
            </a:r>
            <a:r>
              <a:rPr lang="en-US" dirty="0" err="1">
                <a:cs typeface="Arial"/>
              </a:rPr>
              <a:t>Hogwords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B1F06-191B-A7F2-E590-D8E87D31F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err="1">
                <a:cs typeface="Arial"/>
              </a:rPr>
              <a:t>Cuprins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B61D3-BFB8-B897-C107-A95877560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>
                <a:cs typeface="Arial" panose="020B0604020202020204"/>
              </a:rPr>
              <a:t>Ce </a:t>
            </a:r>
            <a:r>
              <a:rPr lang="en-US" err="1">
                <a:cs typeface="Arial" panose="020B0604020202020204"/>
              </a:rPr>
              <a:t>studiem</a:t>
            </a:r>
            <a:r>
              <a:rPr lang="en-US">
                <a:cs typeface="Arial" panose="020B0604020202020204"/>
              </a:rPr>
              <a:t>? De </a:t>
            </a:r>
            <a:r>
              <a:rPr lang="en-US" err="1">
                <a:cs typeface="Arial" panose="020B0604020202020204"/>
              </a:rPr>
              <a:t>ce</a:t>
            </a:r>
            <a:r>
              <a:rPr lang="en-US">
                <a:cs typeface="Arial" panose="020B0604020202020204"/>
              </a:rPr>
              <a:t>?</a:t>
            </a:r>
          </a:p>
          <a:p>
            <a:pPr marL="457200" indent="-457200">
              <a:buAutoNum type="arabicPeriod"/>
            </a:pPr>
            <a:r>
              <a:rPr lang="en-US" err="1">
                <a:cs typeface="Arial" panose="020B0604020202020204"/>
              </a:rPr>
              <a:t>Scurtă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introducere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în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limbajul</a:t>
            </a:r>
            <a:r>
              <a:rPr lang="en-US">
                <a:cs typeface="Arial" panose="020B0604020202020204"/>
              </a:rPr>
              <a:t> Python</a:t>
            </a:r>
          </a:p>
          <a:p>
            <a:pPr marL="457200" indent="-457200">
              <a:buAutoNum type="arabicPeriod"/>
            </a:pPr>
            <a:r>
              <a:rPr lang="en-US">
                <a:cs typeface="Arial" panose="020B0604020202020204"/>
              </a:rPr>
              <a:t>XOR </a:t>
            </a:r>
          </a:p>
          <a:p>
            <a:pPr marL="457200" indent="-457200">
              <a:buAutoNum type="arabicPeriod"/>
            </a:pPr>
            <a:r>
              <a:rPr lang="en-US" err="1">
                <a:cs typeface="Arial" panose="020B0604020202020204"/>
              </a:rPr>
              <a:t>Funcții</a:t>
            </a:r>
            <a:r>
              <a:rPr lang="en-US">
                <a:cs typeface="Arial" panose="020B0604020202020204"/>
              </a:rPr>
              <a:t> de tip HASH</a:t>
            </a:r>
          </a:p>
          <a:p>
            <a:pPr marL="457200" indent="-457200">
              <a:buAutoNum type="arabicPeriod"/>
            </a:pPr>
            <a:r>
              <a:rPr lang="en-US" err="1">
                <a:cs typeface="Arial" panose="020B0604020202020204"/>
              </a:rPr>
              <a:t>Aritmetica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modulară</a:t>
            </a:r>
            <a:endParaRPr lang="en-US">
              <a:cs typeface="Arial" panose="020B0604020202020204"/>
            </a:endParaRPr>
          </a:p>
          <a:p>
            <a:pPr marL="457200" indent="-457200">
              <a:buAutoNum type="arabicPeriod"/>
            </a:pPr>
            <a:r>
              <a:rPr lang="en-US" err="1">
                <a:cs typeface="Arial" panose="020B0604020202020204"/>
              </a:rPr>
              <a:t>Cifruri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arhisimple</a:t>
            </a:r>
            <a:endParaRPr lang="en-US">
              <a:cs typeface="Arial" panose="020B0604020202020204"/>
            </a:endParaRPr>
          </a:p>
          <a:p>
            <a:pPr marL="457200" indent="-457200">
              <a:buAutoNum type="arabicPeriod"/>
            </a:pPr>
            <a:r>
              <a:rPr lang="en-US" err="1">
                <a:cs typeface="Arial" panose="020B0604020202020204"/>
              </a:rPr>
              <a:t>Cifruri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avansate</a:t>
            </a:r>
          </a:p>
          <a:p>
            <a:pPr marL="457200" indent="-457200">
              <a:buAutoNum type="arabicPeriod"/>
            </a:pPr>
            <a:r>
              <a:rPr lang="en-US" err="1">
                <a:cs typeface="Arial" panose="020B0604020202020204"/>
              </a:rPr>
              <a:t>Limbaje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ezoterice</a:t>
            </a:r>
          </a:p>
        </p:txBody>
      </p:sp>
    </p:spTree>
    <p:extLst>
      <p:ext uri="{BB962C8B-B14F-4D97-AF65-F5344CB8AC3E}">
        <p14:creationId xmlns:p14="http://schemas.microsoft.com/office/powerpoint/2010/main" val="1718656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962D-F312-AF34-2DAE-434601FEB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4000">
                <a:cs typeface="Arial"/>
              </a:rPr>
              <a:t>Ce </a:t>
            </a:r>
            <a:r>
              <a:rPr lang="en-US" sz="4000" err="1">
                <a:cs typeface="Arial"/>
              </a:rPr>
              <a:t>este</a:t>
            </a:r>
            <a:r>
              <a:rPr lang="en-US" sz="4000">
                <a:cs typeface="Arial"/>
              </a:rPr>
              <a:t> </a:t>
            </a:r>
            <a:r>
              <a:rPr lang="en-US" sz="4000" err="1">
                <a:cs typeface="Arial"/>
              </a:rPr>
              <a:t>criptografia</a:t>
            </a:r>
            <a:r>
              <a:rPr lang="en-US" sz="4000">
                <a:cs typeface="Arial"/>
              </a:rPr>
              <a:t>? De </a:t>
            </a:r>
            <a:r>
              <a:rPr lang="en-US" sz="4000" err="1">
                <a:cs typeface="Arial"/>
              </a:rPr>
              <a:t>ce</a:t>
            </a:r>
            <a:r>
              <a:rPr lang="en-US" sz="4000">
                <a:cs typeface="Arial"/>
              </a:rPr>
              <a:t> </a:t>
            </a:r>
            <a:r>
              <a:rPr lang="en-US" sz="4000" err="1">
                <a:cs typeface="Arial"/>
              </a:rPr>
              <a:t>trebuie</a:t>
            </a:r>
            <a:r>
              <a:rPr lang="en-US" sz="4000">
                <a:cs typeface="Arial"/>
              </a:rPr>
              <a:t> </a:t>
            </a:r>
            <a:r>
              <a:rPr lang="en-US" sz="4000" err="1">
                <a:cs typeface="Arial"/>
              </a:rPr>
              <a:t>să</a:t>
            </a:r>
            <a:r>
              <a:rPr lang="en-US" sz="4000">
                <a:cs typeface="Arial"/>
              </a:rPr>
              <a:t> </a:t>
            </a:r>
            <a:r>
              <a:rPr lang="en-US" sz="4000" err="1">
                <a:cs typeface="Arial"/>
              </a:rPr>
              <a:t>existe</a:t>
            </a:r>
            <a:r>
              <a:rPr lang="en-US" sz="4000">
                <a:cs typeface="Arial"/>
              </a:rPr>
              <a:t>? </a:t>
            </a:r>
            <a:r>
              <a:rPr lang="en-US" sz="4000" err="1">
                <a:cs typeface="Arial"/>
              </a:rPr>
              <a:t>Unde</a:t>
            </a:r>
            <a:r>
              <a:rPr lang="en-US" sz="4000">
                <a:cs typeface="Arial"/>
              </a:rPr>
              <a:t> o </a:t>
            </a:r>
            <a:r>
              <a:rPr lang="en-US" sz="4000" err="1">
                <a:cs typeface="Arial"/>
              </a:rPr>
              <a:t>folosim</a:t>
            </a:r>
            <a:r>
              <a:rPr lang="en-US" sz="4000">
                <a:cs typeface="Arial"/>
              </a:rPr>
              <a:t>? Cum ne </a:t>
            </a:r>
            <a:r>
              <a:rPr lang="en-US" sz="4000" err="1">
                <a:cs typeface="Arial"/>
              </a:rPr>
              <a:t>ajută</a:t>
            </a:r>
            <a:r>
              <a:rPr lang="en-US" sz="4000">
                <a:cs typeface="Arial"/>
              </a:rPr>
              <a:t>?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A5075-4587-2AFB-F845-39C8FE246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3968" y="1713430"/>
            <a:ext cx="7791931" cy="878468"/>
          </a:xfrm>
        </p:spPr>
        <p:txBody>
          <a:bodyPr/>
          <a:lstStyle/>
          <a:p>
            <a:r>
              <a:rPr lang="en-US" sz="2800" err="1">
                <a:cs typeface="Arial"/>
              </a:rPr>
              <a:t>Capitolul</a:t>
            </a:r>
            <a:r>
              <a:rPr lang="en-US" sz="2800">
                <a:cs typeface="Arial"/>
              </a:rPr>
              <a:t> I</a:t>
            </a:r>
          </a:p>
        </p:txBody>
      </p:sp>
    </p:spTree>
    <p:extLst>
      <p:ext uri="{BB962C8B-B14F-4D97-AF65-F5344CB8AC3E}">
        <p14:creationId xmlns:p14="http://schemas.microsoft.com/office/powerpoint/2010/main" val="2914489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8B273-95EF-EABE-622B-EA4CC2807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err="1">
                <a:cs typeface="Arial"/>
              </a:rPr>
              <a:t>Criptografia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F3DC6-4F51-F93F-8A96-1FF039F50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sz="2400" err="1">
                <a:ea typeface="+mn-lt"/>
                <a:cs typeface="+mn-lt"/>
              </a:rPr>
              <a:t>Criptografia</a:t>
            </a:r>
            <a:r>
              <a:rPr lang="en-US" sz="2400">
                <a:ea typeface="+mn-lt"/>
                <a:cs typeface="+mn-lt"/>
              </a:rPr>
              <a:t> </a:t>
            </a:r>
            <a:r>
              <a:rPr lang="en-US" sz="2400" err="1">
                <a:ea typeface="+mn-lt"/>
                <a:cs typeface="+mn-lt"/>
              </a:rPr>
              <a:t>reprezintă</a:t>
            </a:r>
            <a:r>
              <a:rPr lang="en-US" sz="2400">
                <a:ea typeface="+mn-lt"/>
                <a:cs typeface="+mn-lt"/>
              </a:rPr>
              <a:t> o </a:t>
            </a:r>
            <a:r>
              <a:rPr lang="en-US" sz="2400" err="1">
                <a:ea typeface="+mn-lt"/>
                <a:cs typeface="+mn-lt"/>
              </a:rPr>
              <a:t>ramură</a:t>
            </a:r>
            <a:r>
              <a:rPr lang="en-US" sz="2400">
                <a:ea typeface="+mn-lt"/>
                <a:cs typeface="+mn-lt"/>
              </a:rPr>
              <a:t> a </a:t>
            </a:r>
            <a:r>
              <a:rPr lang="en-US" sz="2400" err="1">
                <a:ea typeface="+mn-lt"/>
                <a:cs typeface="+mn-lt"/>
              </a:rPr>
              <a:t>matematicii</a:t>
            </a:r>
            <a:r>
              <a:rPr lang="en-US" sz="2400">
                <a:ea typeface="+mn-lt"/>
                <a:cs typeface="+mn-lt"/>
              </a:rPr>
              <a:t> care se </a:t>
            </a:r>
            <a:r>
              <a:rPr lang="en-US" sz="2400" err="1">
                <a:ea typeface="+mn-lt"/>
                <a:cs typeface="+mn-lt"/>
              </a:rPr>
              <a:t>ocupă</a:t>
            </a:r>
            <a:r>
              <a:rPr lang="en-US" sz="2400">
                <a:ea typeface="+mn-lt"/>
                <a:cs typeface="+mn-lt"/>
              </a:rPr>
              <a:t> cu </a:t>
            </a:r>
            <a:r>
              <a:rPr lang="en-US" sz="2400" err="1">
                <a:ea typeface="+mn-lt"/>
                <a:cs typeface="+mn-lt"/>
              </a:rPr>
              <a:t>securizarea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informației</a:t>
            </a:r>
            <a:r>
              <a:rPr lang="en-US" sz="2400">
                <a:ea typeface="+mn-lt"/>
                <a:cs typeface="+mn-lt"/>
              </a:rPr>
              <a:t>, precum </a:t>
            </a:r>
            <a:r>
              <a:rPr lang="en-US" sz="2400" err="1">
                <a:ea typeface="+mn-lt"/>
                <a:cs typeface="+mn-lt"/>
              </a:rPr>
              <a:t>și</a:t>
            </a:r>
            <a:r>
              <a:rPr lang="en-US" sz="2400">
                <a:ea typeface="+mn-lt"/>
                <a:cs typeface="+mn-lt"/>
              </a:rPr>
              <a:t> cu </a:t>
            </a:r>
            <a:r>
              <a:rPr lang="en-US" sz="2400" err="1">
                <a:ea typeface="+mn-lt"/>
                <a:cs typeface="+mn-lt"/>
              </a:rPr>
              <a:t>autentificarea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și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restricționarea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accesului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într</a:t>
            </a:r>
            <a:r>
              <a:rPr lang="en-US" sz="2400">
                <a:ea typeface="+mn-lt"/>
                <a:cs typeface="+mn-lt"/>
              </a:rPr>
              <a:t>-un </a:t>
            </a:r>
            <a:r>
              <a:rPr lang="en-US" sz="2400" err="1">
                <a:ea typeface="+mn-lt"/>
                <a:cs typeface="+mn-lt"/>
              </a:rPr>
              <a:t>sistem</a:t>
            </a:r>
            <a:r>
              <a:rPr lang="en-US" sz="2400">
                <a:ea typeface="+mn-lt"/>
                <a:cs typeface="+mn-lt"/>
              </a:rPr>
              <a:t> informatic.</a:t>
            </a:r>
          </a:p>
          <a:p>
            <a:pPr marL="457200" indent="-457200">
              <a:buAutoNum type="arabicPeriod"/>
            </a:pPr>
            <a:r>
              <a:rPr lang="en-US" sz="2400" err="1">
                <a:ea typeface="+mn-lt"/>
                <a:cs typeface="+mn-lt"/>
              </a:rPr>
              <a:t>Criptografia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este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știința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păstrării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informațiilor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în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siguranță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transformându</a:t>
            </a:r>
            <a:r>
              <a:rPr lang="en-US" sz="2400">
                <a:ea typeface="+mn-lt"/>
                <a:cs typeface="+mn-lt"/>
              </a:rPr>
              <a:t>-le </a:t>
            </a:r>
            <a:r>
              <a:rPr lang="en-US" sz="2400" err="1">
                <a:ea typeface="+mn-lt"/>
                <a:cs typeface="+mn-lt"/>
              </a:rPr>
              <a:t>într</a:t>
            </a:r>
            <a:r>
              <a:rPr lang="en-US" sz="2400">
                <a:ea typeface="+mn-lt"/>
                <a:cs typeface="+mn-lt"/>
              </a:rPr>
              <a:t>-o </a:t>
            </a:r>
            <a:r>
              <a:rPr lang="en-US" sz="2400" err="1">
                <a:ea typeface="+mn-lt"/>
                <a:cs typeface="+mn-lt"/>
              </a:rPr>
              <a:t>formă</a:t>
            </a:r>
            <a:r>
              <a:rPr lang="en-US" sz="2400">
                <a:ea typeface="+mn-lt"/>
                <a:cs typeface="+mn-lt"/>
              </a:rPr>
              <a:t> pe care </a:t>
            </a:r>
            <a:r>
              <a:rPr lang="en-US" sz="2400" err="1">
                <a:ea typeface="+mn-lt"/>
                <a:cs typeface="+mn-lt"/>
              </a:rPr>
              <a:t>destinatarii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neintenționați</a:t>
            </a:r>
            <a:r>
              <a:rPr lang="en-US" sz="2400">
                <a:ea typeface="+mn-lt"/>
                <a:cs typeface="+mn-lt"/>
              </a:rPr>
              <a:t> nu o pot </a:t>
            </a:r>
            <a:r>
              <a:rPr lang="en-US" sz="2400" err="1">
                <a:ea typeface="+mn-lt"/>
                <a:cs typeface="+mn-lt"/>
              </a:rPr>
              <a:t>înțelege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pPr marL="457200" indent="-457200">
              <a:buAutoNum type="arabicPeriod"/>
            </a:pPr>
            <a:endParaRPr lang="en-US" sz="24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8006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891A-7E5D-8B4C-84E8-3B01EB125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err="1">
                <a:cs typeface="Arial"/>
              </a:rPr>
              <a:t>Importanță</a:t>
            </a:r>
            <a:endParaRPr lang="en-US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D810C-1785-4682-55B3-E2EC35E70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344170" indent="-344170"/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Antichitate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romanii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foloseau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cifrul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lui</a:t>
            </a:r>
            <a:r>
              <a:rPr lang="en-US">
                <a:ea typeface="+mn-lt"/>
                <a:cs typeface="+mn-lt"/>
              </a:rPr>
              <a:t> Cezar, </a:t>
            </a:r>
            <a:r>
              <a:rPr lang="en-US" err="1">
                <a:ea typeface="+mn-lt"/>
                <a:cs typeface="+mn-lt"/>
              </a:rPr>
              <a:t>înlocuind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litere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transmite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mesaje</a:t>
            </a:r>
            <a:r>
              <a:rPr lang="en-US">
                <a:ea typeface="+mn-lt"/>
                <a:cs typeface="+mn-lt"/>
              </a:rPr>
              <a:t> secrete.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Evul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Mediu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cifrul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polialfabetic</a:t>
            </a:r>
            <a:r>
              <a:rPr lang="en-US">
                <a:ea typeface="+mn-lt"/>
                <a:cs typeface="+mn-lt"/>
              </a:rPr>
              <a:t> al </a:t>
            </a:r>
            <a:r>
              <a:rPr lang="en-US" err="1">
                <a:ea typeface="+mn-lt"/>
                <a:cs typeface="+mn-lt"/>
              </a:rPr>
              <a:t>lui</a:t>
            </a:r>
            <a:r>
              <a:rPr lang="en-US">
                <a:ea typeface="+mn-lt"/>
                <a:cs typeface="+mn-lt"/>
              </a:rPr>
              <a:t> Vigenère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analiza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frecvenței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literelor</a:t>
            </a:r>
            <a:r>
              <a:rPr lang="en-US">
                <a:ea typeface="+mn-lt"/>
                <a:cs typeface="+mn-lt"/>
              </a:rPr>
              <a:t> au </a:t>
            </a:r>
            <a:r>
              <a:rPr lang="en-US" err="1">
                <a:ea typeface="+mn-lt"/>
                <a:cs typeface="+mn-lt"/>
              </a:rPr>
              <a:t>fost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pași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importanți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înțelegerea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decriptării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 panose="020B0604020202020204"/>
            </a:endParaRPr>
          </a:p>
          <a:p>
            <a:pPr marL="344170" indent="-344170"/>
            <a:r>
              <a:rPr lang="en-US" err="1">
                <a:ea typeface="+mn-lt"/>
                <a:cs typeface="+mn-lt"/>
              </a:rPr>
              <a:t>Odată</a:t>
            </a:r>
            <a:r>
              <a:rPr lang="en-US">
                <a:ea typeface="+mn-lt"/>
                <a:cs typeface="+mn-lt"/>
              </a:rPr>
              <a:t> cu </a:t>
            </a:r>
            <a:r>
              <a:rPr lang="en-US" b="1" err="1">
                <a:ea typeface="+mn-lt"/>
                <a:cs typeface="+mn-lt"/>
              </a:rPr>
              <a:t>Secolul</a:t>
            </a:r>
            <a:r>
              <a:rPr lang="en-US" b="1">
                <a:ea typeface="+mn-lt"/>
                <a:cs typeface="+mn-lt"/>
              </a:rPr>
              <a:t> XX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criptografia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devenit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esențială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războaie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Mașina</a:t>
            </a:r>
            <a:r>
              <a:rPr lang="en-US">
                <a:ea typeface="+mn-lt"/>
                <a:cs typeface="+mn-lt"/>
              </a:rPr>
              <a:t> Enigma </a:t>
            </a:r>
            <a:r>
              <a:rPr lang="en-US" err="1">
                <a:ea typeface="+mn-lt"/>
                <a:cs typeface="+mn-lt"/>
              </a:rPr>
              <a:t>fiind</a:t>
            </a:r>
            <a:r>
              <a:rPr lang="en-US">
                <a:ea typeface="+mn-lt"/>
                <a:cs typeface="+mn-lt"/>
              </a:rPr>
              <a:t> un </a:t>
            </a:r>
            <a:r>
              <a:rPr lang="en-US" err="1">
                <a:ea typeface="+mn-lt"/>
                <a:cs typeface="+mn-lt"/>
              </a:rPr>
              <a:t>exemplu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spartă</a:t>
            </a:r>
            <a:r>
              <a:rPr lang="en-US">
                <a:ea typeface="+mn-lt"/>
                <a:cs typeface="+mn-lt"/>
              </a:rPr>
              <a:t> de Alan Turing.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era </a:t>
            </a:r>
            <a:r>
              <a:rPr lang="en-US" err="1">
                <a:ea typeface="+mn-lt"/>
                <a:cs typeface="+mn-lt"/>
              </a:rPr>
              <a:t>modernă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b="1" err="1">
                <a:ea typeface="+mn-lt"/>
                <a:cs typeface="+mn-lt"/>
              </a:rPr>
              <a:t>criptografia</a:t>
            </a:r>
            <a:r>
              <a:rPr lang="en-US" b="1">
                <a:ea typeface="+mn-lt"/>
                <a:cs typeface="+mn-lt"/>
              </a:rPr>
              <a:t> cu </a:t>
            </a:r>
            <a:r>
              <a:rPr lang="en-US" b="1" err="1">
                <a:ea typeface="+mn-lt"/>
                <a:cs typeface="+mn-lt"/>
              </a:rPr>
              <a:t>cheie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publică</a:t>
            </a:r>
            <a:r>
              <a:rPr lang="en-US">
                <a:ea typeface="+mn-lt"/>
                <a:cs typeface="+mn-lt"/>
              </a:rPr>
              <a:t> (RSA) a </a:t>
            </a:r>
            <a:r>
              <a:rPr lang="en-US" err="1">
                <a:ea typeface="+mn-lt"/>
                <a:cs typeface="+mn-lt"/>
              </a:rPr>
              <a:t>revoluționat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schimbul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mesaje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securizate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iar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algoritmi</a:t>
            </a:r>
            <a:r>
              <a:rPr lang="en-US" b="1">
                <a:ea typeface="+mn-lt"/>
                <a:cs typeface="+mn-lt"/>
              </a:rPr>
              <a:t> precum AES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asigură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securitatea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datelor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digitale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344170" indent="-344170"/>
            <a:r>
              <a:rPr lang="en-US" err="1">
                <a:ea typeface="+mn-lt"/>
                <a:cs typeface="+mn-lt"/>
              </a:rPr>
              <a:t>Astăzi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criptografia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protejează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tranzacțiile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financiare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comunicațiile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datele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personale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iar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noile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tehnologii</a:t>
            </a:r>
            <a:r>
              <a:rPr lang="en-US">
                <a:ea typeface="+mn-lt"/>
                <a:cs typeface="+mn-lt"/>
              </a:rPr>
              <a:t> (precum </a:t>
            </a:r>
            <a:r>
              <a:rPr lang="en-US" err="1">
                <a:ea typeface="+mn-lt"/>
                <a:cs typeface="+mn-lt"/>
              </a:rPr>
              <a:t>criptografia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cuantică</a:t>
            </a:r>
            <a:r>
              <a:rPr lang="en-US">
                <a:ea typeface="+mn-lt"/>
                <a:cs typeface="+mn-lt"/>
              </a:rPr>
              <a:t>) </a:t>
            </a:r>
            <a:r>
              <a:rPr lang="en-US" err="1">
                <a:ea typeface="+mn-lt"/>
                <a:cs typeface="+mn-lt"/>
              </a:rPr>
              <a:t>promit</a:t>
            </a:r>
            <a:r>
              <a:rPr lang="en-US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securitate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mai</a:t>
            </a:r>
            <a:r>
              <a:rPr lang="en-US">
                <a:ea typeface="+mn-lt"/>
                <a:cs typeface="+mn-lt"/>
              </a:rPr>
              <a:t> mare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viitor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344170" indent="-344170"/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5564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D0DD1-74FB-D0AF-3396-6AB2F1EC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err="1">
                <a:cs typeface="Arial"/>
              </a:rPr>
              <a:t>Terminologie</a:t>
            </a:r>
            <a:endParaRPr lang="en-US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1E926-B235-1E5D-DBCC-CD7F46793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4170" indent="-344170"/>
            <a:r>
              <a:rPr lang="en-US">
                <a:cs typeface="Arial"/>
              </a:rPr>
              <a:t>CIFRU = o </a:t>
            </a:r>
            <a:r>
              <a:rPr lang="en-US" err="1">
                <a:cs typeface="Arial"/>
              </a:rPr>
              <a:t>pereche</a:t>
            </a:r>
            <a:r>
              <a:rPr lang="en-US">
                <a:cs typeface="Arial"/>
              </a:rPr>
              <a:t> de </a:t>
            </a:r>
            <a:r>
              <a:rPr lang="en-US" err="1">
                <a:cs typeface="Arial"/>
              </a:rPr>
              <a:t>algoritmi</a:t>
            </a:r>
            <a:r>
              <a:rPr lang="en-US">
                <a:cs typeface="Arial"/>
              </a:rPr>
              <a:t> care </a:t>
            </a:r>
            <a:r>
              <a:rPr lang="en-US" err="1">
                <a:cs typeface="Arial"/>
              </a:rPr>
              <a:t>efectuează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atât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această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criptare</a:t>
            </a:r>
            <a:r>
              <a:rPr lang="en-US">
                <a:cs typeface="Arial"/>
              </a:rPr>
              <a:t>, </a:t>
            </a:r>
            <a:r>
              <a:rPr lang="en-US" err="1">
                <a:cs typeface="Arial"/>
              </a:rPr>
              <a:t>cât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și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decriptarea</a:t>
            </a:r>
            <a:endParaRPr lang="en-US">
              <a:cs typeface="Arial"/>
            </a:endParaRPr>
          </a:p>
          <a:p>
            <a:pPr marL="344170" indent="-344170"/>
            <a:r>
              <a:rPr lang="en-US">
                <a:cs typeface="Arial"/>
              </a:rPr>
              <a:t>CHEIE = </a:t>
            </a:r>
            <a:r>
              <a:rPr lang="en-US">
                <a:ea typeface="+mn-lt"/>
                <a:cs typeface="+mn-lt"/>
              </a:rPr>
              <a:t>un </a:t>
            </a:r>
            <a:r>
              <a:rPr lang="en-US" err="1">
                <a:ea typeface="+mn-lt"/>
                <a:cs typeface="+mn-lt"/>
              </a:rPr>
              <a:t>parametru</a:t>
            </a:r>
            <a:r>
              <a:rPr lang="en-US">
                <a:ea typeface="+mn-lt"/>
                <a:cs typeface="+mn-lt"/>
              </a:rPr>
              <a:t> secret (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mod ideal, </a:t>
            </a:r>
            <a:r>
              <a:rPr lang="en-US" err="1">
                <a:ea typeface="+mn-lt"/>
                <a:cs typeface="+mn-lt"/>
              </a:rPr>
              <a:t>cunoscut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doar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celor</a:t>
            </a:r>
            <a:r>
              <a:rPr lang="en-US">
                <a:ea typeface="+mn-lt"/>
                <a:cs typeface="+mn-lt"/>
              </a:rPr>
              <a:t> care </a:t>
            </a:r>
            <a:r>
              <a:rPr lang="en-US" err="1">
                <a:ea typeface="+mn-lt"/>
                <a:cs typeface="+mn-lt"/>
              </a:rPr>
              <a:t>comunică</a:t>
            </a:r>
            <a:r>
              <a:rPr lang="en-US">
                <a:ea typeface="+mn-lt"/>
                <a:cs typeface="+mn-lt"/>
              </a:rPr>
              <a:t>)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contextul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unui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anume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schimb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mesaje</a:t>
            </a:r>
            <a:endParaRPr lang="en-US">
              <a:ea typeface="+mn-lt"/>
              <a:cs typeface="+mn-lt"/>
            </a:endParaRPr>
          </a:p>
          <a:p>
            <a:pPr marL="344170" indent="-344170"/>
            <a:r>
              <a:rPr lang="en-US">
                <a:ea typeface="+mn-lt"/>
                <a:cs typeface="+mn-lt"/>
              </a:rPr>
              <a:t>CRIPTARE </a:t>
            </a:r>
            <a:r>
              <a:rPr lang="en-US" err="1">
                <a:ea typeface="+mn-lt"/>
                <a:cs typeface="+mn-lt"/>
              </a:rPr>
              <a:t>sau</a:t>
            </a:r>
            <a:r>
              <a:rPr lang="en-US">
                <a:ea typeface="+mn-lt"/>
                <a:cs typeface="+mn-lt"/>
              </a:rPr>
              <a:t> ENCRIPTARE = </a:t>
            </a:r>
            <a:r>
              <a:rPr lang="en-US" err="1">
                <a:ea typeface="+mn-lt"/>
                <a:cs typeface="+mn-lt"/>
              </a:rPr>
              <a:t>procesul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mascare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informației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a o face </a:t>
            </a:r>
            <a:r>
              <a:rPr lang="en-US" err="1">
                <a:ea typeface="+mn-lt"/>
                <a:cs typeface="+mn-lt"/>
              </a:rPr>
              <a:t>ilizibilă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fără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cunoștințe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speciale</a:t>
            </a:r>
            <a:endParaRPr lang="en-US">
              <a:ea typeface="+mn-lt"/>
              <a:cs typeface="+mn-lt"/>
            </a:endParaRPr>
          </a:p>
          <a:p>
            <a:pPr marL="344170" indent="-344170"/>
            <a:r>
              <a:rPr lang="en-US">
                <a:ea typeface="+mn-lt"/>
                <a:cs typeface="+mn-lt"/>
              </a:rPr>
              <a:t>DECRIPTARE = </a:t>
            </a:r>
            <a:r>
              <a:rPr lang="en-US" err="1">
                <a:ea typeface="+mn-lt"/>
                <a:cs typeface="+mn-lt"/>
              </a:rPr>
              <a:t>procesul</a:t>
            </a:r>
            <a:r>
              <a:rPr lang="en-US">
                <a:ea typeface="+mn-lt"/>
                <a:cs typeface="+mn-lt"/>
              </a:rPr>
              <a:t> invers </a:t>
            </a:r>
            <a:r>
              <a:rPr lang="en-US" err="1">
                <a:ea typeface="+mn-lt"/>
                <a:cs typeface="+mn-lt"/>
              </a:rPr>
              <a:t>criptării</a:t>
            </a:r>
            <a:endParaRPr lang="en-US">
              <a:ea typeface="+mn-lt"/>
              <a:cs typeface="+mn-lt"/>
            </a:endParaRPr>
          </a:p>
          <a:p>
            <a:pPr marL="344170" indent="-344170"/>
            <a:r>
              <a:rPr lang="en-US">
                <a:ea typeface="+mn-lt"/>
                <a:cs typeface="+mn-lt"/>
              </a:rPr>
              <a:t>PLAINTEXT </a:t>
            </a:r>
            <a:r>
              <a:rPr lang="en-US" err="1">
                <a:ea typeface="+mn-lt"/>
                <a:cs typeface="+mn-lt"/>
              </a:rPr>
              <a:t>sau</a:t>
            </a:r>
            <a:r>
              <a:rPr lang="en-US">
                <a:ea typeface="+mn-lt"/>
                <a:cs typeface="+mn-lt"/>
              </a:rPr>
              <a:t> TEXT ÎN CLAR = </a:t>
            </a:r>
            <a:r>
              <a:rPr lang="en-US" err="1">
                <a:ea typeface="+mn-lt"/>
                <a:cs typeface="+mn-lt"/>
              </a:rPr>
              <a:t>informație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obișnuită</a:t>
            </a:r>
            <a:endParaRPr lang="en-US">
              <a:ea typeface="+mn-lt"/>
              <a:cs typeface="+mn-lt"/>
            </a:endParaRPr>
          </a:p>
          <a:p>
            <a:pPr marL="344170" indent="-344170"/>
            <a:r>
              <a:rPr lang="en-US">
                <a:ea typeface="+mn-lt"/>
                <a:cs typeface="+mn-lt"/>
              </a:rPr>
              <a:t>CIPHERTEXT </a:t>
            </a:r>
            <a:r>
              <a:rPr lang="en-US" err="1">
                <a:ea typeface="+mn-lt"/>
                <a:cs typeface="+mn-lt"/>
              </a:rPr>
              <a:t>sau</a:t>
            </a:r>
            <a:r>
              <a:rPr lang="en-US">
                <a:ea typeface="+mn-lt"/>
                <a:cs typeface="+mn-lt"/>
              </a:rPr>
              <a:t> TEXT CIFRAT = text </a:t>
            </a:r>
            <a:r>
              <a:rPr lang="en-US" err="1">
                <a:ea typeface="+mn-lt"/>
                <a:cs typeface="+mn-lt"/>
              </a:rPr>
              <a:t>neinteligibil</a:t>
            </a:r>
          </a:p>
        </p:txBody>
      </p:sp>
    </p:spTree>
    <p:extLst>
      <p:ext uri="{BB962C8B-B14F-4D97-AF65-F5344CB8AC3E}">
        <p14:creationId xmlns:p14="http://schemas.microsoft.com/office/powerpoint/2010/main" val="678790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962D-F312-AF34-2DAE-434601FEB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4000">
                <a:cs typeface="Arial"/>
              </a:rPr>
              <a:t>Ce </a:t>
            </a:r>
            <a:r>
              <a:rPr lang="en-US" sz="4000" err="1">
                <a:cs typeface="Arial"/>
              </a:rPr>
              <a:t>este</a:t>
            </a:r>
            <a:r>
              <a:rPr lang="en-US" sz="4000">
                <a:cs typeface="Arial"/>
              </a:rPr>
              <a:t> Python? Care sunt </a:t>
            </a:r>
            <a:r>
              <a:rPr lang="en-US" sz="4000" err="1">
                <a:cs typeface="Arial"/>
              </a:rPr>
              <a:t>principalele</a:t>
            </a:r>
            <a:r>
              <a:rPr lang="en-US" sz="4000">
                <a:cs typeface="Arial"/>
              </a:rPr>
              <a:t> </a:t>
            </a:r>
            <a:r>
              <a:rPr lang="en-US" sz="4000" err="1">
                <a:cs typeface="Arial"/>
              </a:rPr>
              <a:t>diferențe</a:t>
            </a:r>
            <a:r>
              <a:rPr lang="en-US" sz="4000">
                <a:cs typeface="Arial"/>
              </a:rPr>
              <a:t> </a:t>
            </a:r>
            <a:r>
              <a:rPr lang="en-US" sz="4000" err="1">
                <a:cs typeface="Arial"/>
              </a:rPr>
              <a:t>față</a:t>
            </a:r>
            <a:r>
              <a:rPr lang="en-US" sz="4000">
                <a:cs typeface="Arial"/>
              </a:rPr>
              <a:t> de C++?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A5075-4587-2AFB-F845-39C8FE246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3968" y="1713430"/>
            <a:ext cx="7791931" cy="878468"/>
          </a:xfrm>
        </p:spPr>
        <p:txBody>
          <a:bodyPr/>
          <a:lstStyle/>
          <a:p>
            <a:r>
              <a:rPr lang="en-US" sz="2800" err="1">
                <a:cs typeface="Arial"/>
              </a:rPr>
              <a:t>Capitolul</a:t>
            </a:r>
            <a:r>
              <a:rPr lang="en-US" sz="2800">
                <a:cs typeface="Arial"/>
              </a:rPr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4088334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D0DD1-74FB-D0AF-3396-6AB2F1EC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cs typeface="Arial"/>
              </a:rPr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1E926-B235-1E5D-DBCC-CD7F46793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4170" indent="-344170"/>
            <a:r>
              <a:rPr lang="en-US">
                <a:ea typeface="+mn-lt"/>
                <a:cs typeface="+mn-lt"/>
              </a:rPr>
              <a:t>Python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un </a:t>
            </a:r>
            <a:r>
              <a:rPr lang="en-US" err="1">
                <a:ea typeface="+mn-lt"/>
                <a:cs typeface="+mn-lt"/>
              </a:rPr>
              <a:t>limbaj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programare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nivel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înalt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interpretat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344170" indent="-344170"/>
            <a:r>
              <a:rPr lang="en-US">
                <a:ea typeface="+mn-lt"/>
                <a:cs typeface="+mn-lt"/>
              </a:rPr>
              <a:t> A </a:t>
            </a:r>
            <a:r>
              <a:rPr lang="en-US" err="1">
                <a:ea typeface="+mn-lt"/>
                <a:cs typeface="+mn-lt"/>
              </a:rPr>
              <a:t>fost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inventat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1991.</a:t>
            </a:r>
          </a:p>
          <a:p>
            <a:pPr marL="344170" indent="-344170"/>
            <a:r>
              <a:rPr lang="en-US">
                <a:ea typeface="+mn-lt"/>
                <a:cs typeface="+mn-lt"/>
              </a:rPr>
              <a:t>Python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un </a:t>
            </a:r>
            <a:r>
              <a:rPr lang="en-US" err="1">
                <a:ea typeface="+mn-lt"/>
                <a:cs typeface="+mn-lt"/>
              </a:rPr>
              <a:t>limbaj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programare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orientat</a:t>
            </a:r>
            <a:r>
              <a:rPr lang="en-US">
                <a:ea typeface="+mn-lt"/>
                <a:cs typeface="+mn-lt"/>
              </a:rPr>
              <a:t> pe </a:t>
            </a:r>
            <a:r>
              <a:rPr lang="en-US" err="1">
                <a:ea typeface="+mn-lt"/>
                <a:cs typeface="+mn-lt"/>
              </a:rPr>
              <a:t>obiecte</a:t>
            </a:r>
            <a:r>
              <a:rPr lang="en-US">
                <a:ea typeface="+mn-lt"/>
                <a:cs typeface="+mn-lt"/>
              </a:rPr>
              <a:t> care are </a:t>
            </a:r>
            <a:r>
              <a:rPr lang="en-US" err="1">
                <a:ea typeface="+mn-lt"/>
                <a:cs typeface="+mn-lt"/>
              </a:rPr>
              <a:t>suport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enorm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biblioteci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ceea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</a:t>
            </a:r>
            <a:r>
              <a:rPr lang="en-US">
                <a:ea typeface="+mn-lt"/>
                <a:cs typeface="+mn-lt"/>
              </a:rPr>
              <a:t> face </a:t>
            </a:r>
            <a:r>
              <a:rPr lang="en-US" err="1">
                <a:ea typeface="+mn-lt"/>
                <a:cs typeface="+mn-lt"/>
              </a:rPr>
              <a:t>implementarea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diverselor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programe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algoritmi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ușoară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344170" indent="-344170"/>
            <a:r>
              <a:rPr lang="en-US" err="1">
                <a:ea typeface="+mn-lt"/>
                <a:cs typeface="+mn-lt"/>
              </a:rPr>
              <a:t>Construcțiile</a:t>
            </a:r>
            <a:r>
              <a:rPr lang="en-US">
                <a:ea typeface="+mn-lt"/>
                <a:cs typeface="+mn-lt"/>
              </a:rPr>
              <a:t> sale de </a:t>
            </a:r>
            <a:r>
              <a:rPr lang="en-US" err="1">
                <a:ea typeface="+mn-lt"/>
                <a:cs typeface="+mn-lt"/>
              </a:rPr>
              <a:t>limbaj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abordarea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orientată</a:t>
            </a:r>
            <a:r>
              <a:rPr lang="en-US">
                <a:ea typeface="+mn-lt"/>
                <a:cs typeface="+mn-lt"/>
              </a:rPr>
              <a:t> pe </a:t>
            </a:r>
            <a:r>
              <a:rPr lang="en-US" err="1">
                <a:ea typeface="+mn-lt"/>
                <a:cs typeface="+mn-lt"/>
              </a:rPr>
              <a:t>obiecte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urmăresc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ajute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programatorii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scrie</a:t>
            </a:r>
            <a:r>
              <a:rPr lang="en-US">
                <a:ea typeface="+mn-lt"/>
                <a:cs typeface="+mn-lt"/>
              </a:rPr>
              <a:t> cod </a:t>
            </a:r>
            <a:r>
              <a:rPr lang="en-US" err="1">
                <a:ea typeface="+mn-lt"/>
                <a:cs typeface="+mn-lt"/>
              </a:rPr>
              <a:t>clar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logic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diferite</a:t>
            </a:r>
            <a:r>
              <a:rPr lang="en-US">
                <a:ea typeface="+mn-lt"/>
                <a:cs typeface="+mn-lt"/>
              </a:rPr>
              <a:t> proiecte. 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5687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D0DD1-74FB-D0AF-3396-6AB2F1EC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err="1">
                <a:cs typeface="Arial"/>
              </a:rPr>
              <a:t>Diferențe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majore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1E926-B235-1E5D-DBCC-CD7F46793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4170" indent="-344170"/>
            <a:r>
              <a:rPr lang="en-US" dirty="0">
                <a:cs typeface="Arial"/>
              </a:rPr>
              <a:t>Nu se </a:t>
            </a:r>
            <a:r>
              <a:rPr lang="en-US" dirty="0" err="1">
                <a:cs typeface="Arial"/>
              </a:rPr>
              <a:t>pune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punct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și</a:t>
            </a:r>
            <a:r>
              <a:rPr lang="en-US" dirty="0">
                <a:cs typeface="Arial"/>
              </a:rPr>
              <a:t> virgula la </a:t>
            </a:r>
            <a:r>
              <a:rPr lang="en-US" dirty="0" err="1">
                <a:cs typeface="Arial"/>
              </a:rPr>
              <a:t>finalul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comenzilor</a:t>
            </a:r>
            <a:endParaRPr lang="en-US" dirty="0">
              <a:cs typeface="Arial"/>
            </a:endParaRPr>
          </a:p>
          <a:p>
            <a:pPr marL="344170" indent="-344170"/>
            <a:r>
              <a:rPr lang="en-US" dirty="0">
                <a:cs typeface="Arial"/>
              </a:rPr>
              <a:t>Nu </a:t>
            </a:r>
            <a:r>
              <a:rPr lang="en-US" dirty="0" err="1">
                <a:cs typeface="Arial"/>
              </a:rPr>
              <a:t>exista</a:t>
            </a:r>
            <a:r>
              <a:rPr lang="en-US" dirty="0">
                <a:cs typeface="Arial"/>
              </a:rPr>
              <a:t> main</a:t>
            </a:r>
          </a:p>
          <a:p>
            <a:pPr marL="344170" indent="-344170"/>
            <a:r>
              <a:rPr lang="en-US" dirty="0">
                <a:cs typeface="Arial"/>
              </a:rPr>
              <a:t>Nu </a:t>
            </a:r>
            <a:r>
              <a:rPr lang="en-US" dirty="0" err="1">
                <a:cs typeface="Arial"/>
              </a:rPr>
              <a:t>este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nevoie</a:t>
            </a:r>
            <a:r>
              <a:rPr lang="en-US" dirty="0">
                <a:cs typeface="Arial"/>
              </a:rPr>
              <a:t> de </a:t>
            </a:r>
            <a:r>
              <a:rPr lang="en-US" dirty="0" err="1">
                <a:cs typeface="Arial"/>
              </a:rPr>
              <a:t>declarare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variabile</a:t>
            </a:r>
            <a:endParaRPr lang="en-US" dirty="0">
              <a:cs typeface="Arial"/>
            </a:endParaRPr>
          </a:p>
          <a:p>
            <a:pPr marL="344170" indent="-344170"/>
            <a:r>
              <a:rPr lang="en-US" dirty="0">
                <a:cs typeface="Arial"/>
              </a:rPr>
              <a:t>Tot </a:t>
            </a:r>
            <a:r>
              <a:rPr lang="en-US" dirty="0" err="1">
                <a:cs typeface="Arial"/>
              </a:rPr>
              <a:t>ce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în</a:t>
            </a:r>
            <a:r>
              <a:rPr lang="en-US" dirty="0">
                <a:cs typeface="Arial"/>
              </a:rPr>
              <a:t> mod normal se </a:t>
            </a:r>
            <a:r>
              <a:rPr lang="en-US" dirty="0" err="1">
                <a:cs typeface="Arial"/>
              </a:rPr>
              <a:t>pune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între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acolade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acum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trebuie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indentat</a:t>
            </a:r>
            <a:endParaRPr lang="en-US" dirty="0">
              <a:cs typeface="Arial"/>
            </a:endParaRPr>
          </a:p>
          <a:p>
            <a:pPr marL="344170" indent="-344170"/>
            <a:r>
              <a:rPr lang="en-US" dirty="0">
                <a:cs typeface="Arial"/>
              </a:rPr>
              <a:t>Nu </a:t>
            </a:r>
            <a:r>
              <a:rPr lang="en-US" dirty="0" err="1">
                <a:cs typeface="Arial"/>
              </a:rPr>
              <a:t>exista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operatorii</a:t>
            </a:r>
            <a:r>
              <a:rPr lang="en-US" dirty="0">
                <a:cs typeface="Arial"/>
              </a:rPr>
              <a:t> &amp;&amp; </a:t>
            </a:r>
            <a:r>
              <a:rPr lang="en-US" dirty="0" err="1">
                <a:cs typeface="Arial"/>
              </a:rPr>
              <a:t>și</a:t>
            </a:r>
            <a:r>
              <a:rPr lang="en-US" dirty="0">
                <a:cs typeface="Arial"/>
              </a:rPr>
              <a:t> ||, </a:t>
            </a:r>
            <a:r>
              <a:rPr lang="en-US" dirty="0" err="1">
                <a:cs typeface="Arial"/>
              </a:rPr>
              <a:t>folosindu</a:t>
            </a:r>
            <a:r>
              <a:rPr lang="en-US" dirty="0">
                <a:cs typeface="Arial"/>
              </a:rPr>
              <a:t>-se "AND" </a:t>
            </a:r>
            <a:r>
              <a:rPr lang="en-US" dirty="0" err="1">
                <a:cs typeface="Arial"/>
              </a:rPr>
              <a:t>si</a:t>
            </a:r>
            <a:r>
              <a:rPr lang="en-US" dirty="0">
                <a:cs typeface="Arial"/>
              </a:rPr>
              <a:t> "OR"</a:t>
            </a:r>
          </a:p>
          <a:p>
            <a:pPr marL="344170" indent="-344170"/>
            <a:r>
              <a:rPr lang="en-US" dirty="0">
                <a:cs typeface="Arial"/>
              </a:rPr>
              <a:t>Nu </a:t>
            </a:r>
            <a:r>
              <a:rPr lang="en-US" dirty="0" err="1">
                <a:cs typeface="Arial"/>
              </a:rPr>
              <a:t>este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nevoie</a:t>
            </a:r>
            <a:r>
              <a:rPr lang="en-US" dirty="0">
                <a:cs typeface="Arial"/>
              </a:rPr>
              <a:t> de </a:t>
            </a:r>
            <a:r>
              <a:rPr lang="en-US" dirty="0" err="1">
                <a:cs typeface="Arial"/>
              </a:rPr>
              <a:t>paranteze</a:t>
            </a:r>
            <a:r>
              <a:rPr lang="en-US" dirty="0">
                <a:cs typeface="Arial"/>
              </a:rPr>
              <a:t> in if, for, while </a:t>
            </a:r>
            <a:r>
              <a:rPr lang="en-US" dirty="0" err="1">
                <a:cs typeface="Arial"/>
              </a:rPr>
              <a:t>etc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și</a:t>
            </a:r>
            <a:r>
              <a:rPr lang="en-US" dirty="0">
                <a:cs typeface="Arial"/>
              </a:rPr>
              <a:t> se termina </a:t>
            </a:r>
            <a:r>
              <a:rPr lang="en-US" dirty="0" err="1">
                <a:cs typeface="Arial"/>
              </a:rPr>
              <a:t>obligatoriu</a:t>
            </a:r>
            <a:r>
              <a:rPr lang="en-US" dirty="0">
                <a:cs typeface="Arial"/>
              </a:rPr>
              <a:t> cu ":", </a:t>
            </a:r>
            <a:r>
              <a:rPr lang="en-US" dirty="0" err="1">
                <a:cs typeface="Arial"/>
              </a:rPr>
              <a:t>iar</a:t>
            </a:r>
            <a:r>
              <a:rPr lang="en-US" dirty="0">
                <a:cs typeface="Arial"/>
              </a:rPr>
              <a:t> pe </a:t>
            </a:r>
            <a:r>
              <a:rPr lang="en-US" dirty="0" err="1">
                <a:cs typeface="Arial"/>
              </a:rPr>
              <a:t>urmatorul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rând</a:t>
            </a:r>
            <a:r>
              <a:rPr lang="en-US" dirty="0">
                <a:cs typeface="Arial"/>
              </a:rPr>
              <a:t>, evident, se </a:t>
            </a:r>
            <a:r>
              <a:rPr lang="en-US" dirty="0" err="1">
                <a:cs typeface="Arial"/>
              </a:rPr>
              <a:t>scrie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indentat</a:t>
            </a:r>
            <a:endParaRPr lang="en-US" dirty="0">
              <a:cs typeface="Arial"/>
            </a:endParaRPr>
          </a:p>
          <a:p>
            <a:pPr marL="344170" indent="-344170"/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4785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D0DD1-74FB-D0AF-3396-6AB2F1EC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err="1">
                <a:cs typeface="Arial"/>
              </a:rPr>
              <a:t>Diferențe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majore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1E926-B235-1E5D-DBCC-CD7F46793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4170" indent="-344170"/>
            <a:r>
              <a:rPr lang="en-US">
                <a:cs typeface="Arial"/>
              </a:rPr>
              <a:t>for-</a:t>
            </a:r>
            <a:r>
              <a:rPr lang="en-US" err="1">
                <a:cs typeface="Arial"/>
              </a:rPr>
              <a:t>ul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poate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să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itereze</a:t>
            </a:r>
            <a:r>
              <a:rPr lang="en-US">
                <a:cs typeface="Arial"/>
              </a:rPr>
              <a:t> direct </a:t>
            </a:r>
            <a:r>
              <a:rPr lang="en-US" err="1">
                <a:cs typeface="Arial"/>
              </a:rPr>
              <a:t>printr</a:t>
            </a:r>
            <a:r>
              <a:rPr lang="en-US">
                <a:cs typeface="Arial"/>
              </a:rPr>
              <a:t>-o </a:t>
            </a:r>
            <a:r>
              <a:rPr lang="en-US" err="1">
                <a:cs typeface="Arial"/>
              </a:rPr>
              <a:t>structură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fără</a:t>
            </a:r>
            <a:r>
              <a:rPr lang="en-US">
                <a:cs typeface="Arial"/>
              </a:rPr>
              <a:t> iterator </a:t>
            </a:r>
          </a:p>
          <a:p>
            <a:pPr marL="344170" indent="-344170"/>
            <a:r>
              <a:rPr lang="en-US" err="1">
                <a:cs typeface="Arial"/>
              </a:rPr>
              <a:t>Există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structuri</a:t>
            </a:r>
            <a:r>
              <a:rPr lang="en-US">
                <a:cs typeface="Arial"/>
              </a:rPr>
              <a:t> de date precum array, list </a:t>
            </a:r>
            <a:r>
              <a:rPr lang="en-US" err="1">
                <a:cs typeface="Arial"/>
              </a:rPr>
              <a:t>și</a:t>
            </a:r>
            <a:r>
              <a:rPr lang="en-US">
                <a:cs typeface="Arial"/>
              </a:rPr>
              <a:t> dictionary</a:t>
            </a:r>
          </a:p>
          <a:p>
            <a:pPr marL="344170" indent="-344170"/>
            <a:r>
              <a:rPr lang="en-US" err="1">
                <a:cs typeface="Arial"/>
              </a:rPr>
              <a:t>Functiile</a:t>
            </a:r>
            <a:r>
              <a:rPr lang="en-US">
                <a:cs typeface="Arial"/>
              </a:rPr>
              <a:t> pot </a:t>
            </a:r>
            <a:r>
              <a:rPr lang="en-US" err="1">
                <a:cs typeface="Arial"/>
              </a:rPr>
              <a:t>returna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orice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și</a:t>
            </a:r>
            <a:r>
              <a:rPr lang="en-US">
                <a:cs typeface="Arial"/>
              </a:rPr>
              <a:t> nu </a:t>
            </a:r>
            <a:r>
              <a:rPr lang="en-US" err="1">
                <a:cs typeface="Arial"/>
              </a:rPr>
              <a:t>trebuie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specificat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tipul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variabilelor</a:t>
            </a:r>
            <a:r>
              <a:rPr lang="en-US">
                <a:cs typeface="Arial"/>
              </a:rPr>
              <a:t> care se </a:t>
            </a:r>
            <a:r>
              <a:rPr lang="en-US" err="1">
                <a:cs typeface="Arial"/>
              </a:rPr>
              <a:t>returnează</a:t>
            </a:r>
            <a:endParaRPr lang="en-US">
              <a:cs typeface="Arial"/>
            </a:endParaRPr>
          </a:p>
          <a:p>
            <a:pPr marL="344170" indent="-344170"/>
            <a:r>
              <a:rPr lang="en-US" err="1">
                <a:cs typeface="Arial"/>
              </a:rPr>
              <a:t>Împărțirea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este</a:t>
            </a:r>
            <a:r>
              <a:rPr lang="en-US">
                <a:cs typeface="Arial"/>
              </a:rPr>
              <a:t> de 2 </a:t>
            </a:r>
            <a:r>
              <a:rPr lang="en-US" err="1">
                <a:cs typeface="Arial"/>
              </a:rPr>
              <a:t>tipuri</a:t>
            </a:r>
            <a:r>
              <a:rPr lang="en-US">
                <a:cs typeface="Arial"/>
              </a:rPr>
              <a:t>, </a:t>
            </a:r>
            <a:r>
              <a:rPr lang="en-US" err="1">
                <a:cs typeface="Arial"/>
              </a:rPr>
              <a:t>reală</a:t>
            </a:r>
            <a:r>
              <a:rPr lang="en-US">
                <a:cs typeface="Arial"/>
              </a:rPr>
              <a:t>(/) </a:t>
            </a:r>
            <a:r>
              <a:rPr lang="en-US" err="1">
                <a:cs typeface="Arial"/>
              </a:rPr>
              <a:t>și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întreagă</a:t>
            </a:r>
            <a:r>
              <a:rPr lang="en-US">
                <a:cs typeface="Arial"/>
              </a:rPr>
              <a:t>(//) </a:t>
            </a:r>
            <a:r>
              <a:rPr lang="en-US" err="1">
                <a:cs typeface="Arial"/>
              </a:rPr>
              <a:t>și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există</a:t>
            </a:r>
            <a:r>
              <a:rPr lang="en-US">
                <a:cs typeface="Arial"/>
              </a:rPr>
              <a:t> operator de </a:t>
            </a:r>
            <a:r>
              <a:rPr lang="en-US" err="1">
                <a:cs typeface="Arial"/>
              </a:rPr>
              <a:t>ridicare</a:t>
            </a:r>
            <a:r>
              <a:rPr lang="en-US">
                <a:cs typeface="Arial"/>
              </a:rPr>
              <a:t> la </a:t>
            </a:r>
            <a:r>
              <a:rPr lang="en-US" err="1">
                <a:cs typeface="Arial"/>
              </a:rPr>
              <a:t>putere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bază</a:t>
            </a:r>
            <a:r>
              <a:rPr lang="en-US">
                <a:cs typeface="Arial"/>
              </a:rPr>
              <a:t>**exponent</a:t>
            </a:r>
          </a:p>
          <a:p>
            <a:pPr marL="344170" indent="-344170"/>
            <a:r>
              <a:rPr lang="en-US">
                <a:cs typeface="Arial"/>
              </a:rPr>
              <a:t>Python </a:t>
            </a:r>
            <a:r>
              <a:rPr lang="en-US" err="1">
                <a:cs typeface="Arial"/>
              </a:rPr>
              <a:t>rulează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mult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mai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greu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decât</a:t>
            </a:r>
            <a:r>
              <a:rPr lang="en-US">
                <a:cs typeface="Arial"/>
              </a:rPr>
              <a:t> C++</a:t>
            </a:r>
          </a:p>
          <a:p>
            <a:pPr marL="344170" indent="-344170"/>
            <a:r>
              <a:rPr lang="en-US" err="1">
                <a:cs typeface="Arial"/>
              </a:rPr>
              <a:t>Codul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este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în</a:t>
            </a:r>
            <a:r>
              <a:rPr lang="en-US">
                <a:cs typeface="Arial"/>
              </a:rPr>
              <a:t> general </a:t>
            </a:r>
            <a:r>
              <a:rPr lang="en-US" err="1">
                <a:cs typeface="Arial"/>
              </a:rPr>
              <a:t>mai</a:t>
            </a:r>
            <a:r>
              <a:rPr lang="en-US">
                <a:cs typeface="Arial"/>
              </a:rPr>
              <a:t> logic </a:t>
            </a:r>
            <a:r>
              <a:rPr lang="en-US" err="1">
                <a:cs typeface="Arial"/>
              </a:rPr>
              <a:t>și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mai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ușor</a:t>
            </a:r>
            <a:r>
              <a:rPr lang="en-US">
                <a:cs typeface="Arial"/>
              </a:rPr>
              <a:t> de </a:t>
            </a:r>
            <a:r>
              <a:rPr lang="en-US" err="1">
                <a:cs typeface="Arial"/>
              </a:rPr>
              <a:t>înțeles</a:t>
            </a:r>
            <a:endParaRPr lang="en-US">
              <a:cs typeface="Arial"/>
            </a:endParaRPr>
          </a:p>
          <a:p>
            <a:pPr marL="344170" indent="-344170"/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4828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3B91-4B9E-3EB2-3A5A-272B54695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8893" y="2486185"/>
            <a:ext cx="5518066" cy="2268559"/>
          </a:xfrm>
        </p:spPr>
        <p:txBody>
          <a:bodyPr/>
          <a:lstStyle/>
          <a:p>
            <a:r>
              <a:rPr lang="en-US">
                <a:cs typeface="Arial"/>
              </a:rPr>
              <a:t>Hai </a:t>
            </a:r>
            <a:r>
              <a:rPr lang="en-US" err="1">
                <a:cs typeface="Arial"/>
              </a:rPr>
              <a:t>să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facem</a:t>
            </a:r>
            <a:r>
              <a:rPr lang="en-US">
                <a:cs typeface="Arial"/>
              </a:rPr>
              <a:t> un prim cod!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34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962D-F312-AF34-2DAE-434601FE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9024" y="3147254"/>
            <a:ext cx="6587544" cy="14247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000">
                <a:cs typeface="Arial"/>
              </a:rPr>
              <a:t>XOR</a:t>
            </a:r>
            <a:br>
              <a:rPr lang="en-US" sz="4000">
                <a:cs typeface="Arial"/>
              </a:rPr>
            </a:br>
            <a:r>
              <a:rPr lang="en-US" sz="4000">
                <a:cs typeface="Arial"/>
              </a:rPr>
              <a:t>  (SAU EXCLUSIV) 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A5075-4587-2AFB-F845-39C8FE246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1053" y="1713430"/>
            <a:ext cx="6590813" cy="878468"/>
          </a:xfrm>
        </p:spPr>
        <p:txBody>
          <a:bodyPr/>
          <a:lstStyle/>
          <a:p>
            <a:r>
              <a:rPr lang="en-US" sz="2800" err="1">
                <a:cs typeface="Arial"/>
              </a:rPr>
              <a:t>Capitolul</a:t>
            </a:r>
            <a:r>
              <a:rPr lang="en-US" sz="2800">
                <a:cs typeface="Arial"/>
              </a:rPr>
              <a:t> III</a:t>
            </a:r>
          </a:p>
        </p:txBody>
      </p:sp>
    </p:spTree>
    <p:extLst>
      <p:ext uri="{BB962C8B-B14F-4D97-AF65-F5344CB8AC3E}">
        <p14:creationId xmlns:p14="http://schemas.microsoft.com/office/powerpoint/2010/main" val="3908254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85339-AB55-A453-70B5-E8DCC79A8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4" y="808056"/>
            <a:ext cx="3317492" cy="1077229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>
                <a:cs typeface="Arial"/>
              </a:rPr>
              <a:t>XOR – SAU EXCLUSIV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67A3B-9586-AF62-86DE-FEFBECCDC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803" y="2052116"/>
            <a:ext cx="3317493" cy="3997828"/>
          </a:xfrm>
        </p:spPr>
        <p:txBody>
          <a:bodyPr>
            <a:normAutofit/>
          </a:bodyPr>
          <a:lstStyle/>
          <a:p>
            <a:pPr marL="344170" indent="-344170"/>
            <a:r>
              <a:rPr lang="en-US" sz="1800">
                <a:ea typeface="+mn-lt"/>
                <a:cs typeface="+mn-lt"/>
              </a:rPr>
              <a:t>XOR (sau exclusiv) este un operator pe biți care returnează 0 dacă biții sunt aceiași și 1 în caz contrar. În manuale, operatorul XOR este notat cu ⊕, dar în majoritatea provocărilor și limbajelor de programare veți vedea caret ^ folosit în schimb.</a:t>
            </a:r>
            <a:endParaRPr lang="en-US" sz="1800">
              <a:cs typeface="Arial"/>
            </a:endParaRPr>
          </a:p>
          <a:p>
            <a:pPr marL="344170" indent="-344170"/>
            <a:endParaRPr lang="en-US" sz="1800">
              <a:cs typeface="Arial"/>
            </a:endParaRPr>
          </a:p>
          <a:p>
            <a:pPr marL="344170" indent="-344170"/>
            <a:endParaRPr lang="en-US" sz="1800">
              <a:cs typeface="Arial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651F4CE6-5324-434A-59D9-AFAA97CAC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766" y="1865224"/>
            <a:ext cx="4651619" cy="3128214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014626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2C38A-1CF5-A43A-F328-ECF9690EF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398" y="5166420"/>
            <a:ext cx="8440564" cy="10450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/>
              <a:t>PROPRIETĂȚI</a:t>
            </a:r>
            <a:endParaRPr lang="en-US"/>
          </a:p>
        </p:txBody>
      </p:sp>
      <p:pic>
        <p:nvPicPr>
          <p:cNvPr id="5" name="Content Placeholder 4" descr="A group of symbols on a blue background&#10;&#10;Description automatically generated">
            <a:extLst>
              <a:ext uri="{FF2B5EF4-FFF2-40B4-BE49-F238E27FC236}">
                <a16:creationId xmlns:a16="http://schemas.microsoft.com/office/drawing/2014/main" id="{85580996-EC1C-8674-D378-7116EC8569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60170" y="1080689"/>
            <a:ext cx="8460166" cy="243229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3923254"/>
      </p:ext>
    </p:extLst>
  </p:cSld>
  <p:clrMapOvr>
    <a:masterClrMapping/>
  </p:clrMapOvr>
  <p:extLst>
    <p:ext uri="{6950BFC3-D8DA-4A85-94F7-54DA5524770B}">
      <p188:commentRel xmlns:p188="http://schemas.microsoft.com/office/powerpoint/2018/8/main" xmlns="" r:id="rId4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3B91-4B9E-3EB2-3A5A-272B54695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8893" y="2486185"/>
            <a:ext cx="5518066" cy="2268559"/>
          </a:xfrm>
        </p:spPr>
        <p:txBody>
          <a:bodyPr/>
          <a:lstStyle/>
          <a:p>
            <a:r>
              <a:rPr lang="en-US">
                <a:cs typeface="Arial"/>
              </a:rPr>
              <a:t>Hai </a:t>
            </a:r>
            <a:r>
              <a:rPr lang="en-US" err="1">
                <a:cs typeface="Arial"/>
              </a:rPr>
              <a:t>să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facem</a:t>
            </a:r>
            <a:r>
              <a:rPr lang="en-US">
                <a:cs typeface="Arial"/>
              </a:rPr>
              <a:t> un prim test!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55604"/>
      </p:ext>
    </p:extLst>
  </p:cSld>
  <p:clrMapOvr>
    <a:masterClrMapping/>
  </p:clrMapOvr>
  <p:extLst>
    <p:ext uri="{6950BFC3-D8DA-4A85-94F7-54DA5524770B}">
      <p188:commentRel xmlns:p188="http://schemas.microsoft.com/office/powerpoint/2018/8/main" xmlns="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962D-F312-AF34-2DAE-434601FE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9024" y="3147254"/>
            <a:ext cx="6587544" cy="14247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000" err="1">
                <a:cs typeface="Arial"/>
              </a:rPr>
              <a:t>Funcții</a:t>
            </a:r>
            <a:r>
              <a:rPr lang="en-US" sz="4000">
                <a:cs typeface="Arial"/>
              </a:rPr>
              <a:t> de tip HASH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A5075-4587-2AFB-F845-39C8FE246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1053" y="1713430"/>
            <a:ext cx="6590813" cy="878468"/>
          </a:xfrm>
        </p:spPr>
        <p:txBody>
          <a:bodyPr/>
          <a:lstStyle/>
          <a:p>
            <a:r>
              <a:rPr lang="en-US" sz="2800" err="1">
                <a:cs typeface="Arial"/>
              </a:rPr>
              <a:t>Capitolul</a:t>
            </a:r>
            <a:r>
              <a:rPr lang="en-US" sz="2800">
                <a:cs typeface="Arial"/>
              </a:rPr>
              <a:t> IV</a:t>
            </a:r>
          </a:p>
        </p:txBody>
      </p:sp>
    </p:spTree>
    <p:extLst>
      <p:ext uri="{BB962C8B-B14F-4D97-AF65-F5344CB8AC3E}">
        <p14:creationId xmlns:p14="http://schemas.microsoft.com/office/powerpoint/2010/main" val="1063028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73344-B1DD-FB73-3AB9-F51AD75D9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640158"/>
            <a:ext cx="7958331" cy="10772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cs typeface="Arial"/>
              </a:rPr>
              <a:t>HASH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C5A0F-7EA3-1A1F-3826-94C7D3D7F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3227" y="1858387"/>
            <a:ext cx="8196912" cy="4191557"/>
          </a:xfrm>
        </p:spPr>
        <p:txBody>
          <a:bodyPr>
            <a:normAutofit fontScale="92500" lnSpcReduction="10000"/>
          </a:bodyPr>
          <a:lstStyle/>
          <a:p>
            <a:pPr marL="344170" indent="-344170"/>
            <a:r>
              <a:rPr lang="en-US">
                <a:ea typeface="+mn-lt"/>
                <a:cs typeface="+mn-lt"/>
              </a:rPr>
              <a:t>O </a:t>
            </a:r>
            <a:r>
              <a:rPr lang="en-US" err="1">
                <a:ea typeface="+mn-lt"/>
                <a:cs typeface="+mn-lt"/>
              </a:rPr>
              <a:t>funcție</a:t>
            </a:r>
            <a:r>
              <a:rPr lang="en-US">
                <a:ea typeface="+mn-lt"/>
                <a:cs typeface="+mn-lt"/>
              </a:rPr>
              <a:t> hash </a:t>
            </a:r>
            <a:r>
              <a:rPr lang="en-US" err="1">
                <a:ea typeface="+mn-lt"/>
                <a:cs typeface="+mn-lt"/>
              </a:rPr>
              <a:t>efectuează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transformări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asupra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unor</a:t>
            </a:r>
            <a:r>
              <a:rPr lang="en-US">
                <a:ea typeface="+mn-lt"/>
                <a:cs typeface="+mn-lt"/>
              </a:rPr>
              <a:t> date (m) de o </a:t>
            </a:r>
            <a:r>
              <a:rPr lang="en-US" err="1">
                <a:ea typeface="+mn-lt"/>
                <a:cs typeface="+mn-lt"/>
              </a:rPr>
              <a:t>lungime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arbitrară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generând</a:t>
            </a:r>
            <a:r>
              <a:rPr lang="en-US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ieşire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lungime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fixă</a:t>
            </a:r>
            <a:r>
              <a:rPr lang="en-US">
                <a:ea typeface="+mn-lt"/>
                <a:cs typeface="+mn-lt"/>
              </a:rPr>
              <a:t> (h) care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o imagine a </a:t>
            </a:r>
            <a:r>
              <a:rPr lang="en-US" err="1">
                <a:ea typeface="+mn-lt"/>
                <a:cs typeface="+mn-lt"/>
              </a:rPr>
              <a:t>datelor</a:t>
            </a:r>
            <a:r>
              <a:rPr lang="en-US">
                <a:ea typeface="+mn-lt"/>
                <a:cs typeface="+mn-lt"/>
              </a:rPr>
              <a:t>. </a:t>
            </a:r>
            <a:r>
              <a:rPr lang="en-US" err="1">
                <a:ea typeface="+mn-lt"/>
                <a:cs typeface="+mn-lt"/>
              </a:rPr>
              <a:t>Valoarea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imaginii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returnate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numeşte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valoare</a:t>
            </a:r>
            <a:r>
              <a:rPr lang="en-US">
                <a:ea typeface="+mn-lt"/>
                <a:cs typeface="+mn-lt"/>
              </a:rPr>
              <a:t> hash </a:t>
            </a:r>
          </a:p>
          <a:p>
            <a:pPr marL="344170" indent="-344170"/>
            <a:r>
              <a:rPr lang="en-US" sz="2200" err="1">
                <a:ea typeface="+mn-lt"/>
                <a:cs typeface="+mn-lt"/>
              </a:rPr>
              <a:t>Caracteristicile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speciale</a:t>
            </a:r>
            <a:r>
              <a:rPr lang="en-US" sz="2200">
                <a:ea typeface="+mn-lt"/>
                <a:cs typeface="+mn-lt"/>
              </a:rPr>
              <a:t> ale </a:t>
            </a:r>
            <a:r>
              <a:rPr lang="en-US" sz="2200" err="1">
                <a:ea typeface="+mn-lt"/>
                <a:cs typeface="+mn-lt"/>
              </a:rPr>
              <a:t>funcţiilor</a:t>
            </a:r>
            <a:r>
              <a:rPr lang="en-US" sz="2200">
                <a:ea typeface="+mn-lt"/>
                <a:cs typeface="+mn-lt"/>
              </a:rPr>
              <a:t> de </a:t>
            </a:r>
            <a:r>
              <a:rPr lang="en-US" sz="2200" err="1">
                <a:ea typeface="+mn-lt"/>
                <a:cs typeface="+mn-lt"/>
              </a:rPr>
              <a:t>sens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unic</a:t>
            </a:r>
            <a:r>
              <a:rPr lang="en-US" sz="2200">
                <a:ea typeface="+mn-lt"/>
                <a:cs typeface="+mn-lt"/>
              </a:rPr>
              <a:t> sunt </a:t>
            </a:r>
            <a:r>
              <a:rPr lang="en-US" sz="2200" err="1">
                <a:ea typeface="+mn-lt"/>
                <a:cs typeface="+mn-lt"/>
              </a:rPr>
              <a:t>următoarele</a:t>
            </a:r>
            <a:r>
              <a:rPr lang="en-US" sz="2200">
                <a:ea typeface="+mn-lt"/>
                <a:cs typeface="+mn-lt"/>
              </a:rPr>
              <a:t>:</a:t>
            </a:r>
            <a:endParaRPr lang="en-US" sz="2200">
              <a:cs typeface="Arial" panose="020B0604020202020204"/>
            </a:endParaRP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sz="1900" err="1">
                <a:ea typeface="+mn-lt"/>
                <a:cs typeface="+mn-lt"/>
              </a:rPr>
              <a:t>pentru</a:t>
            </a:r>
            <a:r>
              <a:rPr lang="en-US" sz="190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orice</a:t>
            </a:r>
            <a:r>
              <a:rPr lang="en-US" sz="190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intrare</a:t>
            </a:r>
            <a:r>
              <a:rPr lang="en-US" sz="1900">
                <a:ea typeface="+mn-lt"/>
                <a:cs typeface="+mn-lt"/>
              </a:rPr>
              <a:t> m </a:t>
            </a:r>
            <a:r>
              <a:rPr lang="en-US" sz="1900" err="1">
                <a:ea typeface="+mn-lt"/>
                <a:cs typeface="+mn-lt"/>
              </a:rPr>
              <a:t>este</a:t>
            </a:r>
            <a:r>
              <a:rPr lang="en-US" sz="190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uşor</a:t>
            </a:r>
            <a:r>
              <a:rPr lang="en-US" sz="1900">
                <a:ea typeface="+mn-lt"/>
                <a:cs typeface="+mn-lt"/>
              </a:rPr>
              <a:t> de </a:t>
            </a:r>
            <a:r>
              <a:rPr lang="en-US" sz="1900" err="1">
                <a:ea typeface="+mn-lt"/>
                <a:cs typeface="+mn-lt"/>
              </a:rPr>
              <a:t>calculat</a:t>
            </a:r>
            <a:r>
              <a:rPr lang="en-US" sz="1900">
                <a:ea typeface="+mn-lt"/>
                <a:cs typeface="+mn-lt"/>
              </a:rPr>
              <a:t> h;</a:t>
            </a: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sz="1900" err="1">
                <a:ea typeface="+mn-lt"/>
                <a:cs typeface="+mn-lt"/>
              </a:rPr>
              <a:t>având</a:t>
            </a:r>
            <a:r>
              <a:rPr lang="en-US" sz="1900">
                <a:ea typeface="+mn-lt"/>
                <a:cs typeface="+mn-lt"/>
              </a:rPr>
              <a:t> h </a:t>
            </a:r>
            <a:r>
              <a:rPr lang="en-US" sz="1900" err="1">
                <a:ea typeface="+mn-lt"/>
                <a:cs typeface="+mn-lt"/>
              </a:rPr>
              <a:t>este</a:t>
            </a:r>
            <a:r>
              <a:rPr lang="en-US" sz="190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dificil</a:t>
            </a:r>
            <a:r>
              <a:rPr lang="en-US" sz="1900">
                <a:ea typeface="+mn-lt"/>
                <a:cs typeface="+mn-lt"/>
              </a:rPr>
              <a:t> de </a:t>
            </a:r>
            <a:r>
              <a:rPr lang="en-US" sz="1900" err="1">
                <a:ea typeface="+mn-lt"/>
                <a:cs typeface="+mn-lt"/>
              </a:rPr>
              <a:t>calculat</a:t>
            </a:r>
            <a:r>
              <a:rPr lang="en-US" sz="1900">
                <a:ea typeface="+mn-lt"/>
                <a:cs typeface="+mn-lt"/>
              </a:rPr>
              <a:t> m </a:t>
            </a:r>
            <a:r>
              <a:rPr lang="en-US" sz="1900" err="1">
                <a:ea typeface="+mn-lt"/>
                <a:cs typeface="+mn-lt"/>
              </a:rPr>
              <a:t>astfel</a:t>
            </a:r>
            <a:r>
              <a:rPr lang="en-US" sz="190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încât</a:t>
            </a:r>
            <a:r>
              <a:rPr lang="en-US" sz="1900">
                <a:ea typeface="+mn-lt"/>
                <a:cs typeface="+mn-lt"/>
              </a:rPr>
              <a:t> se fie </a:t>
            </a:r>
            <a:r>
              <a:rPr lang="en-US" sz="1900" err="1">
                <a:ea typeface="+mn-lt"/>
                <a:cs typeface="+mn-lt"/>
              </a:rPr>
              <a:t>satisfăcută</a:t>
            </a:r>
            <a:r>
              <a:rPr lang="en-US" sz="190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relaţia</a:t>
            </a:r>
            <a:r>
              <a:rPr lang="en-US" sz="1900">
                <a:ea typeface="+mn-lt"/>
                <a:cs typeface="+mn-lt"/>
              </a:rPr>
              <a:t> h = H(m);</a:t>
            </a: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sz="1900" err="1">
                <a:ea typeface="+mn-lt"/>
                <a:cs typeface="+mn-lt"/>
              </a:rPr>
              <a:t>pentru</a:t>
            </a:r>
            <a:r>
              <a:rPr lang="en-US" sz="1900">
                <a:ea typeface="+mn-lt"/>
                <a:cs typeface="+mn-lt"/>
              </a:rPr>
              <a:t> un m </a:t>
            </a:r>
            <a:r>
              <a:rPr lang="en-US" sz="1900" err="1">
                <a:ea typeface="+mn-lt"/>
                <a:cs typeface="+mn-lt"/>
              </a:rPr>
              <a:t>dat</a:t>
            </a:r>
            <a:r>
              <a:rPr lang="en-US" sz="190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este</a:t>
            </a:r>
            <a:r>
              <a:rPr lang="en-US" sz="190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dificil</a:t>
            </a:r>
            <a:r>
              <a:rPr lang="en-US" sz="1900">
                <a:ea typeface="+mn-lt"/>
                <a:cs typeface="+mn-lt"/>
              </a:rPr>
              <a:t> de </a:t>
            </a:r>
            <a:r>
              <a:rPr lang="en-US" sz="1900" err="1">
                <a:ea typeface="+mn-lt"/>
                <a:cs typeface="+mn-lt"/>
              </a:rPr>
              <a:t>găsit</a:t>
            </a:r>
            <a:r>
              <a:rPr lang="en-US" sz="1900">
                <a:ea typeface="+mn-lt"/>
                <a:cs typeface="+mn-lt"/>
              </a:rPr>
              <a:t> m1 </a:t>
            </a:r>
            <a:r>
              <a:rPr lang="en-US" sz="1900" err="1">
                <a:ea typeface="+mn-lt"/>
                <a:cs typeface="+mn-lt"/>
              </a:rPr>
              <a:t>astfel</a:t>
            </a:r>
            <a:r>
              <a:rPr lang="en-US" sz="190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încât</a:t>
            </a:r>
            <a:r>
              <a:rPr lang="en-US" sz="1900">
                <a:ea typeface="+mn-lt"/>
                <a:cs typeface="+mn-lt"/>
              </a:rPr>
              <a:t> H(m) = H(m1); </a:t>
            </a:r>
            <a:r>
              <a:rPr lang="en-US" sz="1900" err="1">
                <a:ea typeface="+mn-lt"/>
                <a:cs typeface="+mn-lt"/>
              </a:rPr>
              <a:t>în</a:t>
            </a:r>
            <a:r>
              <a:rPr lang="en-US" sz="190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acest</a:t>
            </a:r>
            <a:r>
              <a:rPr lang="en-US" sz="190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caz</a:t>
            </a:r>
            <a:r>
              <a:rPr lang="en-US" sz="1900">
                <a:ea typeface="+mn-lt"/>
                <a:cs typeface="+mn-lt"/>
              </a:rPr>
              <a:t> m </a:t>
            </a:r>
            <a:r>
              <a:rPr lang="en-US" sz="1900" err="1">
                <a:ea typeface="+mn-lt"/>
                <a:cs typeface="+mn-lt"/>
              </a:rPr>
              <a:t>și</a:t>
            </a:r>
            <a:r>
              <a:rPr lang="en-US" sz="1900">
                <a:ea typeface="+mn-lt"/>
                <a:cs typeface="+mn-lt"/>
              </a:rPr>
              <a:t> m1 sunt </a:t>
            </a:r>
            <a:r>
              <a:rPr lang="en-US" sz="1900" err="1">
                <a:ea typeface="+mn-lt"/>
                <a:cs typeface="+mn-lt"/>
              </a:rPr>
              <a:t>numite</a:t>
            </a:r>
            <a:r>
              <a:rPr lang="en-US" sz="1900">
                <a:ea typeface="+mn-lt"/>
                <a:cs typeface="+mn-lt"/>
              </a:rPr>
              <a:t> </a:t>
            </a:r>
            <a:r>
              <a:rPr lang="en-US" sz="1900" err="1">
                <a:ea typeface="+mn-lt"/>
                <a:cs typeface="+mn-lt"/>
              </a:rPr>
              <a:t>coliziuni</a:t>
            </a:r>
            <a:r>
              <a:rPr lang="en-US" sz="1900">
                <a:ea typeface="+mn-lt"/>
                <a:cs typeface="+mn-lt"/>
              </a:rPr>
              <a:t>.</a:t>
            </a:r>
            <a:endParaRPr lang="en-US" sz="1900">
              <a:cs typeface="Arial" panose="020B0604020202020204"/>
            </a:endParaRP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sz="1900" err="1">
                <a:cs typeface="Arial" panose="020B0604020202020204"/>
              </a:rPr>
              <a:t>Funcția</a:t>
            </a:r>
            <a:r>
              <a:rPr lang="en-US" sz="1900">
                <a:cs typeface="Arial" panose="020B0604020202020204"/>
              </a:rPr>
              <a:t> hash </a:t>
            </a:r>
            <a:r>
              <a:rPr lang="en-US" sz="1900" err="1">
                <a:cs typeface="Arial" panose="020B0604020202020204"/>
              </a:rPr>
              <a:t>este</a:t>
            </a:r>
            <a:r>
              <a:rPr lang="en-US" sz="1900">
                <a:cs typeface="Arial" panose="020B0604020202020204"/>
              </a:rPr>
              <a:t> </a:t>
            </a:r>
            <a:r>
              <a:rPr lang="en-US" sz="1900" err="1">
                <a:cs typeface="Arial" panose="020B0604020202020204"/>
              </a:rPr>
              <a:t>neinjectivă</a:t>
            </a:r>
            <a:r>
              <a:rPr lang="en-US" sz="1900">
                <a:cs typeface="Arial" panose="020B0604020202020204"/>
              </a:rPr>
              <a:t>.</a:t>
            </a:r>
          </a:p>
          <a:p>
            <a:pPr marL="344170" indent="-344170"/>
            <a:endParaRPr lang="en-US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97012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673B1-E10C-732C-4C6C-D7AF9986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err="1">
                <a:cs typeface="Arial"/>
              </a:rPr>
              <a:t>Exemple</a:t>
            </a:r>
            <a:r>
              <a:rPr lang="en-US">
                <a:cs typeface="Arial"/>
              </a:rPr>
              <a:t> de </a:t>
            </a:r>
            <a:r>
              <a:rPr lang="en-US" err="1">
                <a:cs typeface="Arial"/>
              </a:rPr>
              <a:t>funcții</a:t>
            </a:r>
            <a:r>
              <a:rPr lang="en-US">
                <a:cs typeface="Arial"/>
              </a:rPr>
              <a:t> hash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AD6A6-7E96-5D63-E7A6-BB37B28E3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44170"/>
            <a:r>
              <a:rPr lang="en-US" sz="2800" err="1">
                <a:ea typeface="+mn-lt"/>
                <a:cs typeface="+mn-lt"/>
              </a:rPr>
              <a:t>Funcțiile</a:t>
            </a:r>
            <a:r>
              <a:rPr lang="en-US" sz="2800">
                <a:ea typeface="+mn-lt"/>
                <a:cs typeface="+mn-lt"/>
              </a:rPr>
              <a:t> hash sunt </a:t>
            </a:r>
            <a:r>
              <a:rPr lang="en-US" sz="2800" err="1">
                <a:ea typeface="+mn-lt"/>
                <a:cs typeface="+mn-lt"/>
              </a:rPr>
              <a:t>utilizate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și</a:t>
            </a:r>
            <a:r>
              <a:rPr lang="en-US" sz="2800">
                <a:ea typeface="+mn-lt"/>
                <a:cs typeface="+mn-lt"/>
              </a:rPr>
              <a:t> ca </a:t>
            </a:r>
            <a:r>
              <a:rPr lang="en-US" sz="2800" err="1">
                <a:ea typeface="+mn-lt"/>
                <a:cs typeface="+mn-lt"/>
              </a:rPr>
              <a:t>sume</a:t>
            </a:r>
            <a:r>
              <a:rPr lang="en-US" sz="2800">
                <a:ea typeface="+mn-lt"/>
                <a:cs typeface="+mn-lt"/>
              </a:rPr>
              <a:t> de control. </a:t>
            </a:r>
          </a:p>
          <a:p>
            <a:pPr marL="344170" indent="-344170"/>
            <a:r>
              <a:rPr lang="en-US" sz="2800" err="1">
                <a:ea typeface="+mn-lt"/>
                <a:cs typeface="+mn-lt"/>
              </a:rPr>
              <a:t>Printre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astfel</a:t>
            </a:r>
            <a:r>
              <a:rPr lang="en-US" sz="2800">
                <a:ea typeface="+mn-lt"/>
                <a:cs typeface="+mn-lt"/>
              </a:rPr>
              <a:t> de </a:t>
            </a:r>
            <a:r>
              <a:rPr lang="en-US" sz="2800" err="1">
                <a:ea typeface="+mn-lt"/>
                <a:cs typeface="+mn-lt"/>
              </a:rPr>
              <a:t>funcții</a:t>
            </a:r>
            <a:r>
              <a:rPr lang="en-US" sz="2800">
                <a:ea typeface="+mn-lt"/>
                <a:cs typeface="+mn-lt"/>
              </a:rPr>
              <a:t> se </a:t>
            </a:r>
            <a:r>
              <a:rPr lang="en-US" sz="2800" err="1">
                <a:ea typeface="+mn-lt"/>
                <a:cs typeface="+mn-lt"/>
              </a:rPr>
              <a:t>numără</a:t>
            </a:r>
            <a:r>
              <a:rPr lang="en-US" sz="2800">
                <a:ea typeface="+mn-lt"/>
                <a:cs typeface="+mn-lt"/>
              </a:rPr>
              <a:t>:</a:t>
            </a: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sz="2400">
                <a:ea typeface="+mn-lt"/>
                <a:cs typeface="+mn-lt"/>
              </a:rPr>
              <a:t>MD2, MD4, MD5, MD6</a:t>
            </a: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sz="2400">
                <a:ea typeface="+mn-lt"/>
                <a:cs typeface="+mn-lt"/>
              </a:rPr>
              <a:t>SHA-0, SHA-1, SHA-224, </a:t>
            </a:r>
            <a:r>
              <a:rPr lang="en-US" sz="2400" b="1">
                <a:ea typeface="+mn-lt"/>
                <a:cs typeface="+mn-lt"/>
              </a:rPr>
              <a:t>SHA-256</a:t>
            </a:r>
            <a:r>
              <a:rPr lang="en-US" sz="2400">
                <a:ea typeface="+mn-lt"/>
                <a:cs typeface="+mn-lt"/>
              </a:rPr>
              <a:t>, SHA-384, SHA-512</a:t>
            </a: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sz="2400">
                <a:ea typeface="+mn-lt"/>
                <a:cs typeface="+mn-lt"/>
              </a:rPr>
              <a:t>Whirlpool</a:t>
            </a:r>
          </a:p>
        </p:txBody>
      </p:sp>
    </p:spTree>
    <p:extLst>
      <p:ext uri="{BB962C8B-B14F-4D97-AF65-F5344CB8AC3E}">
        <p14:creationId xmlns:p14="http://schemas.microsoft.com/office/powerpoint/2010/main" val="2065712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962D-F312-AF34-2DAE-434601FE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821" y="2721051"/>
            <a:ext cx="7478695" cy="14247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000" b="1">
                <a:cs typeface="Arial"/>
              </a:rPr>
              <a:t>ARTIMETICĂ MODULARĂ</a:t>
            </a:r>
            <a:br>
              <a:rPr lang="en-US" sz="4000" b="1">
                <a:cs typeface="Arial"/>
              </a:rPr>
            </a:br>
            <a:r>
              <a:rPr lang="en-US" sz="4000" err="1">
                <a:cs typeface="Arial"/>
              </a:rPr>
              <a:t>Teorema</a:t>
            </a:r>
            <a:r>
              <a:rPr lang="en-US" sz="4000">
                <a:cs typeface="Arial"/>
              </a:rPr>
              <a:t> </a:t>
            </a:r>
            <a:r>
              <a:rPr lang="en-US" sz="4000" err="1">
                <a:cs typeface="Arial"/>
              </a:rPr>
              <a:t>lui</a:t>
            </a:r>
            <a:r>
              <a:rPr lang="en-US" sz="4000">
                <a:cs typeface="Arial"/>
              </a:rPr>
              <a:t> </a:t>
            </a:r>
            <a:r>
              <a:rPr lang="en-US" sz="4000" err="1">
                <a:ea typeface="+mj-lt"/>
                <a:cs typeface="+mj-lt"/>
              </a:rPr>
              <a:t>Bézout</a:t>
            </a:r>
            <a:r>
              <a:rPr lang="en-US" sz="4000">
                <a:ea typeface="+mj-lt"/>
                <a:cs typeface="+mj-lt"/>
              </a:rPr>
              <a:t/>
            </a:r>
            <a:br>
              <a:rPr lang="en-US" sz="4000">
                <a:ea typeface="+mj-lt"/>
                <a:cs typeface="+mj-lt"/>
              </a:rPr>
            </a:br>
            <a:r>
              <a:rPr lang="en-US" sz="4000" err="1">
                <a:ea typeface="+mj-lt"/>
                <a:cs typeface="+mj-lt"/>
              </a:rPr>
              <a:t>Algoritmul</a:t>
            </a:r>
            <a:r>
              <a:rPr lang="en-US" sz="4000">
                <a:ea typeface="+mj-lt"/>
                <a:cs typeface="+mj-lt"/>
              </a:rPr>
              <a:t> </a:t>
            </a:r>
            <a:r>
              <a:rPr lang="en-US" sz="4000" err="1">
                <a:ea typeface="+mj-lt"/>
                <a:cs typeface="+mj-lt"/>
              </a:rPr>
              <a:t>lui</a:t>
            </a:r>
            <a:r>
              <a:rPr lang="en-US" sz="4000">
                <a:ea typeface="+mj-lt"/>
                <a:cs typeface="+mj-lt"/>
              </a:rPr>
              <a:t> Euclid </a:t>
            </a:r>
            <a:r>
              <a:rPr lang="en-US" sz="4000" err="1">
                <a:ea typeface="+mj-lt"/>
                <a:cs typeface="+mj-lt"/>
              </a:rPr>
              <a:t>extins</a:t>
            </a:r>
            <a:r>
              <a:rPr lang="en-US" sz="4000">
                <a:ea typeface="+mj-lt"/>
                <a:cs typeface="+mj-lt"/>
              </a:rPr>
              <a:t/>
            </a:r>
            <a:br>
              <a:rPr lang="en-US" sz="4000">
                <a:ea typeface="+mj-lt"/>
                <a:cs typeface="+mj-lt"/>
              </a:rPr>
            </a:br>
            <a:r>
              <a:rPr lang="en-US" sz="4000">
                <a:cs typeface="Arial"/>
              </a:rPr>
              <a:t>Invers modular</a:t>
            </a:r>
            <a:br>
              <a:rPr lang="en-US" sz="4000">
                <a:cs typeface="Arial"/>
              </a:rPr>
            </a:br>
            <a:endParaRPr lang="en-US" sz="4000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A5075-4587-2AFB-F845-39C8FE246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1053" y="1713430"/>
            <a:ext cx="6590813" cy="878468"/>
          </a:xfrm>
        </p:spPr>
        <p:txBody>
          <a:bodyPr/>
          <a:lstStyle/>
          <a:p>
            <a:r>
              <a:rPr lang="en-US" sz="2800" err="1">
                <a:cs typeface="Arial"/>
              </a:rPr>
              <a:t>Capitolul</a:t>
            </a:r>
            <a:r>
              <a:rPr lang="en-US" sz="2800">
                <a:cs typeface="Arial"/>
              </a:rPr>
              <a:t> V</a:t>
            </a:r>
          </a:p>
        </p:txBody>
      </p:sp>
    </p:spTree>
    <p:extLst>
      <p:ext uri="{BB962C8B-B14F-4D97-AF65-F5344CB8AC3E}">
        <p14:creationId xmlns:p14="http://schemas.microsoft.com/office/powerpoint/2010/main" val="2763551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41AAE-6CDB-3960-D10C-2879E90A9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571" y="640158"/>
            <a:ext cx="7958331" cy="107722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err="1">
                <a:cs typeface="Arial" panose="020B0604020202020204"/>
              </a:rPr>
              <a:t>Teorema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lui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Bézout</a:t>
            </a:r>
            <a:r>
              <a:rPr lang="en-US"/>
              <a:t/>
            </a:r>
            <a:br>
              <a:rPr lang="en-US"/>
            </a:br>
            <a:r>
              <a:rPr lang="en-US">
                <a:cs typeface="Arial" panose="020B0604020202020204"/>
              </a:rPr>
              <a:t>(avec </a:t>
            </a:r>
            <a:r>
              <a:rPr lang="en-US" err="1">
                <a:cs typeface="Arial" panose="020B0604020202020204"/>
              </a:rPr>
              <a:t>bisous</a:t>
            </a:r>
            <a:r>
              <a:rPr lang="en-US">
                <a:cs typeface="Arial" panose="020B0604020202020204"/>
              </a:rPr>
              <a:t>)</a:t>
            </a:r>
            <a:br>
              <a:rPr lang="en-US">
                <a:cs typeface="Arial" panose="020B0604020202020204"/>
              </a:rPr>
            </a:br>
            <a:endParaRPr lang="en-US">
              <a:cs typeface="Arial" panose="020B0604020202020204"/>
            </a:endParaRP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0ADB1862-8BBD-1267-BA55-6608EF0229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7486698"/>
              </p:ext>
            </p:extLst>
          </p:nvPr>
        </p:nvGraphicFramePr>
        <p:xfrm>
          <a:off x="2373227" y="1535506"/>
          <a:ext cx="8196912" cy="4191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0E08EB46-A7F0-D647-A6F2-EFA9A6CCC7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6479" y="2104541"/>
            <a:ext cx="2098568" cy="582478"/>
          </a:xfrm>
          <a:prstGeom prst="rect">
            <a:avLst/>
          </a:prstGeom>
        </p:spPr>
      </p:pic>
      <p:pic>
        <p:nvPicPr>
          <p:cNvPr id="7" name="Picture 6" descr="A black and white text&#10;&#10;Description automatically generated">
            <a:extLst>
              <a:ext uri="{FF2B5EF4-FFF2-40B4-BE49-F238E27FC236}">
                <a16:creationId xmlns:a16="http://schemas.microsoft.com/office/drawing/2014/main" id="{EDE7FA68-EE7C-B304-009A-296498C04A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2778" y="4527200"/>
            <a:ext cx="223837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16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D4914-8140-C950-0DC0-D6389972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017" y="2629523"/>
            <a:ext cx="2668479" cy="22685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Algoritmul lui Euclid extins</a:t>
            </a:r>
          </a:p>
        </p:txBody>
      </p:sp>
      <p:pic>
        <p:nvPicPr>
          <p:cNvPr id="4" name="Content Placeholder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7A5D02F5-5A90-56B3-B31B-4172167502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44747" y="1962668"/>
            <a:ext cx="5297322" cy="2933330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1361F5-516A-3E20-893F-CA303B336B79}"/>
              </a:ext>
            </a:extLst>
          </p:cNvPr>
          <p:cNvSpPr txBox="1"/>
          <p:nvPr/>
        </p:nvSpPr>
        <p:spPr>
          <a:xfrm>
            <a:off x="2399727" y="3730327"/>
            <a:ext cx="2503753" cy="1160213"/>
          </a:xfrm>
          <a:prstGeom prst="rect">
            <a:avLst/>
          </a:prstGeom>
        </p:spPr>
        <p:txBody>
          <a:bodyPr rot="0" spcFirstLastPara="0" vertOverflow="overflow" horzOverflow="overflow" vert="horz" lIns="91440" tIns="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r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</a:pPr>
            <a:r>
              <a:rPr lang="en-US" err="1"/>
              <a:t>Calculează</a:t>
            </a:r>
            <a:r>
              <a:rPr lang="en-US"/>
              <a:t> x, y </a:t>
            </a:r>
            <a:r>
              <a:rPr lang="en-US" err="1"/>
              <a:t>și</a:t>
            </a:r>
            <a:r>
              <a:rPr lang="en-US"/>
              <a:t> d din </a:t>
            </a:r>
            <a:r>
              <a:rPr lang="en-US" err="1"/>
              <a:t>inegalitatea</a:t>
            </a:r>
            <a:r>
              <a:rPr lang="en-US"/>
              <a:t> </a:t>
            </a:r>
            <a:r>
              <a:rPr lang="en-US" err="1"/>
              <a:t>lui</a:t>
            </a:r>
            <a:r>
              <a:rPr lang="en-US"/>
              <a:t> </a:t>
            </a:r>
            <a:r>
              <a:rPr lang="en-US" err="1"/>
              <a:t>Bézout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9011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43274-E564-EECC-0BA1-2893ED696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cs typeface="Arial"/>
              </a:rPr>
              <a:t>Invers modular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73417-6287-A6B7-7D88-3A0488B1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US">
                <a:ea typeface="+mn-lt"/>
                <a:cs typeface="+mn-lt"/>
              </a:rPr>
              <a:t>Se </a:t>
            </a:r>
            <a:r>
              <a:rPr lang="en-US" err="1">
                <a:ea typeface="+mn-lt"/>
                <a:cs typeface="+mn-lt"/>
              </a:rPr>
              <a:t>dau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doua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numere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si</a:t>
            </a:r>
            <a:r>
              <a:rPr lang="en-US">
                <a:ea typeface="+mn-lt"/>
                <a:cs typeface="+mn-lt"/>
              </a:rPr>
              <a:t> MOD, cu 1 ≤ A ≤ MOD-1, prime </a:t>
            </a:r>
            <a:r>
              <a:rPr lang="en-US" err="1">
                <a:ea typeface="+mn-lt"/>
                <a:cs typeface="+mn-lt"/>
              </a:rPr>
              <a:t>intre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ele</a:t>
            </a:r>
            <a:r>
              <a:rPr lang="en-US">
                <a:ea typeface="+mn-lt"/>
                <a:cs typeface="+mn-lt"/>
              </a:rPr>
              <a:t>. Sa se determine X </a:t>
            </a:r>
            <a:r>
              <a:rPr lang="en-US" err="1">
                <a:ea typeface="+mn-lt"/>
                <a:cs typeface="+mn-lt"/>
              </a:rPr>
              <a:t>intre</a:t>
            </a:r>
            <a:r>
              <a:rPr lang="en-US">
                <a:ea typeface="+mn-lt"/>
                <a:cs typeface="+mn-lt"/>
              </a:rPr>
              <a:t> 1 </a:t>
            </a:r>
            <a:r>
              <a:rPr lang="en-US" err="1">
                <a:ea typeface="+mn-lt"/>
                <a:cs typeface="+mn-lt"/>
              </a:rPr>
              <a:t>si</a:t>
            </a:r>
            <a:r>
              <a:rPr lang="en-US">
                <a:ea typeface="+mn-lt"/>
                <a:cs typeface="+mn-lt"/>
              </a:rPr>
              <a:t> MOD-1 </a:t>
            </a:r>
            <a:r>
              <a:rPr lang="en-US" err="1">
                <a:ea typeface="+mn-lt"/>
                <a:cs typeface="+mn-lt"/>
              </a:rPr>
              <a:t>astfel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incat</a:t>
            </a:r>
            <a:r>
              <a:rPr lang="en-US">
                <a:ea typeface="+mn-lt"/>
                <a:cs typeface="+mn-lt"/>
              </a:rPr>
              <a:t> A * X </a:t>
            </a:r>
            <a:r>
              <a:rPr lang="en-US" err="1">
                <a:ea typeface="+mn-lt"/>
                <a:cs typeface="+mn-lt"/>
              </a:rPr>
              <a:t>sa</a:t>
            </a:r>
            <a:r>
              <a:rPr lang="en-US">
                <a:ea typeface="+mn-lt"/>
                <a:cs typeface="+mn-lt"/>
              </a:rPr>
              <a:t> fie congruent cu 1, modulo MOD (</a:t>
            </a:r>
            <a:r>
              <a:rPr lang="en-US" err="1">
                <a:ea typeface="+mn-lt"/>
                <a:cs typeface="+mn-lt"/>
              </a:rPr>
              <a:t>restul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impartirii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lui</a:t>
            </a:r>
            <a:r>
              <a:rPr lang="en-US">
                <a:ea typeface="+mn-lt"/>
                <a:cs typeface="+mn-lt"/>
              </a:rPr>
              <a:t> A * X la MOD </a:t>
            </a:r>
            <a:r>
              <a:rPr lang="en-US" err="1">
                <a:ea typeface="+mn-lt"/>
                <a:cs typeface="+mn-lt"/>
              </a:rPr>
              <a:t>sa</a:t>
            </a:r>
            <a:r>
              <a:rPr lang="en-US">
                <a:ea typeface="+mn-lt"/>
                <a:cs typeface="+mn-lt"/>
              </a:rPr>
              <a:t> fie 1). </a:t>
            </a:r>
            <a:r>
              <a:rPr lang="en-US" err="1">
                <a:ea typeface="+mn-lt"/>
                <a:cs typeface="+mn-lt"/>
              </a:rPr>
              <a:t>Numarul</a:t>
            </a:r>
            <a:r>
              <a:rPr lang="en-US">
                <a:ea typeface="+mn-lt"/>
                <a:cs typeface="+mn-lt"/>
              </a:rPr>
              <a:t> X se </a:t>
            </a:r>
            <a:r>
              <a:rPr lang="en-US" err="1">
                <a:ea typeface="+mn-lt"/>
                <a:cs typeface="+mn-lt"/>
              </a:rPr>
              <a:t>va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numi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inversul</a:t>
            </a:r>
            <a:r>
              <a:rPr lang="en-US">
                <a:ea typeface="+mn-lt"/>
                <a:cs typeface="+mn-lt"/>
              </a:rPr>
              <a:t> modular al </a:t>
            </a:r>
            <a:r>
              <a:rPr lang="en-US" err="1">
                <a:ea typeface="+mn-lt"/>
                <a:cs typeface="+mn-lt"/>
              </a:rPr>
              <a:t>lui</a:t>
            </a:r>
            <a:r>
              <a:rPr lang="en-US">
                <a:ea typeface="+mn-lt"/>
                <a:cs typeface="+mn-lt"/>
              </a:rPr>
              <a:t> A.</a:t>
            </a:r>
          </a:p>
          <a:p>
            <a:pPr marL="344170" indent="-337820"/>
            <a:r>
              <a:rPr lang="en-US" err="1">
                <a:ea typeface="+mn-lt"/>
                <a:cs typeface="+mn-lt"/>
              </a:rPr>
              <a:t>Altfel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zis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Bézout</a:t>
            </a:r>
            <a:r>
              <a:rPr lang="en-US">
                <a:ea typeface="+mn-lt"/>
                <a:cs typeface="+mn-lt"/>
              </a:rPr>
              <a:t>: A * X + MOD * Y = 1, se </a:t>
            </a:r>
            <a:r>
              <a:rPr lang="en-US" err="1">
                <a:ea typeface="+mn-lt"/>
                <a:cs typeface="+mn-lt"/>
              </a:rPr>
              <a:t>află</a:t>
            </a:r>
            <a:r>
              <a:rPr lang="en-US">
                <a:ea typeface="+mn-lt"/>
                <a:cs typeface="+mn-lt"/>
              </a:rPr>
              <a:t> X, </a:t>
            </a:r>
            <a:r>
              <a:rPr lang="en-US" err="1">
                <a:ea typeface="+mn-lt"/>
                <a:cs typeface="+mn-lt"/>
              </a:rPr>
              <a:t>știind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MOD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ca A * X congruent 1 (mod MOD)</a:t>
            </a:r>
          </a:p>
          <a:p>
            <a:pPr marL="344170" indent="-337820"/>
            <a:r>
              <a:rPr lang="en-US" err="1">
                <a:ea typeface="+mn-lt"/>
                <a:cs typeface="+mn-lt"/>
              </a:rPr>
              <a:t>Există</a:t>
            </a:r>
            <a:r>
              <a:rPr lang="en-US">
                <a:ea typeface="+mn-lt"/>
                <a:cs typeface="+mn-lt"/>
              </a:rPr>
              <a:t> invers modular </a:t>
            </a:r>
            <a:r>
              <a:rPr lang="en-US" err="1">
                <a:ea typeface="+mn-lt"/>
                <a:cs typeface="+mn-lt"/>
              </a:rPr>
              <a:t>doar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dacă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MOD sunt prime </a:t>
            </a:r>
            <a:r>
              <a:rPr lang="en-US" err="1">
                <a:ea typeface="+mn-lt"/>
                <a:cs typeface="+mn-lt"/>
              </a:rPr>
              <a:t>între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ele</a:t>
            </a:r>
          </a:p>
        </p:txBody>
      </p:sp>
    </p:spTree>
    <p:extLst>
      <p:ext uri="{BB962C8B-B14F-4D97-AF65-F5344CB8AC3E}">
        <p14:creationId xmlns:p14="http://schemas.microsoft.com/office/powerpoint/2010/main" val="2729297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E8515BB-59EE-453D-82CE-EE72BF309F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F492A7-5C9A-44D0-BA44-2132810955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8CB1921-2103-4962-BC2D-CB488DD956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309053-D520-473F-B065-0965E5C88A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7F2982-9D29-4C8C-B653-C0BCE1B1F3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325BAC-AB46-48CC-9F6B-79864ABE5C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F1CE20-1BF6-42BB-AF36-D72F27ED17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CC4AF46-A1F3-4DF9-8F71-44A6B10E42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E798FC9-A14A-487D-88A2-A57F0029DC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5065053-9EF0-4668-9CF6-DD9A49BE24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5CD8DEDF-3AC4-4735-B9FF-7BE084C2B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106AA5C-5136-4C1B-8030-6FE6F0F559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410167-A5D0-4B9C-A90D-300AF6533A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073825-4255-8D55-D81C-1E27F82ED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867" y="1684772"/>
            <a:ext cx="3043792" cy="22116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err="1"/>
              <a:t>Implementare</a:t>
            </a:r>
            <a:r>
              <a:rPr lang="en-US" sz="3200"/>
              <a:t> invers modular</a:t>
            </a:r>
            <a:br>
              <a:rPr lang="en-US" sz="3200"/>
            </a:br>
            <a:r>
              <a:rPr lang="en-US" sz="3200" err="1"/>
              <a:t>Varianta</a:t>
            </a:r>
            <a:r>
              <a:rPr lang="en-US" sz="3200"/>
              <a:t>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7A0B03-E9BE-4248-3BC6-17F948C902F1}"/>
              </a:ext>
            </a:extLst>
          </p:cNvPr>
          <p:cNvSpPr txBox="1"/>
          <p:nvPr/>
        </p:nvSpPr>
        <p:spPr>
          <a:xfrm>
            <a:off x="2194180" y="3604760"/>
            <a:ext cx="2503753" cy="1160213"/>
          </a:xfrm>
          <a:prstGeom prst="rect">
            <a:avLst/>
          </a:prstGeom>
        </p:spPr>
        <p:txBody>
          <a:bodyPr rot="0" spcFirstLastPara="0" vertOverflow="overflow" horzOverflow="overflow" vert="horz" lIns="91440" tIns="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r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</a:pPr>
            <a:r>
              <a:rPr lang="en-US" sz="1600"/>
              <a:t>Cu </a:t>
            </a:r>
            <a:r>
              <a:rPr lang="en-US" sz="1600" err="1"/>
              <a:t>algoritmul</a:t>
            </a:r>
            <a:r>
              <a:rPr lang="en-US" sz="1600"/>
              <a:t> </a:t>
            </a:r>
            <a:r>
              <a:rPr lang="en-US" sz="1600" err="1"/>
              <a:t>lui</a:t>
            </a:r>
            <a:r>
              <a:rPr lang="en-US" sz="1600"/>
              <a:t> Euclid, </a:t>
            </a:r>
            <a:r>
              <a:rPr lang="en-US" sz="1600" err="1"/>
              <a:t>extins</a:t>
            </a:r>
            <a:endParaRPr lang="en-US" sz="1600" err="1">
              <a:cs typeface="Arial"/>
            </a:endParaRPr>
          </a:p>
        </p:txBody>
      </p:sp>
      <p:pic>
        <p:nvPicPr>
          <p:cNvPr id="11" name="Content Placeholder 10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5D6F8536-4BA6-52E6-D5DB-B2631EE36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444747" y="1475946"/>
            <a:ext cx="5297322" cy="3906774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04A2D297-946C-413D-8762-81BB0BB726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41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4D8F4B8D-CB62-49AA-BBC9-BFBF0FA438D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B11A20E-F906-44AF-9B8C-5C7607ED28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589F2FE7-0776-45FC-BA50-B33FD5272D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E28EA0B-064B-42ED-AEB7-E2B518F588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0815A55-8D70-457A-807A-8497E4EB2FD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9409685-E4D7-4C17-A7A6-C7C4111928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B97CD4-5E08-4372-8A06-C645E5701D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F00DC172-0CE8-4970-8857-C6EE391349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D44921D8-D907-42BC-84C0-A2906F84F6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46C9919-69C2-4A18-A50B-4F2701E208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EF30023F-7707-4123-BB31-6A42EF81B11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16F25B-0FD7-471E-AED7-9C6B807C726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5D465D-F05A-30D7-6836-43590C406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254" y="5166421"/>
            <a:ext cx="8445357" cy="8835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 err="1"/>
              <a:t>Implementare</a:t>
            </a:r>
            <a:r>
              <a:rPr lang="en-US" sz="2600" b="1"/>
              <a:t> invers modular</a:t>
            </a:r>
            <a:br>
              <a:rPr lang="en-US" sz="2600" b="1"/>
            </a:br>
            <a:r>
              <a:rPr lang="en-US" sz="2600" b="1" err="1"/>
              <a:t>Varianta</a:t>
            </a:r>
            <a:r>
              <a:rPr lang="en-US" sz="2600" b="1"/>
              <a:t> 2</a:t>
            </a:r>
            <a:endParaRPr lang="en-US" sz="2600" b="1">
              <a:cs typeface="Arial"/>
            </a:endParaRPr>
          </a:p>
        </p:txBody>
      </p:sp>
      <p:sp>
        <p:nvSpPr>
          <p:cNvPr id="56" name="Content Placeholder 8">
            <a:extLst>
              <a:ext uri="{FF2B5EF4-FFF2-40B4-BE49-F238E27FC236}">
                <a16:creationId xmlns:a16="http://schemas.microsoft.com/office/drawing/2014/main" id="{7180CBB4-DFF5-C26A-E982-D8A04FBBE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536" y="4752007"/>
            <a:ext cx="8286075" cy="414413"/>
          </a:xfrm>
        </p:spPr>
        <p:txBody>
          <a:bodyPr vert="horz" lIns="91440" tIns="0" rIns="91440" bIns="45720" rtlCol="0" anchor="b">
            <a:normAutofit/>
          </a:bodyPr>
          <a:lstStyle/>
          <a:p>
            <a:pPr marL="0" indent="0" algn="r">
              <a:buNone/>
            </a:pPr>
            <a:r>
              <a:rPr lang="en-US" sz="1800"/>
              <a:t>Cu mica Teoremă a lui Fermat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1A03511-7B76-435C-A861-F71F038CDC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41BD268E-ED25-9D05-99AF-BA2A43C2270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6948" b="1"/>
          <a:stretch/>
        </p:blipFill>
        <p:spPr>
          <a:xfrm>
            <a:off x="1005401" y="-1"/>
            <a:ext cx="10380133" cy="4030679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85FA2C94-10B5-4A0A-998F-C623A00E34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number one and a half of a circle&#10;&#10;Description automatically generated">
            <a:extLst>
              <a:ext uri="{FF2B5EF4-FFF2-40B4-BE49-F238E27FC236}">
                <a16:creationId xmlns:a16="http://schemas.microsoft.com/office/drawing/2014/main" id="{3E3E8B98-03E7-921D-0DA8-1E9A4FBF87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748" y="4959734"/>
            <a:ext cx="4059949" cy="72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7131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E8515BB-59EE-453D-82CE-EE72BF309F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F492A7-5C9A-44D0-BA44-2132810955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8CB1921-2103-4962-BC2D-CB488DD956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309053-D520-473F-B065-0965E5C88A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7F2982-9D29-4C8C-B653-C0BCE1B1F3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325BAC-AB46-48CC-9F6B-79864ABE5C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F1CE20-1BF6-42BB-AF36-D72F27ED17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CC4AF46-A1F3-4DF9-8F71-44A6B10E42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E798FC9-A14A-487D-88A2-A57F0029DC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5065053-9EF0-4668-9CF6-DD9A49BE24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5CD8DEDF-3AC4-4735-B9FF-7BE084C2B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106AA5C-5136-4C1B-8030-6FE6F0F559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410167-A5D0-4B9C-A90D-300AF6533A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073825-4255-8D55-D81C-1E27F82ED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180" y="1627907"/>
            <a:ext cx="2668479" cy="22685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err="1"/>
              <a:t>Implementare</a:t>
            </a:r>
            <a:r>
              <a:rPr lang="en-US" sz="3200"/>
              <a:t> invers modular</a:t>
            </a:r>
            <a:br>
              <a:rPr lang="en-US" sz="3200"/>
            </a:br>
            <a:r>
              <a:rPr lang="en-US" sz="3200" err="1"/>
              <a:t>Varianta</a:t>
            </a:r>
            <a:r>
              <a:rPr lang="en-US" sz="3200"/>
              <a:t>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7A0B03-E9BE-4248-3BC6-17F948C902F1}"/>
              </a:ext>
            </a:extLst>
          </p:cNvPr>
          <p:cNvSpPr txBox="1"/>
          <p:nvPr/>
        </p:nvSpPr>
        <p:spPr>
          <a:xfrm>
            <a:off x="2194180" y="3525933"/>
            <a:ext cx="2503753" cy="595282"/>
          </a:xfrm>
          <a:prstGeom prst="rect">
            <a:avLst/>
          </a:prstGeom>
        </p:spPr>
        <p:txBody>
          <a:bodyPr rot="0" spcFirstLastPara="0" vertOverflow="overflow" horzOverflow="overflow" vert="horz" lIns="91440" tIns="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r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</a:pPr>
            <a:r>
              <a:rPr lang="en-US" sz="1600" err="1">
                <a:cs typeface="Arial"/>
              </a:rPr>
              <a:t>Varianta</a:t>
            </a:r>
            <a:r>
              <a:rPr lang="en-US" sz="1600">
                <a:cs typeface="Arial"/>
              </a:rPr>
              <a:t> cu </a:t>
            </a:r>
            <a:r>
              <a:rPr lang="en-US" sz="1600" err="1">
                <a:cs typeface="Arial"/>
              </a:rPr>
              <a:t>funcția</a:t>
            </a:r>
            <a:r>
              <a:rPr lang="en-US" sz="1600">
                <a:cs typeface="Arial"/>
              </a:rPr>
              <a:t> pow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4A2D297-946C-413D-8762-81BB0BB726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black background with numbers and letters&#10;&#10;Description automatically generated">
            <a:extLst>
              <a:ext uri="{FF2B5EF4-FFF2-40B4-BE49-F238E27FC236}">
                <a16:creationId xmlns:a16="http://schemas.microsoft.com/office/drawing/2014/main" id="{97843684-503E-8806-CAFE-2C40A3CED5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175951" y="2562995"/>
            <a:ext cx="5527456" cy="1727966"/>
          </a:xfrm>
        </p:spPr>
      </p:pic>
    </p:spTree>
    <p:extLst>
      <p:ext uri="{BB962C8B-B14F-4D97-AF65-F5344CB8AC3E}">
        <p14:creationId xmlns:p14="http://schemas.microsoft.com/office/powerpoint/2010/main" val="331014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962D-F312-AF34-2DAE-434601FE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821" y="2721051"/>
            <a:ext cx="7478695" cy="14247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000" b="1" err="1">
                <a:cs typeface="Arial"/>
              </a:rPr>
              <a:t>Cifruri</a:t>
            </a:r>
            <a:r>
              <a:rPr lang="en-US" sz="4000" b="1">
                <a:cs typeface="Arial"/>
              </a:rPr>
              <a:t> </a:t>
            </a:r>
            <a:r>
              <a:rPr lang="en-US" sz="4000" b="1" err="1">
                <a:cs typeface="Arial"/>
              </a:rPr>
              <a:t>arhisimple</a:t>
            </a:r>
            <a:r>
              <a:rPr lang="en-US" sz="4000" b="1">
                <a:cs typeface="Arial"/>
              </a:rPr>
              <a:t/>
            </a:r>
            <a:br>
              <a:rPr lang="en-US" sz="4000" b="1">
                <a:cs typeface="Arial"/>
              </a:rPr>
            </a:br>
            <a:r>
              <a:rPr lang="en-US" sz="4000" err="1">
                <a:cs typeface="Arial"/>
              </a:rPr>
              <a:t>Cifruri</a:t>
            </a:r>
            <a:r>
              <a:rPr lang="en-US" sz="4000">
                <a:cs typeface="Arial"/>
              </a:rPr>
              <a:t> </a:t>
            </a:r>
            <a:r>
              <a:rPr lang="en-US" sz="4000" err="1">
                <a:cs typeface="Arial"/>
              </a:rPr>
              <a:t>monoalfabetice</a:t>
            </a:r>
            <a:r>
              <a:rPr lang="en-US" sz="4000">
                <a:cs typeface="Arial"/>
              </a:rPr>
              <a:t> </a:t>
            </a:r>
            <a:r>
              <a:rPr lang="en-US" sz="4000" err="1">
                <a:cs typeface="Arial"/>
              </a:rPr>
              <a:t>și</a:t>
            </a:r>
            <a:r>
              <a:rPr lang="en-US" sz="4000">
                <a:cs typeface="Arial"/>
              </a:rPr>
              <a:t> </a:t>
            </a:r>
            <a:r>
              <a:rPr lang="en-US" sz="4000" err="1">
                <a:cs typeface="Arial"/>
              </a:rPr>
              <a:t>polialfabetice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A5075-4587-2AFB-F845-39C8FE246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1053" y="1713430"/>
            <a:ext cx="6590813" cy="878468"/>
          </a:xfrm>
        </p:spPr>
        <p:txBody>
          <a:bodyPr/>
          <a:lstStyle/>
          <a:p>
            <a:r>
              <a:rPr lang="en-US" sz="2800" err="1">
                <a:cs typeface="Arial"/>
              </a:rPr>
              <a:t>Capitolul</a:t>
            </a:r>
            <a:r>
              <a:rPr lang="en-US" sz="2800">
                <a:cs typeface="Arial"/>
              </a:rPr>
              <a:t> VI</a:t>
            </a:r>
          </a:p>
        </p:txBody>
      </p:sp>
    </p:spTree>
    <p:extLst>
      <p:ext uri="{BB962C8B-B14F-4D97-AF65-F5344CB8AC3E}">
        <p14:creationId xmlns:p14="http://schemas.microsoft.com/office/powerpoint/2010/main" val="1876660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0263-9B3C-2344-B5F5-CE4A68BF9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err="1">
                <a:cs typeface="Arial"/>
              </a:rPr>
              <a:t>Cifruri</a:t>
            </a:r>
            <a:r>
              <a:rPr lang="en-US">
                <a:cs typeface="Arial"/>
              </a:rPr>
              <a:t>(</a:t>
            </a:r>
            <a:r>
              <a:rPr lang="en-US" err="1">
                <a:cs typeface="Arial"/>
              </a:rPr>
              <a:t>substituții</a:t>
            </a:r>
            <a:r>
              <a:rPr lang="en-US">
                <a:cs typeface="Arial"/>
              </a:rPr>
              <a:t>) </a:t>
            </a:r>
            <a:r>
              <a:rPr lang="en-US" err="1">
                <a:cs typeface="Arial"/>
              </a:rPr>
              <a:t>monoalfabetice</a:t>
            </a:r>
            <a:endParaRPr lang="en-US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B8889-B566-85A0-02D9-5216E2C2B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701" y="1884218"/>
            <a:ext cx="7796540" cy="3997828"/>
          </a:xfrm>
        </p:spPr>
        <p:txBody>
          <a:bodyPr/>
          <a:lstStyle/>
          <a:p>
            <a:pPr marL="344170" indent="-337820"/>
            <a:r>
              <a:rPr lang="en-US" err="1">
                <a:cs typeface="Arial"/>
              </a:rPr>
              <a:t>Reprezintă</a:t>
            </a:r>
            <a:r>
              <a:rPr lang="en-US">
                <a:cs typeface="Arial"/>
              </a:rPr>
              <a:t> un </a:t>
            </a:r>
            <a:r>
              <a:rPr lang="en-US" err="1">
                <a:cs typeface="Arial"/>
              </a:rPr>
              <a:t>cifru</a:t>
            </a:r>
            <a:r>
              <a:rPr lang="en-US">
                <a:cs typeface="Arial"/>
              </a:rPr>
              <a:t> similar cu o </a:t>
            </a:r>
            <a:r>
              <a:rPr lang="en-US" err="1">
                <a:cs typeface="Arial"/>
              </a:rPr>
              <a:t>permutare</a:t>
            </a:r>
            <a:r>
              <a:rPr lang="en-US">
                <a:cs typeface="Arial"/>
              </a:rPr>
              <a:t>. </a:t>
            </a:r>
            <a:r>
              <a:rPr lang="en-US" err="1">
                <a:cs typeface="Arial"/>
              </a:rPr>
              <a:t>Fiecare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caracter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primește</a:t>
            </a:r>
            <a:r>
              <a:rPr lang="en-US">
                <a:cs typeface="Arial"/>
              </a:rPr>
              <a:t> un alt </a:t>
            </a:r>
            <a:r>
              <a:rPr lang="en-US" err="1">
                <a:cs typeface="Arial"/>
              </a:rPr>
              <a:t>caracter</a:t>
            </a:r>
            <a:r>
              <a:rPr lang="en-US">
                <a:cs typeface="Arial"/>
              </a:rPr>
              <a:t>, </a:t>
            </a:r>
            <a:r>
              <a:rPr lang="en-US" err="1">
                <a:cs typeface="Arial"/>
              </a:rPr>
              <a:t>altfel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spus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reprezintă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niște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bijecții</a:t>
            </a:r>
            <a:endParaRPr lang="en-US">
              <a:cs typeface="Arial"/>
            </a:endParaRPr>
          </a:p>
          <a:p>
            <a:pPr marL="344170" indent="-337820"/>
            <a:r>
              <a:rPr lang="en-US" b="1" err="1">
                <a:cs typeface="Arial"/>
              </a:rPr>
              <a:t>Cifrul</a:t>
            </a:r>
            <a:r>
              <a:rPr lang="en-US" b="1">
                <a:cs typeface="Arial"/>
              </a:rPr>
              <a:t> </a:t>
            </a:r>
            <a:r>
              <a:rPr lang="en-US" b="1" err="1">
                <a:cs typeface="Arial"/>
              </a:rPr>
              <a:t>lui</a:t>
            </a:r>
            <a:r>
              <a:rPr lang="en-US" b="1">
                <a:cs typeface="Arial"/>
              </a:rPr>
              <a:t> Caesar:</a:t>
            </a:r>
            <a:r>
              <a:rPr lang="en-US">
                <a:cs typeface="Arial"/>
              </a:rPr>
              <a:t> </a:t>
            </a:r>
            <a:r>
              <a:rPr lang="en-US">
                <a:ea typeface="+mn-lt"/>
                <a:cs typeface="+mn-lt"/>
              </a:rPr>
              <a:t>Este un tip de </a:t>
            </a:r>
            <a:r>
              <a:rPr lang="en-US" err="1">
                <a:ea typeface="+mn-lt"/>
                <a:cs typeface="+mn-lt"/>
              </a:rPr>
              <a:t>cifru</a:t>
            </a:r>
            <a:r>
              <a:rPr lang="en-US">
                <a:ea typeface="+mn-lt"/>
                <a:cs typeface="+mn-lt"/>
              </a:rPr>
              <a:t> al </a:t>
            </a:r>
            <a:r>
              <a:rPr lang="en-US" err="1">
                <a:ea typeface="+mn-lt"/>
                <a:cs typeface="+mn-lt"/>
              </a:rPr>
              <a:t>substituției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care </a:t>
            </a:r>
            <a:r>
              <a:rPr lang="en-US" err="1">
                <a:ea typeface="+mn-lt"/>
                <a:cs typeface="+mn-lt"/>
              </a:rPr>
              <a:t>fiecare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literă</a:t>
            </a:r>
            <a:r>
              <a:rPr lang="en-US">
                <a:ea typeface="+mn-lt"/>
                <a:cs typeface="+mn-lt"/>
              </a:rPr>
              <a:t> din </a:t>
            </a:r>
            <a:r>
              <a:rPr lang="en-US" err="1">
                <a:ea typeface="+mn-lt"/>
                <a:cs typeface="+mn-lt"/>
              </a:rPr>
              <a:t>textul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inițial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înlocuită</a:t>
            </a:r>
            <a:r>
              <a:rPr lang="en-US">
                <a:ea typeface="+mn-lt"/>
                <a:cs typeface="+mn-lt"/>
              </a:rPr>
              <a:t> cu o </a:t>
            </a:r>
            <a:r>
              <a:rPr lang="en-US" err="1">
                <a:ea typeface="+mn-lt"/>
                <a:cs typeface="+mn-lt"/>
              </a:rPr>
              <a:t>literă</a:t>
            </a:r>
            <a:r>
              <a:rPr lang="en-US">
                <a:ea typeface="+mn-lt"/>
                <a:cs typeface="+mn-lt"/>
              </a:rPr>
              <a:t> care se </a:t>
            </a:r>
            <a:r>
              <a:rPr lang="en-US" err="1">
                <a:ea typeface="+mn-lt"/>
                <a:cs typeface="+mn-lt"/>
              </a:rPr>
              <a:t>află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alfabet</a:t>
            </a:r>
            <a:r>
              <a:rPr lang="en-US">
                <a:ea typeface="+mn-lt"/>
                <a:cs typeface="+mn-lt"/>
              </a:rPr>
              <a:t> la o </a:t>
            </a:r>
            <a:r>
              <a:rPr lang="en-US" err="1">
                <a:ea typeface="+mn-lt"/>
                <a:cs typeface="+mn-lt"/>
              </a:rPr>
              <a:t>distanță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fixă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față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cea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înlocuită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344170" indent="-337820"/>
            <a:r>
              <a:rPr lang="en-US" b="1" err="1">
                <a:cs typeface="Arial"/>
              </a:rPr>
              <a:t>Cifrul</a:t>
            </a:r>
            <a:r>
              <a:rPr lang="en-US" b="1">
                <a:cs typeface="Arial"/>
              </a:rPr>
              <a:t> ROT-13</a:t>
            </a:r>
            <a:r>
              <a:rPr lang="en-US">
                <a:cs typeface="Arial"/>
              </a:rPr>
              <a:t>: </a:t>
            </a:r>
            <a:r>
              <a:rPr lang="en-US" err="1">
                <a:cs typeface="Arial"/>
              </a:rPr>
              <a:t>Literele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alfabetului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englez</a:t>
            </a:r>
            <a:r>
              <a:rPr lang="en-US">
                <a:cs typeface="Arial"/>
              </a:rPr>
              <a:t> se </a:t>
            </a:r>
            <a:r>
              <a:rPr lang="en-US" err="1">
                <a:cs typeface="Arial"/>
              </a:rPr>
              <a:t>mută</a:t>
            </a:r>
            <a:r>
              <a:rPr lang="en-US">
                <a:cs typeface="Arial"/>
              </a:rPr>
              <a:t> cu 13 </a:t>
            </a:r>
            <a:r>
              <a:rPr lang="en-US" err="1">
                <a:cs typeface="Arial"/>
              </a:rPr>
              <a:t>poziții</a:t>
            </a:r>
          </a:p>
          <a:p>
            <a:pPr marL="344170" indent="-337820"/>
            <a:r>
              <a:rPr lang="en-US" b="1">
                <a:cs typeface="Arial"/>
              </a:rPr>
              <a:t>Atbash: </a:t>
            </a:r>
            <a:r>
              <a:rPr lang="en-US" err="1">
                <a:cs typeface="Arial"/>
              </a:rPr>
              <a:t>Litera</a:t>
            </a:r>
            <a:r>
              <a:rPr lang="en-US">
                <a:cs typeface="Arial"/>
              </a:rPr>
              <a:t> A </a:t>
            </a:r>
            <a:r>
              <a:rPr lang="en-US" err="1">
                <a:cs typeface="Arial"/>
              </a:rPr>
              <a:t>devine</a:t>
            </a:r>
            <a:r>
              <a:rPr lang="en-US">
                <a:cs typeface="Arial"/>
              </a:rPr>
              <a:t> Z, B </a:t>
            </a:r>
            <a:r>
              <a:rPr lang="en-US" err="1">
                <a:cs typeface="Arial"/>
              </a:rPr>
              <a:t>devine</a:t>
            </a:r>
            <a:r>
              <a:rPr lang="en-US">
                <a:cs typeface="Arial"/>
              </a:rPr>
              <a:t> Y </a:t>
            </a:r>
            <a:r>
              <a:rPr lang="en-US" err="1">
                <a:cs typeface="Arial"/>
              </a:rPr>
              <a:t>și</a:t>
            </a:r>
            <a:r>
              <a:rPr lang="en-US">
                <a:cs typeface="Arial"/>
              </a:rPr>
              <a:t> tot </a:t>
            </a:r>
            <a:r>
              <a:rPr lang="en-US" err="1">
                <a:cs typeface="Arial"/>
              </a:rPr>
              <a:t>așa</a:t>
            </a:r>
            <a:r>
              <a:rPr lang="en-US">
                <a:cs typeface="Arial"/>
              </a:rPr>
              <a:t> se </a:t>
            </a:r>
            <a:r>
              <a:rPr lang="en-US" err="1">
                <a:cs typeface="Arial"/>
              </a:rPr>
              <a:t>mută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literele</a:t>
            </a:r>
            <a:r>
              <a:rPr lang="en-US">
                <a:cs typeface="Arial"/>
              </a:rPr>
              <a:t> de la </a:t>
            </a:r>
            <a:r>
              <a:rPr lang="en-US" err="1">
                <a:cs typeface="Arial"/>
              </a:rPr>
              <a:t>coadă</a:t>
            </a:r>
            <a:r>
              <a:rPr lang="en-US">
                <a:cs typeface="Arial"/>
              </a:rPr>
              <a:t> la cap</a:t>
            </a:r>
          </a:p>
        </p:txBody>
      </p:sp>
    </p:spTree>
    <p:extLst>
      <p:ext uri="{BB962C8B-B14F-4D97-AF65-F5344CB8AC3E}">
        <p14:creationId xmlns:p14="http://schemas.microsoft.com/office/powerpoint/2010/main" val="2357698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1DE62-08D0-DD19-715F-D57AA8DBC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err="1">
                <a:cs typeface="Arial"/>
              </a:rPr>
              <a:t>Cifruri</a:t>
            </a:r>
            <a:r>
              <a:rPr lang="en-US">
                <a:cs typeface="Arial"/>
              </a:rPr>
              <a:t>(</a:t>
            </a:r>
            <a:r>
              <a:rPr lang="en-US" err="1">
                <a:cs typeface="Arial"/>
              </a:rPr>
              <a:t>substituții</a:t>
            </a:r>
            <a:r>
              <a:rPr lang="en-US">
                <a:cs typeface="Arial"/>
              </a:rPr>
              <a:t>) </a:t>
            </a:r>
            <a:r>
              <a:rPr lang="en-US" err="1">
                <a:cs typeface="Arial"/>
              </a:rPr>
              <a:t>monoalfabetice</a:t>
            </a:r>
            <a:endParaRPr lang="en-US" err="1">
              <a:solidFill>
                <a:srgbClr val="000000"/>
              </a:solidFill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F9153-8529-186C-29CF-FF6640372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US" err="1">
                <a:cs typeface="Arial"/>
              </a:rPr>
              <a:t>Bijecție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aleatorie</a:t>
            </a:r>
            <a:r>
              <a:rPr lang="en-US">
                <a:cs typeface="Arial"/>
              </a:rPr>
              <a:t>: </a:t>
            </a:r>
            <a:r>
              <a:rPr lang="en-US" err="1">
                <a:cs typeface="Arial"/>
              </a:rPr>
              <a:t>Fiecare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literă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este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înlocuită</a:t>
            </a:r>
            <a:r>
              <a:rPr lang="en-US">
                <a:cs typeface="Arial"/>
              </a:rPr>
              <a:t> cu o </a:t>
            </a:r>
            <a:r>
              <a:rPr lang="en-US" err="1">
                <a:cs typeface="Arial"/>
              </a:rPr>
              <a:t>unică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alta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în</a:t>
            </a:r>
            <a:r>
              <a:rPr lang="en-US">
                <a:cs typeface="Arial"/>
              </a:rPr>
              <a:t> mod </a:t>
            </a:r>
            <a:r>
              <a:rPr lang="en-US" err="1">
                <a:cs typeface="Arial"/>
              </a:rPr>
              <a:t>arbitrat</a:t>
            </a: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err="1">
                <a:cs typeface="Arial"/>
              </a:rPr>
              <a:t>Tehnică</a:t>
            </a:r>
            <a:r>
              <a:rPr lang="en-US">
                <a:cs typeface="Arial"/>
              </a:rPr>
              <a:t> de a sparge </a:t>
            </a:r>
            <a:r>
              <a:rPr lang="en-US" err="1">
                <a:cs typeface="Arial"/>
              </a:rPr>
              <a:t>acest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cifru</a:t>
            </a:r>
            <a:r>
              <a:rPr lang="en-US">
                <a:cs typeface="Arial"/>
              </a:rPr>
              <a:t>:</a:t>
            </a: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err="1">
                <a:cs typeface="Arial"/>
              </a:rPr>
              <a:t>Dacă</a:t>
            </a:r>
            <a:r>
              <a:rPr lang="en-US">
                <a:cs typeface="Arial"/>
              </a:rPr>
              <a:t> se </a:t>
            </a:r>
            <a:r>
              <a:rPr lang="en-US" err="1">
                <a:cs typeface="Arial"/>
              </a:rPr>
              <a:t>cunoaște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limba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în</a:t>
            </a:r>
            <a:r>
              <a:rPr lang="en-US">
                <a:cs typeface="Arial"/>
              </a:rPr>
              <a:t> care a </a:t>
            </a:r>
            <a:r>
              <a:rPr lang="en-US" err="1">
                <a:cs typeface="Arial"/>
              </a:rPr>
              <a:t>fost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scris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textul</a:t>
            </a:r>
            <a:r>
              <a:rPr lang="en-US">
                <a:cs typeface="Arial"/>
              </a:rPr>
              <a:t> se </a:t>
            </a:r>
            <a:r>
              <a:rPr lang="en-US" err="1">
                <a:cs typeface="Arial"/>
              </a:rPr>
              <a:t>poate</a:t>
            </a:r>
            <a:r>
              <a:rPr lang="en-US">
                <a:cs typeface="Arial"/>
              </a:rPr>
              <a:t> face o </a:t>
            </a:r>
            <a:r>
              <a:rPr lang="en-US" err="1">
                <a:cs typeface="Arial"/>
              </a:rPr>
              <a:t>analiză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asupra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frecvenței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literelor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și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apoi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să</a:t>
            </a:r>
            <a:r>
              <a:rPr lang="en-US">
                <a:cs typeface="Arial"/>
              </a:rPr>
              <a:t> se compare cu </a:t>
            </a:r>
            <a:r>
              <a:rPr lang="en-US" err="1">
                <a:cs typeface="Arial"/>
              </a:rPr>
              <a:t>frecvența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literelor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în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limba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vorbită</a:t>
            </a:r>
            <a:r>
              <a:rPr lang="en-US">
                <a:cs typeface="Arial"/>
              </a:rPr>
              <a:t>, </a:t>
            </a:r>
            <a:r>
              <a:rPr lang="en-US" err="1">
                <a:cs typeface="Arial"/>
              </a:rPr>
              <a:t>astfel</a:t>
            </a:r>
            <a:r>
              <a:rPr lang="en-US">
                <a:cs typeface="Arial"/>
              </a:rPr>
              <a:t> se </a:t>
            </a:r>
            <a:r>
              <a:rPr lang="en-US" err="1">
                <a:cs typeface="Arial"/>
              </a:rPr>
              <a:t>poate</a:t>
            </a:r>
            <a:r>
              <a:rPr lang="en-US">
                <a:cs typeface="Arial"/>
              </a:rPr>
              <a:t> sparge </a:t>
            </a:r>
            <a:r>
              <a:rPr lang="en-US" err="1">
                <a:cs typeface="Arial"/>
              </a:rPr>
              <a:t>cifrul</a:t>
            </a:r>
          </a:p>
        </p:txBody>
      </p:sp>
    </p:spTree>
    <p:extLst>
      <p:ext uri="{BB962C8B-B14F-4D97-AF65-F5344CB8AC3E}">
        <p14:creationId xmlns:p14="http://schemas.microsoft.com/office/powerpoint/2010/main" val="1312100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4D8F4B8D-CB62-49AA-BBC9-BFBF0FA438D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0B11A20E-F906-44AF-9B8C-5C7607ED28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589F2FE7-0776-45FC-BA50-B33FD5272D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E28EA0B-064B-42ED-AEB7-E2B518F588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0815A55-8D70-457A-807A-8497E4EB2FD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9409685-E4D7-4C17-A7A6-C7C4111928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BB97CD4-5E08-4372-8A06-C645E5701D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828623FE-81D6-4F09-8D7A-F76F15A2F3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69256214-74F4-4CEA-8704-1D8CCDB83F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E53BBEE1-0C06-4A90-AFCF-ECDA15B816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CDF634B5-C6ED-4234-A24B-02D885B1CB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6444AFB-4E57-4D85-9602-F52A64E2F1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961919C-DD7F-43B1-B71B-DF7EE29A61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97202B-6523-8D7A-7C96-4CBDAD2E4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086" y="1499505"/>
            <a:ext cx="2819723" cy="27824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500"/>
              <a:t>Cifruri(substituții) polialfabetice</a:t>
            </a:r>
          </a:p>
        </p:txBody>
      </p:sp>
      <p:pic>
        <p:nvPicPr>
          <p:cNvPr id="4" name="Picture 3" descr="undefined">
            <a:extLst>
              <a:ext uri="{FF2B5EF4-FFF2-40B4-BE49-F238E27FC236}">
                <a16:creationId xmlns:a16="http://schemas.microsoft.com/office/drawing/2014/main" id="{499190C7-6990-378C-88A4-671D006DC1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24" r="3676" b="2"/>
          <a:stretch/>
        </p:blipFill>
        <p:spPr>
          <a:xfrm>
            <a:off x="5444747" y="647191"/>
            <a:ext cx="5297322" cy="5564284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C39649D3-3CC3-4DD7-AA2D-81A3546AF4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CE849C-C000-83AB-1106-81F32EBFC8BB}"/>
              </a:ext>
            </a:extLst>
          </p:cNvPr>
          <p:cNvSpPr txBox="1"/>
          <p:nvPr/>
        </p:nvSpPr>
        <p:spPr>
          <a:xfrm>
            <a:off x="1680208" y="2527151"/>
            <a:ext cx="274320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 err="1">
                <a:cs typeface="Arial"/>
              </a:rPr>
              <a:t>Cifrul</a:t>
            </a:r>
            <a:r>
              <a:rPr lang="en-US" b="1" u="sng">
                <a:cs typeface="Arial"/>
              </a:rPr>
              <a:t> </a:t>
            </a:r>
            <a:r>
              <a:rPr lang="en-US" b="1" u="sng" err="1">
                <a:cs typeface="Arial"/>
              </a:rPr>
              <a:t>lui</a:t>
            </a:r>
            <a:r>
              <a:rPr lang="en-US" b="1" u="sng">
                <a:cs typeface="Arial"/>
              </a:rPr>
              <a:t> </a:t>
            </a:r>
            <a:r>
              <a:rPr lang="en-US" b="1" u="sng">
                <a:ea typeface="+mn-lt"/>
                <a:cs typeface="+mn-lt"/>
              </a:rPr>
              <a:t>Vigenère</a:t>
            </a:r>
          </a:p>
          <a:p>
            <a:endParaRPr lang="en-US" b="1" u="sng">
              <a:cs typeface="Arial"/>
            </a:endParaRPr>
          </a:p>
          <a:p>
            <a:r>
              <a:rPr lang="en-US" err="1">
                <a:ea typeface="+mn-lt"/>
                <a:cs typeface="+mn-lt"/>
              </a:rPr>
              <a:t>Cifrul</a:t>
            </a:r>
            <a:r>
              <a:rPr lang="en-US">
                <a:ea typeface="+mn-lt"/>
                <a:cs typeface="+mn-lt"/>
              </a:rPr>
              <a:t> Vigenère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metodă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criptare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textului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alfabetic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care </a:t>
            </a:r>
            <a:r>
              <a:rPr lang="en-US" err="1">
                <a:ea typeface="+mn-lt"/>
                <a:cs typeface="+mn-lt"/>
              </a:rPr>
              <a:t>fiecare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literă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textului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simplu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codificată</a:t>
            </a:r>
            <a:r>
              <a:rPr lang="en-US">
                <a:ea typeface="+mn-lt"/>
                <a:cs typeface="+mn-lt"/>
              </a:rPr>
              <a:t> cu un </a:t>
            </a:r>
            <a:r>
              <a:rPr lang="en-US" err="1">
                <a:ea typeface="+mn-lt"/>
                <a:cs typeface="+mn-lt"/>
              </a:rPr>
              <a:t>cifr</a:t>
            </a:r>
            <a:r>
              <a:rPr lang="en-US">
                <a:ea typeface="+mn-lt"/>
                <a:cs typeface="+mn-lt"/>
              </a:rPr>
              <a:t> Caesar </a:t>
            </a:r>
            <a:r>
              <a:rPr lang="en-US" err="1">
                <a:ea typeface="+mn-lt"/>
                <a:cs typeface="+mn-lt"/>
              </a:rPr>
              <a:t>diferit</a:t>
            </a:r>
            <a:r>
              <a:rPr lang="en-US">
                <a:ea typeface="+mn-lt"/>
                <a:cs typeface="+mn-lt"/>
              </a:rPr>
              <a:t>, a </a:t>
            </a:r>
            <a:r>
              <a:rPr lang="en-US" err="1">
                <a:ea typeface="+mn-lt"/>
                <a:cs typeface="+mn-lt"/>
              </a:rPr>
              <a:t>cărui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creștere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determinată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litera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corespunzătoare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unui</a:t>
            </a:r>
            <a:r>
              <a:rPr lang="en-US">
                <a:ea typeface="+mn-lt"/>
                <a:cs typeface="+mn-lt"/>
              </a:rPr>
              <a:t> alt text, </a:t>
            </a:r>
            <a:r>
              <a:rPr lang="en-US" err="1">
                <a:ea typeface="+mn-lt"/>
                <a:cs typeface="+mn-lt"/>
              </a:rPr>
              <a:t>cheia</a:t>
            </a:r>
            <a:r>
              <a:rPr lang="en-US">
                <a:ea typeface="+mn-lt"/>
                <a:cs typeface="+mn-lt"/>
              </a:rPr>
              <a:t> 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10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7D64-F100-A71C-5457-4164421F1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cs typeface="Arial"/>
              </a:rPr>
              <a:t>OTP (One-time pad)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302A6-A3EC-CA2D-89B3-78738E1F5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4170" indent="-337820"/>
            <a:r>
              <a:rPr lang="en-US">
                <a:cs typeface="Arial"/>
              </a:rPr>
              <a:t>Se </a:t>
            </a:r>
            <a:r>
              <a:rPr lang="en-US" err="1">
                <a:cs typeface="Arial"/>
              </a:rPr>
              <a:t>folosește</a:t>
            </a:r>
            <a:r>
              <a:rPr lang="en-US">
                <a:cs typeface="Arial"/>
              </a:rPr>
              <a:t> o </a:t>
            </a:r>
            <a:r>
              <a:rPr lang="en-US" err="1">
                <a:cs typeface="Arial"/>
              </a:rPr>
              <a:t>cheie</a:t>
            </a:r>
            <a:r>
              <a:rPr lang="en-US">
                <a:cs typeface="Arial"/>
              </a:rPr>
              <a:t> pre-</a:t>
            </a:r>
            <a:r>
              <a:rPr lang="en-US" err="1">
                <a:cs typeface="Arial"/>
              </a:rPr>
              <a:t>partajată</a:t>
            </a:r>
            <a:r>
              <a:rPr lang="en-US">
                <a:cs typeface="Arial"/>
              </a:rPr>
              <a:t>(pad </a:t>
            </a:r>
            <a:r>
              <a:rPr lang="en-US" err="1">
                <a:cs typeface="Arial"/>
              </a:rPr>
              <a:t>unic</a:t>
            </a:r>
            <a:r>
              <a:rPr lang="en-US">
                <a:cs typeface="Arial"/>
              </a:rPr>
              <a:t>) </a:t>
            </a:r>
            <a:r>
              <a:rPr lang="en-US" err="1">
                <a:cs typeface="Arial"/>
              </a:rPr>
              <a:t>mai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lungă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decât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mesajul</a:t>
            </a:r>
            <a:r>
              <a:rPr lang="en-US">
                <a:cs typeface="Arial"/>
              </a:rPr>
              <a:t> care se XOR-</a:t>
            </a:r>
            <a:r>
              <a:rPr lang="en-US" err="1">
                <a:cs typeface="Arial"/>
              </a:rPr>
              <a:t>ează</a:t>
            </a:r>
            <a:r>
              <a:rPr lang="en-US">
                <a:cs typeface="Arial"/>
              </a:rPr>
              <a:t> cu </a:t>
            </a:r>
            <a:r>
              <a:rPr lang="en-US" err="1">
                <a:cs typeface="Arial"/>
              </a:rPr>
              <a:t>mesajul</a:t>
            </a:r>
            <a:r>
              <a:rPr lang="en-US">
                <a:cs typeface="Arial"/>
              </a:rPr>
              <a:t>:</a:t>
            </a:r>
          </a:p>
          <a:p>
            <a:pPr marL="344170" indent="-337820"/>
            <a:r>
              <a:rPr lang="en-US" err="1">
                <a:ea typeface="+mn-lt"/>
                <a:cs typeface="+mn-lt"/>
              </a:rPr>
              <a:t>Textul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cifrat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rezultat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va</a:t>
            </a:r>
            <a:r>
              <a:rPr lang="en-US">
                <a:ea typeface="+mn-lt"/>
                <a:cs typeface="+mn-lt"/>
              </a:rPr>
              <a:t> fi </a:t>
            </a:r>
            <a:r>
              <a:rPr lang="en-US" err="1">
                <a:ea typeface="+mn-lt"/>
                <a:cs typeface="+mn-lt"/>
              </a:rPr>
              <a:t>imposibil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decriptat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sau</a:t>
            </a:r>
            <a:r>
              <a:rPr lang="en-US">
                <a:ea typeface="+mn-lt"/>
                <a:cs typeface="+mn-lt"/>
              </a:rPr>
              <a:t> spart </a:t>
            </a:r>
            <a:r>
              <a:rPr lang="en-US" err="1">
                <a:ea typeface="+mn-lt"/>
                <a:cs typeface="+mn-lt"/>
              </a:rPr>
              <a:t>dacă</a:t>
            </a:r>
            <a:r>
              <a:rPr lang="en-US">
                <a:ea typeface="+mn-lt"/>
                <a:cs typeface="+mn-lt"/>
              </a:rPr>
              <a:t> sunt </a:t>
            </a:r>
            <a:r>
              <a:rPr lang="en-US" err="1">
                <a:ea typeface="+mn-lt"/>
                <a:cs typeface="+mn-lt"/>
              </a:rPr>
              <a:t>îndeplinite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următoarele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patru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condiții</a:t>
            </a:r>
            <a:r>
              <a:rPr lang="en-US">
                <a:ea typeface="+mn-lt"/>
                <a:cs typeface="+mn-lt"/>
              </a:rPr>
              <a:t>: </a:t>
            </a: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err="1">
                <a:ea typeface="+mn-lt"/>
                <a:cs typeface="+mn-lt"/>
              </a:rPr>
              <a:t>Cheia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trebuie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să</a:t>
            </a:r>
            <a:r>
              <a:rPr lang="en-US">
                <a:ea typeface="+mn-lt"/>
                <a:cs typeface="+mn-lt"/>
              </a:rPr>
              <a:t> fie </a:t>
            </a:r>
            <a:r>
              <a:rPr lang="en-US" err="1">
                <a:ea typeface="+mn-lt"/>
                <a:cs typeface="+mn-lt"/>
              </a:rPr>
              <a:t>cel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puțin</a:t>
            </a:r>
            <a:r>
              <a:rPr lang="en-US">
                <a:ea typeface="+mn-lt"/>
                <a:cs typeface="+mn-lt"/>
              </a:rPr>
              <a:t> la </a:t>
            </a:r>
            <a:r>
              <a:rPr lang="en-US" err="1">
                <a:ea typeface="+mn-lt"/>
                <a:cs typeface="+mn-lt"/>
              </a:rPr>
              <a:t>fel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lungă</a:t>
            </a:r>
            <a:r>
              <a:rPr lang="en-US">
                <a:ea typeface="+mn-lt"/>
                <a:cs typeface="+mn-lt"/>
              </a:rPr>
              <a:t> ca </a:t>
            </a:r>
            <a:r>
              <a:rPr lang="en-US" err="1">
                <a:ea typeface="+mn-lt"/>
                <a:cs typeface="+mn-lt"/>
              </a:rPr>
              <a:t>textul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simplu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err="1">
                <a:ea typeface="+mn-lt"/>
                <a:cs typeface="+mn-lt"/>
              </a:rPr>
              <a:t>Cheia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trebuie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să</a:t>
            </a:r>
            <a:r>
              <a:rPr lang="en-US">
                <a:ea typeface="+mn-lt"/>
                <a:cs typeface="+mn-lt"/>
              </a:rPr>
              <a:t> fie cu </a:t>
            </a:r>
            <a:r>
              <a:rPr lang="en-US" err="1">
                <a:ea typeface="+mn-lt"/>
                <a:cs typeface="+mn-lt"/>
              </a:rPr>
              <a:t>adevărat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aleatorie</a:t>
            </a:r>
            <a:r>
              <a:rPr lang="en-US">
                <a:ea typeface="+mn-lt"/>
                <a:cs typeface="+mn-lt"/>
              </a:rPr>
              <a:t> .</a:t>
            </a:r>
            <a:endParaRPr lang="en-US">
              <a:cs typeface="Arial"/>
            </a:endParaRP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err="1">
                <a:ea typeface="+mn-lt"/>
                <a:cs typeface="+mn-lt"/>
              </a:rPr>
              <a:t>Cheia</a:t>
            </a:r>
            <a:r>
              <a:rPr lang="en-US">
                <a:ea typeface="+mn-lt"/>
                <a:cs typeface="+mn-lt"/>
              </a:rPr>
              <a:t> nu </a:t>
            </a:r>
            <a:r>
              <a:rPr lang="en-US" err="1">
                <a:ea typeface="+mn-lt"/>
                <a:cs typeface="+mn-lt"/>
              </a:rPr>
              <a:t>trebuie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niciodată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reutilizată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totalitate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parte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err="1">
                <a:ea typeface="+mn-lt"/>
                <a:cs typeface="+mn-lt"/>
              </a:rPr>
              <a:t>Cheia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trebuie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ținută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complet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secretă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către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părțile</a:t>
            </a:r>
            <a:r>
              <a:rPr lang="en-US">
                <a:ea typeface="+mn-lt"/>
                <a:cs typeface="+mn-lt"/>
              </a:rPr>
              <a:t> care </a:t>
            </a:r>
            <a:r>
              <a:rPr lang="en-US" err="1">
                <a:ea typeface="+mn-lt"/>
                <a:cs typeface="+mn-lt"/>
              </a:rPr>
              <a:t>comunică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48740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582F-46A6-FEBE-50A9-064D9E9C8AA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4472C4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err="1">
                <a:cs typeface="Arial"/>
              </a:rPr>
              <a:t>Mașina</a:t>
            </a:r>
            <a:r>
              <a:rPr lang="en-US">
                <a:cs typeface="Arial"/>
              </a:rPr>
              <a:t> ENIGMA – o </a:t>
            </a:r>
            <a:r>
              <a:rPr lang="en-US" err="1">
                <a:cs typeface="Arial"/>
              </a:rPr>
              <a:t>unealtă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importantă</a:t>
            </a:r>
          </a:p>
        </p:txBody>
      </p:sp>
      <p:pic>
        <p:nvPicPr>
          <p:cNvPr id="4" name="Content Placeholder 3" descr="undefined">
            <a:extLst>
              <a:ext uri="{FF2B5EF4-FFF2-40B4-BE49-F238E27FC236}">
                <a16:creationId xmlns:a16="http://schemas.microsoft.com/office/drawing/2014/main" id="{2549A2E7-DE52-464B-F447-DE19C48B6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3909" y="1998490"/>
            <a:ext cx="3455625" cy="461055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610A84-6B60-FF3E-7FC9-D9BC2FDFFCEA}"/>
              </a:ext>
            </a:extLst>
          </p:cNvPr>
          <p:cNvSpPr txBox="1"/>
          <p:nvPr/>
        </p:nvSpPr>
        <p:spPr>
          <a:xfrm>
            <a:off x="1533301" y="2002846"/>
            <a:ext cx="5056741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Enigma a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fost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folosită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comercial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de la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începutul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anilor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1920,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fiind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adoptată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și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de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armatele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și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serviciile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guvernamentale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ale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mai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multor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țări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–cel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mai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celebru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caz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fiind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cel al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Germaniei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naziste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înainte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de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și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în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timpul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celui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de-al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Doilea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Război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Mondial. Au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fost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produse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, de-a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lungul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timpului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, o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varietate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de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modele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diferite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de Enigma,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dar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modelul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armatei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germane, Wehrmacht Enigma,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este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versiunea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cel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mai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adesea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studiată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Alan Turing – </a:t>
            </a:r>
            <a:r>
              <a:rPr lang="en-US" err="1">
                <a:cs typeface="Arial"/>
              </a:rPr>
              <a:t>părinte</a:t>
            </a:r>
            <a:r>
              <a:rPr lang="en-US">
                <a:cs typeface="Arial"/>
              </a:rPr>
              <a:t> al </a:t>
            </a:r>
            <a:r>
              <a:rPr lang="en-US" err="1">
                <a:cs typeface="Arial"/>
              </a:rPr>
              <a:t>informaticii</a:t>
            </a:r>
            <a:r>
              <a:rPr lang="en-US">
                <a:cs typeface="Arial"/>
              </a:rPr>
              <a:t> care a </a:t>
            </a:r>
            <a:r>
              <a:rPr lang="en-US" err="1">
                <a:cs typeface="Arial"/>
              </a:rPr>
              <a:t>reușit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să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dezvolte</a:t>
            </a:r>
            <a:r>
              <a:rPr lang="en-US">
                <a:cs typeface="Arial"/>
              </a:rPr>
              <a:t> diverse </a:t>
            </a:r>
            <a:r>
              <a:rPr lang="en-US" err="1">
                <a:cs typeface="Arial"/>
              </a:rPr>
              <a:t>mașinării</a:t>
            </a:r>
            <a:r>
              <a:rPr lang="en-US">
                <a:cs typeface="Arial"/>
              </a:rPr>
              <a:t> care </a:t>
            </a:r>
            <a:r>
              <a:rPr lang="en-US" err="1">
                <a:cs typeface="Arial"/>
              </a:rPr>
              <a:t>să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spargă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mesajele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transmise</a:t>
            </a:r>
            <a:r>
              <a:rPr lang="en-US">
                <a:cs typeface="Arial"/>
              </a:rPr>
              <a:t> de </a:t>
            </a:r>
            <a:r>
              <a:rPr lang="en-US" err="1">
                <a:cs typeface="Arial"/>
              </a:rPr>
              <a:t>naziști</a:t>
            </a:r>
            <a:r>
              <a:rPr lang="en-US">
                <a:cs typeface="Arial"/>
              </a:rPr>
              <a:t>. Este </a:t>
            </a:r>
            <a:r>
              <a:rPr lang="en-US" err="1">
                <a:cs typeface="Arial"/>
              </a:rPr>
              <a:t>considerat</a:t>
            </a:r>
            <a:r>
              <a:rPr lang="en-US">
                <a:cs typeface="Arial"/>
              </a:rPr>
              <a:t> ca </a:t>
            </a:r>
            <a:r>
              <a:rPr lang="en-US" err="1">
                <a:cs typeface="Arial"/>
              </a:rPr>
              <a:t>fiind</a:t>
            </a:r>
            <a:r>
              <a:rPr lang="en-US">
                <a:cs typeface="Arial"/>
              </a:rPr>
              <a:t> cel care a spart </a:t>
            </a:r>
            <a:r>
              <a:rPr lang="en-US" err="1">
                <a:cs typeface="Arial"/>
              </a:rPr>
              <a:t>Mașina</a:t>
            </a:r>
            <a:r>
              <a:rPr lang="en-US">
                <a:cs typeface="Arial"/>
              </a:rPr>
              <a:t> Enigma.</a:t>
            </a:r>
          </a:p>
        </p:txBody>
      </p:sp>
    </p:spTree>
    <p:extLst>
      <p:ext uri="{BB962C8B-B14F-4D97-AF65-F5344CB8AC3E}">
        <p14:creationId xmlns:p14="http://schemas.microsoft.com/office/powerpoint/2010/main" val="24888186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D58E3-DC33-FF5C-EE86-CFA74668C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cs typeface="Arial"/>
              </a:rPr>
              <a:t>Alt </a:t>
            </a:r>
            <a:r>
              <a:rPr lang="en-US" err="1">
                <a:cs typeface="Arial"/>
              </a:rPr>
              <a:t>exemplu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drăguț</a:t>
            </a:r>
            <a:endParaRPr lang="en-US" err="1"/>
          </a:p>
        </p:txBody>
      </p:sp>
      <p:pic>
        <p:nvPicPr>
          <p:cNvPr id="4" name="Content Placeholder 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53796786-5C4D-CC30-F59F-7F2FCBA518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5262" y="2797289"/>
            <a:ext cx="8975938" cy="3140020"/>
          </a:xfrm>
        </p:spPr>
      </p:pic>
    </p:spTree>
    <p:extLst>
      <p:ext uri="{BB962C8B-B14F-4D97-AF65-F5344CB8AC3E}">
        <p14:creationId xmlns:p14="http://schemas.microsoft.com/office/powerpoint/2010/main" val="11077872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962D-F312-AF34-2DAE-434601FE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821" y="2721051"/>
            <a:ext cx="7478695" cy="14247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000" b="1" err="1">
                <a:cs typeface="Arial"/>
              </a:rPr>
              <a:t>Cifruri</a:t>
            </a:r>
            <a:r>
              <a:rPr lang="en-US" sz="4000" b="1">
                <a:cs typeface="Arial"/>
              </a:rPr>
              <a:t> </a:t>
            </a:r>
            <a:r>
              <a:rPr lang="en-US" sz="4000" b="1" err="1">
                <a:cs typeface="Arial"/>
              </a:rPr>
              <a:t>avansate</a:t>
            </a:r>
            <a:r>
              <a:rPr lang="en-US" sz="4000" b="1">
                <a:cs typeface="Arial"/>
              </a:rPr>
              <a:t/>
            </a:r>
            <a:br>
              <a:rPr lang="en-US" sz="4000" b="1">
                <a:cs typeface="Arial"/>
              </a:rPr>
            </a:br>
            <a:r>
              <a:rPr lang="en-US" sz="4000">
                <a:cs typeface="Arial"/>
              </a:rPr>
              <a:t>​Cele </a:t>
            </a:r>
            <a:r>
              <a:rPr lang="en-US" sz="4000" err="1">
                <a:cs typeface="Arial"/>
              </a:rPr>
              <a:t>mai</a:t>
            </a:r>
            <a:r>
              <a:rPr lang="en-US" sz="4000">
                <a:cs typeface="Arial"/>
              </a:rPr>
              <a:t> </a:t>
            </a:r>
            <a:r>
              <a:rPr lang="en-US" sz="4000" err="1">
                <a:cs typeface="Arial"/>
              </a:rPr>
              <a:t>folosite</a:t>
            </a:r>
            <a:r>
              <a:rPr lang="en-US" sz="4000">
                <a:cs typeface="Arial"/>
              </a:rPr>
              <a:t> </a:t>
            </a:r>
            <a:r>
              <a:rPr lang="en-US" sz="4000" err="1">
                <a:cs typeface="Arial"/>
              </a:rPr>
              <a:t>cifruri</a:t>
            </a:r>
            <a:r>
              <a:rPr lang="en-US" sz="4000">
                <a:cs typeface="Arial"/>
              </a:rPr>
              <a:t/>
            </a:r>
            <a:br>
              <a:rPr lang="en-US" sz="4000">
                <a:cs typeface="Arial"/>
              </a:rPr>
            </a:br>
            <a:r>
              <a:rPr lang="en-US" sz="4000">
                <a:cs typeface="Arial"/>
              </a:rPr>
              <a:t>AES, DES, Triple-DES, RSA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A5075-4587-2AFB-F845-39C8FE246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1053" y="1713430"/>
            <a:ext cx="6590813" cy="878468"/>
          </a:xfrm>
        </p:spPr>
        <p:txBody>
          <a:bodyPr/>
          <a:lstStyle/>
          <a:p>
            <a:r>
              <a:rPr lang="en-US" sz="2800" err="1">
                <a:cs typeface="Arial"/>
              </a:rPr>
              <a:t>Capitolul</a:t>
            </a:r>
            <a:r>
              <a:rPr lang="en-US" sz="2800">
                <a:cs typeface="Arial"/>
              </a:rPr>
              <a:t> VII</a:t>
            </a:r>
          </a:p>
        </p:txBody>
      </p:sp>
    </p:spTree>
    <p:extLst>
      <p:ext uri="{BB962C8B-B14F-4D97-AF65-F5344CB8AC3E}">
        <p14:creationId xmlns:p14="http://schemas.microsoft.com/office/powerpoint/2010/main" val="26763121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19C1-EFB1-28E7-8315-40A8349E5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err="1">
                <a:cs typeface="Arial" panose="020B0604020202020204"/>
              </a:rPr>
              <a:t>Tipuri</a:t>
            </a:r>
            <a:r>
              <a:rPr lang="en-US">
                <a:cs typeface="Arial" panose="020B0604020202020204"/>
              </a:rPr>
              <a:t> de </a:t>
            </a:r>
            <a:r>
              <a:rPr lang="en-US" err="1">
                <a:cs typeface="Arial" panose="020B0604020202020204"/>
              </a:rPr>
              <a:t>criptări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B73B1-6E5D-BC1C-A11F-908F5C3E0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cs typeface="Arial"/>
              </a:rPr>
              <a:t>Criptare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simetrică</a:t>
            </a:r>
            <a:r>
              <a:rPr lang="en-US">
                <a:cs typeface="Arial"/>
              </a:rPr>
              <a:t> 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1D08A-7483-2B6D-5F5E-90FEBD7967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4170" indent="-337820"/>
            <a:r>
              <a:rPr lang="en-US" err="1">
                <a:cs typeface="Arial" panose="020B0604020202020204"/>
              </a:rPr>
              <a:t>Procedura</a:t>
            </a:r>
            <a:r>
              <a:rPr lang="en-US">
                <a:cs typeface="Arial" panose="020B0604020202020204"/>
              </a:rPr>
              <a:t> de </a:t>
            </a:r>
            <a:r>
              <a:rPr lang="en-US" err="1">
                <a:cs typeface="Arial" panose="020B0604020202020204"/>
              </a:rPr>
              <a:t>criptare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este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identică</a:t>
            </a:r>
            <a:r>
              <a:rPr lang="en-US">
                <a:cs typeface="Arial" panose="020B0604020202020204"/>
              </a:rPr>
              <a:t> cu </a:t>
            </a:r>
            <a:r>
              <a:rPr lang="en-US" err="1">
                <a:cs typeface="Arial" panose="020B0604020202020204"/>
              </a:rPr>
              <a:t>cea</a:t>
            </a:r>
            <a:r>
              <a:rPr lang="en-US">
                <a:cs typeface="Arial" panose="020B0604020202020204"/>
              </a:rPr>
              <a:t> de </a:t>
            </a:r>
            <a:r>
              <a:rPr lang="en-US" err="1">
                <a:cs typeface="Arial" panose="020B0604020202020204"/>
              </a:rPr>
              <a:t>decriptare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și</a:t>
            </a:r>
            <a:r>
              <a:rPr lang="en-US">
                <a:cs typeface="Arial" panose="020B0604020202020204"/>
              </a:rPr>
              <a:t> automat, </a:t>
            </a:r>
            <a:r>
              <a:rPr lang="en-US" err="1">
                <a:cs typeface="Arial" panose="020B0604020202020204"/>
              </a:rPr>
              <a:t>dacă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știi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să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criptezi</a:t>
            </a:r>
            <a:r>
              <a:rPr lang="en-US">
                <a:cs typeface="Arial" panose="020B0604020202020204"/>
              </a:rPr>
              <a:t>, </a:t>
            </a:r>
            <a:r>
              <a:rPr lang="en-US" err="1">
                <a:cs typeface="Arial" panose="020B0604020202020204"/>
              </a:rPr>
              <a:t>știi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să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și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decriptezi</a:t>
            </a:r>
          </a:p>
          <a:p>
            <a:pPr marL="344170" indent="-337820"/>
            <a:r>
              <a:rPr lang="en-US">
                <a:cs typeface="Arial" panose="020B0604020202020204"/>
              </a:rPr>
              <a:t>Are o </a:t>
            </a:r>
            <a:r>
              <a:rPr lang="en-US" err="1">
                <a:cs typeface="Arial" panose="020B0604020202020204"/>
              </a:rPr>
              <a:t>unică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cheie</a:t>
            </a:r>
            <a:r>
              <a:rPr lang="en-US">
                <a:cs typeface="Arial" panose="020B0604020202020204"/>
              </a:rPr>
              <a:t>, </a:t>
            </a:r>
            <a:r>
              <a:rPr lang="en-US" err="1">
                <a:cs typeface="Arial" panose="020B0604020202020204"/>
              </a:rPr>
              <a:t>atât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pentru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criptare</a:t>
            </a:r>
            <a:r>
              <a:rPr lang="en-US">
                <a:cs typeface="Arial" panose="020B0604020202020204"/>
              </a:rPr>
              <a:t>, </a:t>
            </a:r>
            <a:r>
              <a:rPr lang="en-US" err="1">
                <a:cs typeface="Arial" panose="020B0604020202020204"/>
              </a:rPr>
              <a:t>cât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și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pentru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decriptare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BF045C-556F-70AF-77B6-A95BCB7DF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err="1">
                <a:cs typeface="Arial"/>
              </a:rPr>
              <a:t>Criptare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asimetrică</a:t>
            </a:r>
            <a:endParaRPr lang="en-US" err="1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21AE1C-6C9E-6574-D783-678AADCA640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4170" indent="-337820"/>
            <a:r>
              <a:rPr lang="en-US" err="1">
                <a:cs typeface="Arial"/>
              </a:rPr>
              <a:t>Degeaba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știi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să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criptezi</a:t>
            </a:r>
            <a:r>
              <a:rPr lang="en-US">
                <a:cs typeface="Arial"/>
              </a:rPr>
              <a:t> date, </a:t>
            </a:r>
            <a:r>
              <a:rPr lang="en-US" err="1">
                <a:cs typeface="Arial"/>
              </a:rPr>
              <a:t>că</a:t>
            </a:r>
            <a:r>
              <a:rPr lang="en-US">
                <a:cs typeface="Arial"/>
              </a:rPr>
              <a:t> nu le </a:t>
            </a:r>
            <a:r>
              <a:rPr lang="en-US" err="1">
                <a:cs typeface="Arial"/>
              </a:rPr>
              <a:t>poți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decripta</a:t>
            </a:r>
          </a:p>
          <a:p>
            <a:pPr marL="344170" indent="-337820"/>
            <a:r>
              <a:rPr lang="en-US">
                <a:cs typeface="Arial"/>
              </a:rPr>
              <a:t>Are </a:t>
            </a:r>
            <a:r>
              <a:rPr lang="en-US" err="1">
                <a:cs typeface="Arial"/>
              </a:rPr>
              <a:t>atât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cheie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publică</a:t>
            </a:r>
            <a:r>
              <a:rPr lang="en-US">
                <a:cs typeface="Arial"/>
              </a:rPr>
              <a:t>(</a:t>
            </a:r>
            <a:r>
              <a:rPr lang="en-US" err="1">
                <a:cs typeface="Arial"/>
              </a:rPr>
              <a:t>pentru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criptare</a:t>
            </a:r>
            <a:r>
              <a:rPr lang="en-US">
                <a:cs typeface="Arial"/>
              </a:rPr>
              <a:t>), </a:t>
            </a:r>
            <a:r>
              <a:rPr lang="en-US" err="1">
                <a:cs typeface="Arial"/>
              </a:rPr>
              <a:t>cât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și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cheie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privată</a:t>
            </a:r>
            <a:r>
              <a:rPr lang="en-US">
                <a:cs typeface="Arial"/>
              </a:rPr>
              <a:t>(</a:t>
            </a:r>
            <a:r>
              <a:rPr lang="en-US" err="1">
                <a:cs typeface="Arial"/>
              </a:rPr>
              <a:t>pentru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decriptare</a:t>
            </a:r>
            <a:r>
              <a:rPr lang="en-US">
                <a:cs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9176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7D64-F100-A71C-5457-4164421F1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577451"/>
            <a:ext cx="7958331" cy="10772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cs typeface="Arial"/>
              </a:rPr>
              <a:t>DES (</a:t>
            </a:r>
            <a:r>
              <a:rPr lang="en-US">
                <a:ea typeface="+mj-lt"/>
                <a:cs typeface="+mj-lt"/>
              </a:rPr>
              <a:t>Data Encryption Standard)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302A6-A3EC-CA2D-89B3-78738E1F5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0863" y="1646232"/>
            <a:ext cx="8849302" cy="4688314"/>
          </a:xfrm>
        </p:spPr>
        <p:txBody>
          <a:bodyPr>
            <a:normAutofit fontScale="70000" lnSpcReduction="20000"/>
          </a:bodyPr>
          <a:lstStyle/>
          <a:p>
            <a:pPr marL="344170" indent="-337820"/>
            <a:r>
              <a:rPr lang="en-US" err="1">
                <a:ea typeface="+mn-lt"/>
                <a:cs typeface="+mn-lt"/>
              </a:rPr>
              <a:t>Algoritm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criptare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simetrică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dezvoltat</a:t>
            </a:r>
            <a:r>
              <a:rPr lang="en-US">
                <a:ea typeface="+mn-lt"/>
                <a:cs typeface="+mn-lt"/>
              </a:rPr>
              <a:t> de IBM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adoptat</a:t>
            </a:r>
            <a:r>
              <a:rPr lang="en-US">
                <a:ea typeface="+mn-lt"/>
                <a:cs typeface="+mn-lt"/>
              </a:rPr>
              <a:t> ca standard de </a:t>
            </a:r>
            <a:r>
              <a:rPr lang="en-US" err="1">
                <a:ea typeface="+mn-lt"/>
                <a:cs typeface="+mn-lt"/>
              </a:rPr>
              <a:t>criptare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anii</a:t>
            </a:r>
            <a:r>
              <a:rPr lang="en-US">
                <a:ea typeface="+mn-lt"/>
                <a:cs typeface="+mn-lt"/>
              </a:rPr>
              <a:t> 1970 de </a:t>
            </a:r>
            <a:r>
              <a:rPr lang="en-US" err="1">
                <a:ea typeface="+mn-lt"/>
                <a:cs typeface="+mn-lt"/>
              </a:rPr>
              <a:t>către</a:t>
            </a:r>
            <a:r>
              <a:rPr lang="en-US">
                <a:ea typeface="+mn-lt"/>
                <a:cs typeface="+mn-lt"/>
              </a:rPr>
              <a:t> NIST.</a:t>
            </a:r>
          </a:p>
          <a:p>
            <a:pPr marL="344170" indent="-337820"/>
            <a:r>
              <a:rPr lang="en-US" err="1">
                <a:ea typeface="+mn-lt"/>
                <a:cs typeface="+mn-lt"/>
              </a:rPr>
              <a:t>Acesta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folosește</a:t>
            </a:r>
            <a:r>
              <a:rPr lang="en-US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cheie</a:t>
            </a:r>
            <a:r>
              <a:rPr lang="en-US">
                <a:ea typeface="+mn-lt"/>
                <a:cs typeface="+mn-lt"/>
              </a:rPr>
              <a:t> de 64 de </a:t>
            </a:r>
            <a:r>
              <a:rPr lang="en-US" err="1">
                <a:ea typeface="+mn-lt"/>
                <a:cs typeface="+mn-lt"/>
              </a:rPr>
              <a:t>biți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dintre</a:t>
            </a:r>
            <a:r>
              <a:rPr lang="en-US">
                <a:ea typeface="+mn-lt"/>
                <a:cs typeface="+mn-lt"/>
              </a:rPr>
              <a:t> care </a:t>
            </a:r>
            <a:r>
              <a:rPr lang="en-US" err="1">
                <a:ea typeface="+mn-lt"/>
                <a:cs typeface="+mn-lt"/>
              </a:rPr>
              <a:t>fiecare</a:t>
            </a:r>
            <a:r>
              <a:rPr lang="en-US">
                <a:ea typeface="+mn-lt"/>
                <a:cs typeface="+mn-lt"/>
              </a:rPr>
              <a:t> al 8-lea bit nu se </a:t>
            </a:r>
            <a:r>
              <a:rPr lang="en-US" err="1">
                <a:ea typeface="+mn-lt"/>
                <a:cs typeface="+mn-lt"/>
              </a:rPr>
              <a:t>folosește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deci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rezultă</a:t>
            </a:r>
            <a:r>
              <a:rPr lang="en-US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cheie</a:t>
            </a:r>
            <a:r>
              <a:rPr lang="en-US">
                <a:ea typeface="+mn-lt"/>
                <a:cs typeface="+mn-lt"/>
              </a:rPr>
              <a:t> de 56</a:t>
            </a:r>
          </a:p>
          <a:p>
            <a:pPr marL="344170" indent="-337820"/>
            <a:r>
              <a:rPr lang="en-US">
                <a:ea typeface="+mn-lt"/>
                <a:cs typeface="+mn-lt"/>
              </a:rPr>
              <a:t>Cum </a:t>
            </a:r>
            <a:r>
              <a:rPr lang="en-US" err="1">
                <a:ea typeface="+mn-lt"/>
                <a:cs typeface="+mn-lt"/>
              </a:rPr>
              <a:t>funcționeaza</a:t>
            </a:r>
            <a:r>
              <a:rPr lang="en-US">
                <a:ea typeface="+mn-lt"/>
                <a:cs typeface="+mn-lt"/>
              </a:rPr>
              <a:t>:</a:t>
            </a: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primul</a:t>
            </a:r>
            <a:r>
              <a:rPr lang="en-US">
                <a:ea typeface="+mn-lt"/>
                <a:cs typeface="+mn-lt"/>
              </a:rPr>
              <a:t> pas, </a:t>
            </a:r>
            <a:r>
              <a:rPr lang="en-US" err="1">
                <a:ea typeface="+mn-lt"/>
                <a:cs typeface="+mn-lt"/>
              </a:rPr>
              <a:t>textul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împarte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blocuri</a:t>
            </a:r>
            <a:r>
              <a:rPr lang="en-US">
                <a:ea typeface="+mn-lt"/>
                <a:cs typeface="+mn-lt"/>
              </a:rPr>
              <a:t> de 64 de </a:t>
            </a:r>
            <a:r>
              <a:rPr lang="en-US" err="1">
                <a:ea typeface="+mn-lt"/>
                <a:cs typeface="+mn-lt"/>
              </a:rPr>
              <a:t>biți</a:t>
            </a:r>
            <a:r>
              <a:rPr lang="en-US">
                <a:ea typeface="+mn-lt"/>
                <a:cs typeface="+mn-lt"/>
              </a:rPr>
              <a:t> care sunt predate </a:t>
            </a:r>
            <a:r>
              <a:rPr lang="en-US" err="1">
                <a:ea typeface="+mn-lt"/>
                <a:cs typeface="+mn-lt"/>
              </a:rPr>
              <a:t>unei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funcții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inițiale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permutare</a:t>
            </a:r>
            <a:r>
              <a:rPr lang="en-US">
                <a:ea typeface="+mn-lt"/>
                <a:cs typeface="+mn-lt"/>
              </a:rPr>
              <a:t> (IP).</a:t>
            </a: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err="1">
                <a:ea typeface="+mn-lt"/>
                <a:cs typeface="+mn-lt"/>
              </a:rPr>
              <a:t>Permutarea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inițială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efectuată</a:t>
            </a:r>
            <a:r>
              <a:rPr lang="en-US">
                <a:ea typeface="+mn-lt"/>
                <a:cs typeface="+mn-lt"/>
              </a:rPr>
              <a:t> pe text </a:t>
            </a:r>
            <a:r>
              <a:rPr lang="en-US" err="1">
                <a:ea typeface="+mn-lt"/>
                <a:cs typeface="+mn-lt"/>
              </a:rPr>
              <a:t>simplu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Apoi, </a:t>
            </a:r>
            <a:r>
              <a:rPr lang="en-US" err="1">
                <a:ea typeface="+mn-lt"/>
                <a:cs typeface="+mn-lt"/>
              </a:rPr>
              <a:t>permutarea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inițială</a:t>
            </a:r>
            <a:r>
              <a:rPr lang="en-US">
                <a:ea typeface="+mn-lt"/>
                <a:cs typeface="+mn-lt"/>
              </a:rPr>
              <a:t> (IP) produce </a:t>
            </a:r>
            <a:r>
              <a:rPr lang="en-US" err="1">
                <a:ea typeface="+mn-lt"/>
                <a:cs typeface="+mn-lt"/>
              </a:rPr>
              <a:t>două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jumătăți</a:t>
            </a:r>
            <a:r>
              <a:rPr lang="en-US">
                <a:ea typeface="+mn-lt"/>
                <a:cs typeface="+mn-lt"/>
              </a:rPr>
              <a:t> ale </a:t>
            </a:r>
            <a:r>
              <a:rPr lang="en-US" err="1">
                <a:ea typeface="+mn-lt"/>
                <a:cs typeface="+mn-lt"/>
              </a:rPr>
              <a:t>blocului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permutat</a:t>
            </a:r>
            <a:r>
              <a:rPr lang="en-US">
                <a:ea typeface="+mn-lt"/>
                <a:cs typeface="+mn-lt"/>
              </a:rPr>
              <a:t>; </a:t>
            </a:r>
            <a:r>
              <a:rPr lang="en-US" err="1">
                <a:ea typeface="+mn-lt"/>
                <a:cs typeface="+mn-lt"/>
              </a:rPr>
              <a:t>spunând</a:t>
            </a:r>
            <a:r>
              <a:rPr lang="en-US">
                <a:ea typeface="+mn-lt"/>
                <a:cs typeface="+mn-lt"/>
              </a:rPr>
              <a:t> text </a:t>
            </a:r>
            <a:r>
              <a:rPr lang="en-US" err="1">
                <a:ea typeface="+mn-lt"/>
                <a:cs typeface="+mn-lt"/>
              </a:rPr>
              <a:t>simplu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stânga</a:t>
            </a:r>
            <a:r>
              <a:rPr lang="en-US">
                <a:ea typeface="+mn-lt"/>
                <a:cs typeface="+mn-lt"/>
              </a:rPr>
              <a:t> (LPT)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text </a:t>
            </a:r>
            <a:r>
              <a:rPr lang="en-US" err="1">
                <a:ea typeface="+mn-lt"/>
                <a:cs typeface="+mn-lt"/>
              </a:rPr>
              <a:t>simplu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drept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dreapta</a:t>
            </a:r>
            <a:r>
              <a:rPr lang="en-US">
                <a:ea typeface="+mn-lt"/>
                <a:cs typeface="+mn-lt"/>
              </a:rPr>
              <a:t> (RPT).</a:t>
            </a: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err="1">
                <a:ea typeface="+mn-lt"/>
                <a:cs typeface="+mn-lt"/>
              </a:rPr>
              <a:t>Acum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fiecare</a:t>
            </a:r>
            <a:r>
              <a:rPr lang="en-US">
                <a:ea typeface="+mn-lt"/>
                <a:cs typeface="+mn-lt"/>
              </a:rPr>
              <a:t> LPT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RPT </a:t>
            </a:r>
            <a:r>
              <a:rPr lang="en-US" err="1">
                <a:ea typeface="+mn-lt"/>
                <a:cs typeface="+mn-lt"/>
              </a:rPr>
              <a:t>trec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prin</a:t>
            </a:r>
            <a:r>
              <a:rPr lang="en-US">
                <a:ea typeface="+mn-lt"/>
                <a:cs typeface="+mn-lt"/>
              </a:rPr>
              <a:t> 16 </a:t>
            </a:r>
            <a:r>
              <a:rPr lang="en-US" err="1">
                <a:ea typeface="+mn-lt"/>
                <a:cs typeface="+mn-lt"/>
              </a:rPr>
              <a:t>runde</a:t>
            </a:r>
            <a:r>
              <a:rPr lang="en-US">
                <a:ea typeface="+mn-lt"/>
                <a:cs typeface="+mn-lt"/>
              </a:rPr>
              <a:t> ale </a:t>
            </a:r>
            <a:r>
              <a:rPr lang="en-US" err="1">
                <a:ea typeface="+mn-lt"/>
                <a:cs typeface="+mn-lt"/>
              </a:rPr>
              <a:t>procesului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criptare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cele</a:t>
            </a:r>
            <a:r>
              <a:rPr lang="en-US">
                <a:ea typeface="+mn-lt"/>
                <a:cs typeface="+mn-lt"/>
              </a:rPr>
              <a:t> din </a:t>
            </a:r>
            <a:r>
              <a:rPr lang="en-US" err="1">
                <a:ea typeface="+mn-lt"/>
                <a:cs typeface="+mn-lt"/>
              </a:rPr>
              <a:t>urmă</a:t>
            </a:r>
            <a:r>
              <a:rPr lang="en-US">
                <a:ea typeface="+mn-lt"/>
                <a:cs typeface="+mn-lt"/>
              </a:rPr>
              <a:t>, LPT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RPT sunt reunite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efectuează</a:t>
            </a:r>
            <a:r>
              <a:rPr lang="en-US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Permutare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Finală</a:t>
            </a:r>
            <a:r>
              <a:rPr lang="en-US">
                <a:ea typeface="+mn-lt"/>
                <a:cs typeface="+mn-lt"/>
              </a:rPr>
              <a:t> (FP) pe </a:t>
            </a:r>
            <a:r>
              <a:rPr lang="en-US" err="1">
                <a:ea typeface="+mn-lt"/>
                <a:cs typeface="+mn-lt"/>
              </a:rPr>
              <a:t>blocul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combinat</a:t>
            </a: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err="1">
                <a:ea typeface="+mn-lt"/>
                <a:cs typeface="+mn-lt"/>
              </a:rPr>
              <a:t>Rezultatul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acestui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proces</a:t>
            </a:r>
            <a:r>
              <a:rPr lang="en-US">
                <a:ea typeface="+mn-lt"/>
                <a:cs typeface="+mn-lt"/>
              </a:rPr>
              <a:t> produce text </a:t>
            </a:r>
            <a:r>
              <a:rPr lang="en-US" err="1">
                <a:ea typeface="+mn-lt"/>
                <a:cs typeface="+mn-lt"/>
              </a:rPr>
              <a:t>cifrat</a:t>
            </a:r>
            <a:r>
              <a:rPr lang="en-US">
                <a:ea typeface="+mn-lt"/>
                <a:cs typeface="+mn-lt"/>
              </a:rPr>
              <a:t> pe 64 de </a:t>
            </a:r>
            <a:r>
              <a:rPr lang="en-US" err="1">
                <a:ea typeface="+mn-lt"/>
                <a:cs typeface="+mn-lt"/>
              </a:rPr>
              <a:t>biți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>
                <a:cs typeface="Arial" panose="020B0604020202020204"/>
              </a:rPr>
              <a:t>Se </a:t>
            </a:r>
            <a:r>
              <a:rPr lang="en-US" err="1">
                <a:cs typeface="Arial" panose="020B0604020202020204"/>
              </a:rPr>
              <a:t>unesc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bucățile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pentru</a:t>
            </a:r>
            <a:r>
              <a:rPr lang="en-US">
                <a:cs typeface="Arial" panose="020B0604020202020204"/>
              </a:rPr>
              <a:t> a </a:t>
            </a:r>
            <a:r>
              <a:rPr lang="en-US" err="1">
                <a:cs typeface="Arial" panose="020B0604020202020204"/>
              </a:rPr>
              <a:t>putea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crea</a:t>
            </a:r>
            <a:r>
              <a:rPr lang="en-US">
                <a:cs typeface="Arial" panose="020B0604020202020204"/>
              </a:rPr>
              <a:t> un text </a:t>
            </a:r>
            <a:r>
              <a:rPr lang="en-US" err="1">
                <a:cs typeface="Arial" panose="020B0604020202020204"/>
              </a:rPr>
              <a:t>continuu</a:t>
            </a:r>
            <a:endParaRPr lang="en-US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881619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7D64-F100-A71C-5457-4164421F1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cs typeface="Arial"/>
              </a:rPr>
              <a:t>DES (</a:t>
            </a:r>
            <a:r>
              <a:rPr lang="en-US">
                <a:ea typeface="+mj-lt"/>
                <a:cs typeface="+mj-lt"/>
              </a:rPr>
              <a:t>Data Encryption Standard)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302A6-A3EC-CA2D-89B3-78738E1F5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886863"/>
            <a:ext cx="7796540" cy="4447683"/>
          </a:xfrm>
        </p:spPr>
        <p:txBody>
          <a:bodyPr>
            <a:normAutofit fontScale="92500" lnSpcReduction="10000"/>
          </a:bodyPr>
          <a:lstStyle/>
          <a:p>
            <a:pPr marL="344170" indent="-337820"/>
            <a:r>
              <a:rPr lang="en-US">
                <a:cs typeface="Arial" panose="020B0604020202020204"/>
              </a:rPr>
              <a:t>Cele 16 </a:t>
            </a:r>
            <a:r>
              <a:rPr lang="en-US" err="1">
                <a:cs typeface="Arial" panose="020B0604020202020204"/>
              </a:rPr>
              <a:t>runde</a:t>
            </a:r>
            <a:r>
              <a:rPr lang="en-US">
                <a:cs typeface="Arial" panose="020B0604020202020204"/>
              </a:rPr>
              <a:t> de </a:t>
            </a:r>
            <a:r>
              <a:rPr lang="en-US" err="1">
                <a:cs typeface="Arial" panose="020B0604020202020204"/>
              </a:rPr>
              <a:t>criptare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presupun</a:t>
            </a:r>
            <a:r>
              <a:rPr lang="en-US">
                <a:cs typeface="Arial" panose="020B0604020202020204"/>
              </a:rPr>
              <a:t>:</a:t>
            </a:r>
          </a:p>
          <a:p>
            <a:pPr marL="795020" lvl="1" indent="-337820"/>
            <a:r>
              <a:rPr lang="en-US" err="1">
                <a:ea typeface="+mn-lt"/>
                <a:cs typeface="+mn-lt"/>
              </a:rPr>
              <a:t>Jumătatea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dreaptă</a:t>
            </a:r>
            <a:r>
              <a:rPr lang="en-US">
                <a:ea typeface="+mn-lt"/>
                <a:cs typeface="+mn-lt"/>
              </a:rPr>
              <a:t> se </a:t>
            </a:r>
            <a:r>
              <a:rPr lang="en-US" err="1">
                <a:ea typeface="+mn-lt"/>
                <a:cs typeface="+mn-lt"/>
              </a:rPr>
              <a:t>transformată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printr</a:t>
            </a:r>
            <a:r>
              <a:rPr lang="en-US">
                <a:ea typeface="+mn-lt"/>
                <a:cs typeface="+mn-lt"/>
              </a:rPr>
              <a:t>-o </a:t>
            </a:r>
            <a:r>
              <a:rPr lang="en-US" err="1">
                <a:ea typeface="+mn-lt"/>
                <a:cs typeface="+mn-lt"/>
              </a:rPr>
              <a:t>serie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pași</a:t>
            </a:r>
            <a:r>
              <a:rPr lang="en-US">
                <a:ea typeface="+mn-lt"/>
                <a:cs typeface="+mn-lt"/>
              </a:rPr>
              <a:t> care </a:t>
            </a:r>
            <a:r>
              <a:rPr lang="en-US" err="1">
                <a:ea typeface="+mn-lt"/>
                <a:cs typeface="+mn-lt"/>
              </a:rPr>
              <a:t>includ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amestecarea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modificarea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unor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biți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 panose="020B0604020202020204"/>
            </a:endParaRPr>
          </a:p>
          <a:p>
            <a:pPr marL="795020" lvl="1" indent="-337820"/>
            <a:r>
              <a:rPr lang="en-US" err="1">
                <a:ea typeface="+mn-lt"/>
                <a:cs typeface="+mn-lt"/>
              </a:rPr>
              <a:t>Jumătatea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dreaptă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extinsă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combinată</a:t>
            </a:r>
            <a:r>
              <a:rPr lang="en-US">
                <a:ea typeface="+mn-lt"/>
                <a:cs typeface="+mn-lt"/>
              </a:rPr>
              <a:t> cu o </a:t>
            </a:r>
            <a:r>
              <a:rPr lang="en-US" err="1">
                <a:ea typeface="+mn-lt"/>
                <a:cs typeface="+mn-lt"/>
              </a:rPr>
              <a:t>parte</a:t>
            </a:r>
            <a:r>
              <a:rPr lang="en-US">
                <a:ea typeface="+mn-lt"/>
                <a:cs typeface="+mn-lt"/>
              </a:rPr>
              <a:t> din </a:t>
            </a:r>
            <a:r>
              <a:rPr lang="en-US" err="1">
                <a:ea typeface="+mn-lt"/>
                <a:cs typeface="+mn-lt"/>
              </a:rPr>
              <a:t>cheie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specifică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rundei</a:t>
            </a:r>
            <a:r>
              <a:rPr lang="en-US">
                <a:ea typeface="+mn-lt"/>
                <a:cs typeface="+mn-lt"/>
              </a:rPr>
              <a:t> respective. (care se </a:t>
            </a:r>
            <a:r>
              <a:rPr lang="en-US" err="1">
                <a:ea typeface="+mn-lt"/>
                <a:cs typeface="+mn-lt"/>
              </a:rPr>
              <a:t>află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permutarea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shiftarea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cheii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principale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procese</a:t>
            </a:r>
            <a:r>
              <a:rPr lang="en-US">
                <a:ea typeface="+mn-lt"/>
                <a:cs typeface="+mn-lt"/>
              </a:rPr>
              <a:t> definite)</a:t>
            </a:r>
            <a:endParaRPr lang="en-US">
              <a:cs typeface="Arial"/>
            </a:endParaRPr>
          </a:p>
          <a:p>
            <a:pPr marL="795020" lvl="1" indent="-337820"/>
            <a:r>
              <a:rPr lang="en-US">
                <a:ea typeface="+mn-lt"/>
                <a:cs typeface="+mn-lt"/>
              </a:rPr>
              <a:t>Se </a:t>
            </a:r>
            <a:r>
              <a:rPr lang="en-US" err="1">
                <a:ea typeface="+mn-lt"/>
                <a:cs typeface="+mn-lt"/>
              </a:rPr>
              <a:t>aplică</a:t>
            </a:r>
            <a:r>
              <a:rPr lang="en-US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serie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substituții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transforma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datele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într</a:t>
            </a:r>
            <a:r>
              <a:rPr lang="en-US">
                <a:ea typeface="+mn-lt"/>
                <a:cs typeface="+mn-lt"/>
              </a:rPr>
              <a:t>-un mod </a:t>
            </a:r>
            <a:r>
              <a:rPr lang="en-US" err="1">
                <a:ea typeface="+mn-lt"/>
                <a:cs typeface="+mn-lt"/>
              </a:rPr>
              <a:t>greu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anticipat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  <a:p>
            <a:pPr marL="795020" lvl="1" indent="-337820"/>
            <a:r>
              <a:rPr lang="en-US" err="1">
                <a:ea typeface="+mn-lt"/>
                <a:cs typeface="+mn-lt"/>
              </a:rPr>
              <a:t>Jumătatea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stângă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dreaptă</a:t>
            </a:r>
            <a:r>
              <a:rPr lang="en-US">
                <a:ea typeface="+mn-lt"/>
                <a:cs typeface="+mn-lt"/>
              </a:rPr>
              <a:t> sunt </a:t>
            </a:r>
            <a:r>
              <a:rPr lang="en-US" err="1">
                <a:ea typeface="+mn-lt"/>
                <a:cs typeface="+mn-lt"/>
              </a:rPr>
              <a:t>apoi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schimbate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între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ele</a:t>
            </a:r>
            <a:r>
              <a:rPr lang="en-US">
                <a:ea typeface="+mn-lt"/>
                <a:cs typeface="+mn-lt"/>
              </a:rPr>
              <a:t> la </a:t>
            </a:r>
            <a:r>
              <a:rPr lang="en-US" err="1">
                <a:ea typeface="+mn-lt"/>
                <a:cs typeface="+mn-lt"/>
              </a:rPr>
              <a:t>finalul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fiecărei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runde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adăugând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mai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multă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complexitate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344170" indent="-337820"/>
            <a:r>
              <a:rPr lang="en-US" err="1">
                <a:cs typeface="Arial"/>
              </a:rPr>
              <a:t>Pentru</a:t>
            </a:r>
            <a:r>
              <a:rPr lang="en-US">
                <a:cs typeface="Arial"/>
              </a:rPr>
              <a:t> a </a:t>
            </a:r>
            <a:r>
              <a:rPr lang="en-US" err="1">
                <a:cs typeface="Arial"/>
              </a:rPr>
              <a:t>decripta</a:t>
            </a:r>
            <a:r>
              <a:rPr lang="en-US">
                <a:cs typeface="Arial"/>
              </a:rPr>
              <a:t> un text </a:t>
            </a:r>
            <a:r>
              <a:rPr lang="en-US" err="1">
                <a:cs typeface="Arial"/>
              </a:rPr>
              <a:t>cifrat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este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nevoie</a:t>
            </a:r>
            <a:r>
              <a:rPr lang="en-US">
                <a:cs typeface="Arial"/>
              </a:rPr>
              <a:t> de a </a:t>
            </a:r>
            <a:r>
              <a:rPr lang="en-US" err="1">
                <a:cs typeface="Arial"/>
              </a:rPr>
              <a:t>aplica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toate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procesele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în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sens</a:t>
            </a:r>
            <a:r>
              <a:rPr lang="en-US">
                <a:cs typeface="Arial"/>
              </a:rPr>
              <a:t> invers</a:t>
            </a:r>
          </a:p>
        </p:txBody>
      </p:sp>
    </p:spTree>
    <p:extLst>
      <p:ext uri="{BB962C8B-B14F-4D97-AF65-F5344CB8AC3E}">
        <p14:creationId xmlns:p14="http://schemas.microsoft.com/office/powerpoint/2010/main" val="38666974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5876-0435-94FC-4D84-E6334F9A1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873" y="2005946"/>
            <a:ext cx="7956560" cy="1424746"/>
          </a:xfrm>
        </p:spPr>
        <p:txBody>
          <a:bodyPr/>
          <a:lstStyle/>
          <a:p>
            <a:r>
              <a:rPr lang="en-US">
                <a:cs typeface="Arial"/>
              </a:rPr>
              <a:t>De </a:t>
            </a:r>
            <a:r>
              <a:rPr lang="en-US" err="1">
                <a:cs typeface="Arial"/>
              </a:rPr>
              <a:t>ce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este</a:t>
            </a:r>
            <a:r>
              <a:rPr lang="en-US">
                <a:cs typeface="Arial"/>
              </a:rPr>
              <a:t> DES-</a:t>
            </a:r>
            <a:r>
              <a:rPr lang="en-US" err="1">
                <a:cs typeface="Arial"/>
              </a:rPr>
              <a:t>ul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astăzi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depreciat</a:t>
            </a:r>
            <a:r>
              <a:rPr lang="en-US">
                <a:cs typeface="Arial"/>
              </a:rPr>
              <a:t>?</a:t>
            </a:r>
            <a:br>
              <a:rPr lang="en-US">
                <a:cs typeface="Arial"/>
              </a:rPr>
            </a:br>
            <a:r>
              <a:rPr lang="en-US" err="1">
                <a:cs typeface="Arial"/>
              </a:rPr>
              <a:t>Așa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periculos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este</a:t>
            </a:r>
            <a:r>
              <a:rPr lang="en-US">
                <a:cs typeface="Arial"/>
              </a:rPr>
              <a:t>?</a:t>
            </a:r>
            <a:r>
              <a:rPr lang="en-US"/>
              <a:t/>
            </a:r>
            <a:br>
              <a:rPr lang="en-US"/>
            </a:br>
            <a:r>
              <a:rPr lang="en-US">
                <a:cs typeface="Arial"/>
              </a:rPr>
              <a:t>Cum </a:t>
            </a:r>
            <a:r>
              <a:rPr lang="en-US" err="1">
                <a:cs typeface="Arial"/>
              </a:rPr>
              <a:t>îl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putem</a:t>
            </a:r>
            <a:r>
              <a:rPr lang="en-US">
                <a:cs typeface="Arial"/>
              </a:rPr>
              <a:t> face </a:t>
            </a:r>
            <a:r>
              <a:rPr lang="en-US" err="1">
                <a:cs typeface="Arial"/>
              </a:rPr>
              <a:t>mai</a:t>
            </a:r>
            <a:r>
              <a:rPr lang="en-US">
                <a:cs typeface="Arial"/>
              </a:rPr>
              <a:t> bine?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F6367-FF1A-CB80-9154-B95160C8E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83994" y="832003"/>
            <a:ext cx="7791931" cy="878468"/>
          </a:xfrm>
        </p:spPr>
        <p:txBody>
          <a:bodyPr/>
          <a:lstStyle/>
          <a:p>
            <a:r>
              <a:rPr lang="en-US">
                <a:cs typeface="Arial"/>
              </a:rPr>
              <a:t>DES-</a:t>
            </a:r>
            <a:r>
              <a:rPr lang="en-US" err="1">
                <a:cs typeface="Arial"/>
              </a:rPr>
              <a:t>ul</a:t>
            </a:r>
            <a:r>
              <a:rPr lang="en-US">
                <a:cs typeface="Arial"/>
              </a:rPr>
              <a:t> nu se </a:t>
            </a:r>
            <a:r>
              <a:rPr lang="en-US" err="1">
                <a:cs typeface="Arial"/>
              </a:rPr>
              <a:t>mai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folosește</a:t>
            </a:r>
            <a:r>
              <a:rPr lang="en-US">
                <a:cs typeface="Arial"/>
              </a:rPr>
              <a:t> din 2005</a:t>
            </a:r>
            <a:endParaRPr lang="en-US" err="1"/>
          </a:p>
        </p:txBody>
      </p:sp>
      <p:pic>
        <p:nvPicPr>
          <p:cNvPr id="4" name="Picture 3" descr="A black and white rectangular box with white text&#10;&#10;Description automatically generated">
            <a:extLst>
              <a:ext uri="{FF2B5EF4-FFF2-40B4-BE49-F238E27FC236}">
                <a16:creationId xmlns:a16="http://schemas.microsoft.com/office/drawing/2014/main" id="{B5DFC07A-5AF2-0DD9-E1A5-4271C5E7B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229" y="3847098"/>
            <a:ext cx="7425489" cy="253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3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7D64-F100-A71C-5457-4164421F1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567424"/>
            <a:ext cx="7958331" cy="10772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cs typeface="Arial"/>
              </a:rPr>
              <a:t>Triple-DES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302A6-A3EC-CA2D-89B3-78738E1F5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652" y="1716416"/>
            <a:ext cx="6613435" cy="4447683"/>
          </a:xfrm>
        </p:spPr>
        <p:txBody>
          <a:bodyPr>
            <a:normAutofit lnSpcReduction="10000"/>
          </a:bodyPr>
          <a:lstStyle/>
          <a:p>
            <a:pPr marL="344170" indent="-337820"/>
            <a:r>
              <a:rPr lang="en-US">
                <a:cs typeface="Arial" panose="020B0604020202020204"/>
              </a:rPr>
              <a:t>Triple-DES </a:t>
            </a:r>
            <a:r>
              <a:rPr lang="en-US" err="1">
                <a:cs typeface="Arial" panose="020B0604020202020204"/>
              </a:rPr>
              <a:t>folosește</a:t>
            </a:r>
            <a:r>
              <a:rPr lang="en-US">
                <a:cs typeface="Arial" panose="020B0604020202020204"/>
              </a:rPr>
              <a:t> 3 </a:t>
            </a:r>
            <a:r>
              <a:rPr lang="en-US" err="1">
                <a:cs typeface="Arial" panose="020B0604020202020204"/>
              </a:rPr>
              <a:t>chei</a:t>
            </a:r>
            <a:r>
              <a:rPr lang="en-US">
                <a:cs typeface="Arial" panose="020B0604020202020204"/>
              </a:rPr>
              <a:t> de 64 de </a:t>
            </a:r>
            <a:r>
              <a:rPr lang="en-US" err="1">
                <a:cs typeface="Arial" panose="020B0604020202020204"/>
              </a:rPr>
              <a:t>biți</a:t>
            </a:r>
            <a:r>
              <a:rPr lang="en-US">
                <a:cs typeface="Arial" panose="020B0604020202020204"/>
              </a:rPr>
              <a:t> (56 </a:t>
            </a:r>
            <a:r>
              <a:rPr lang="en-US" err="1">
                <a:cs typeface="Arial" panose="020B0604020202020204"/>
              </a:rPr>
              <a:t>biți</a:t>
            </a:r>
            <a:r>
              <a:rPr lang="en-US">
                <a:cs typeface="Arial" panose="020B0604020202020204"/>
              </a:rPr>
              <a:t>)</a:t>
            </a:r>
          </a:p>
          <a:p>
            <a:pPr marL="344170" indent="-337820"/>
            <a:r>
              <a:rPr lang="en-US">
                <a:cs typeface="Arial" panose="020B0604020202020204"/>
              </a:rPr>
              <a:t>Se </a:t>
            </a:r>
            <a:r>
              <a:rPr lang="en-US" err="1">
                <a:cs typeface="Arial" panose="020B0604020202020204"/>
              </a:rPr>
              <a:t>ia</a:t>
            </a:r>
            <a:r>
              <a:rPr lang="en-US">
                <a:cs typeface="Arial" panose="020B0604020202020204"/>
              </a:rPr>
              <a:t> PLAINTEXTUL, se </a:t>
            </a:r>
            <a:r>
              <a:rPr lang="en-US" err="1">
                <a:cs typeface="Arial" panose="020B0604020202020204"/>
              </a:rPr>
              <a:t>encriptează</a:t>
            </a:r>
            <a:r>
              <a:rPr lang="en-US">
                <a:cs typeface="Arial" panose="020B0604020202020204"/>
              </a:rPr>
              <a:t> DES cu CHEIA 1, se </a:t>
            </a:r>
            <a:r>
              <a:rPr lang="en-US" err="1">
                <a:cs typeface="Arial" panose="020B0604020202020204"/>
              </a:rPr>
              <a:t>decryptează</a:t>
            </a:r>
            <a:r>
              <a:rPr lang="en-US">
                <a:cs typeface="Arial" panose="020B0604020202020204"/>
              </a:rPr>
              <a:t> DES cu </a:t>
            </a:r>
            <a:r>
              <a:rPr lang="en-US" err="1">
                <a:cs typeface="Arial" panose="020B0604020202020204"/>
              </a:rPr>
              <a:t>cheia</a:t>
            </a:r>
            <a:r>
              <a:rPr lang="en-US">
                <a:cs typeface="Arial" panose="020B0604020202020204"/>
              </a:rPr>
              <a:t> 2(!! Se </a:t>
            </a:r>
            <a:r>
              <a:rPr lang="en-US" err="1">
                <a:cs typeface="Arial" panose="020B0604020202020204"/>
              </a:rPr>
              <a:t>ajunge</a:t>
            </a:r>
            <a:r>
              <a:rPr lang="en-US">
                <a:cs typeface="Arial" panose="020B0604020202020204"/>
              </a:rPr>
              <a:t> la un </a:t>
            </a:r>
            <a:r>
              <a:rPr lang="en-US" err="1">
                <a:cs typeface="Arial" panose="020B0604020202020204"/>
              </a:rPr>
              <a:t>mesaj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neinteligibil</a:t>
            </a:r>
            <a:r>
              <a:rPr lang="en-US">
                <a:cs typeface="Arial" panose="020B0604020202020204"/>
              </a:rPr>
              <a:t>) </a:t>
            </a:r>
            <a:r>
              <a:rPr lang="en-US" err="1">
                <a:cs typeface="Arial" panose="020B0604020202020204"/>
              </a:rPr>
              <a:t>și</a:t>
            </a:r>
            <a:r>
              <a:rPr lang="en-US">
                <a:cs typeface="Arial" panose="020B0604020202020204"/>
              </a:rPr>
              <a:t> se </a:t>
            </a:r>
            <a:r>
              <a:rPr lang="en-US" err="1">
                <a:cs typeface="Arial" panose="020B0604020202020204"/>
              </a:rPr>
              <a:t>encriptează</a:t>
            </a:r>
            <a:r>
              <a:rPr lang="en-US">
                <a:cs typeface="Arial" panose="020B0604020202020204"/>
              </a:rPr>
              <a:t> a 3-a </a:t>
            </a:r>
            <a:r>
              <a:rPr lang="en-US" err="1">
                <a:cs typeface="Arial" panose="020B0604020202020204"/>
              </a:rPr>
              <a:t>oară</a:t>
            </a:r>
            <a:r>
              <a:rPr lang="en-US">
                <a:cs typeface="Arial" panose="020B0604020202020204"/>
              </a:rPr>
              <a:t> DES cu </a:t>
            </a:r>
            <a:r>
              <a:rPr lang="en-US" err="1">
                <a:cs typeface="Arial" panose="020B0604020202020204"/>
              </a:rPr>
              <a:t>cheia</a:t>
            </a:r>
            <a:r>
              <a:rPr lang="en-US">
                <a:cs typeface="Arial" panose="020B0604020202020204"/>
              </a:rPr>
              <a:t> 3, </a:t>
            </a:r>
            <a:r>
              <a:rPr lang="en-US" err="1">
                <a:cs typeface="Arial" panose="020B0604020202020204"/>
              </a:rPr>
              <a:t>astfel</a:t>
            </a:r>
            <a:r>
              <a:rPr lang="en-US">
                <a:cs typeface="Arial" panose="020B0604020202020204"/>
              </a:rPr>
              <a:t> de </a:t>
            </a:r>
            <a:r>
              <a:rPr lang="en-US" err="1">
                <a:cs typeface="Arial" panose="020B0604020202020204"/>
              </a:rPr>
              <a:t>obține</a:t>
            </a:r>
            <a:r>
              <a:rPr lang="en-US">
                <a:cs typeface="Arial" panose="020B0604020202020204"/>
              </a:rPr>
              <a:t> un </a:t>
            </a:r>
            <a:r>
              <a:rPr lang="en-US" err="1">
                <a:cs typeface="Arial" panose="020B0604020202020204"/>
              </a:rPr>
              <a:t>proces</a:t>
            </a:r>
            <a:r>
              <a:rPr lang="en-US">
                <a:cs typeface="Arial" panose="020B0604020202020204"/>
              </a:rPr>
              <a:t> EDE. </a:t>
            </a:r>
            <a:r>
              <a:rPr lang="en-US" err="1">
                <a:cs typeface="Arial" panose="020B0604020202020204"/>
              </a:rPr>
              <a:t>Acesta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poate</a:t>
            </a:r>
            <a:r>
              <a:rPr lang="en-US">
                <a:cs typeface="Arial" panose="020B0604020202020204"/>
              </a:rPr>
              <a:t> fi la </a:t>
            </a:r>
            <a:r>
              <a:rPr lang="en-US" err="1">
                <a:cs typeface="Arial" panose="020B0604020202020204"/>
              </a:rPr>
              <a:t>fel</a:t>
            </a:r>
            <a:r>
              <a:rPr lang="en-US">
                <a:cs typeface="Arial" panose="020B0604020202020204"/>
              </a:rPr>
              <a:t> de bine </a:t>
            </a:r>
            <a:r>
              <a:rPr lang="en-US" err="1">
                <a:cs typeface="Arial" panose="020B0604020202020204"/>
              </a:rPr>
              <a:t>și</a:t>
            </a:r>
            <a:r>
              <a:rPr lang="en-US">
                <a:cs typeface="Arial" panose="020B0604020202020204"/>
              </a:rPr>
              <a:t> DED.</a:t>
            </a:r>
          </a:p>
          <a:p>
            <a:pPr marL="344170" indent="-337820"/>
            <a:r>
              <a:rPr lang="en-US" err="1">
                <a:cs typeface="Arial" panose="020B0604020202020204"/>
              </a:rPr>
              <a:t>Astfel</a:t>
            </a:r>
            <a:r>
              <a:rPr lang="en-US">
                <a:cs typeface="Arial" panose="020B0604020202020204"/>
              </a:rPr>
              <a:t>, </a:t>
            </a:r>
            <a:r>
              <a:rPr lang="en-US" err="1">
                <a:cs typeface="Arial" panose="020B0604020202020204"/>
              </a:rPr>
              <a:t>numărul</a:t>
            </a:r>
            <a:r>
              <a:rPr lang="en-US">
                <a:cs typeface="Arial" panose="020B0604020202020204"/>
              </a:rPr>
              <a:t> maxim de </a:t>
            </a:r>
            <a:r>
              <a:rPr lang="en-US" err="1">
                <a:cs typeface="Arial" panose="020B0604020202020204"/>
              </a:rPr>
              <a:t>chei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crește</a:t>
            </a:r>
            <a:r>
              <a:rPr lang="en-US">
                <a:cs typeface="Arial" panose="020B0604020202020204"/>
              </a:rPr>
              <a:t> de la 2</a:t>
            </a:r>
            <a:r>
              <a:rPr lang="en-US" baseline="30000">
                <a:cs typeface="Arial" panose="020B0604020202020204"/>
              </a:rPr>
              <a:t>56 </a:t>
            </a:r>
            <a:r>
              <a:rPr lang="en-US">
                <a:cs typeface="Arial" panose="020B0604020202020204"/>
              </a:rPr>
              <a:t>la 2</a:t>
            </a:r>
            <a:r>
              <a:rPr lang="en-US" baseline="30000">
                <a:cs typeface="Arial" panose="020B0604020202020204"/>
              </a:rPr>
              <a:t>168 </a:t>
            </a:r>
            <a:r>
              <a:rPr lang="en-US">
                <a:cs typeface="Arial" panose="020B0604020202020204"/>
              </a:rPr>
              <a:t>(</a:t>
            </a:r>
            <a:r>
              <a:rPr lang="en-US" err="1">
                <a:cs typeface="Arial" panose="020B0604020202020204"/>
              </a:rPr>
              <a:t>în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cazuri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speciale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poate</a:t>
            </a:r>
            <a:r>
              <a:rPr lang="en-US">
                <a:cs typeface="Arial" panose="020B0604020202020204"/>
              </a:rPr>
              <a:t> varia </a:t>
            </a:r>
            <a:r>
              <a:rPr lang="en-US" err="1">
                <a:cs typeface="Arial" panose="020B0604020202020204"/>
              </a:rPr>
              <a:t>lungimea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cheii</a:t>
            </a:r>
            <a:r>
              <a:rPr lang="en-US">
                <a:cs typeface="Arial" panose="020B0604020202020204"/>
              </a:rPr>
              <a:t>, </a:t>
            </a:r>
            <a:r>
              <a:rPr lang="en-US" err="1">
                <a:cs typeface="Arial" panose="020B0604020202020204"/>
              </a:rPr>
              <a:t>în</a:t>
            </a:r>
            <a:r>
              <a:rPr lang="en-US">
                <a:cs typeface="Arial" panose="020B0604020202020204"/>
              </a:rPr>
              <a:t> general </a:t>
            </a:r>
            <a:r>
              <a:rPr lang="en-US" err="1">
                <a:cs typeface="Arial" panose="020B0604020202020204"/>
              </a:rPr>
              <a:t>având</a:t>
            </a:r>
            <a:r>
              <a:rPr lang="en-US">
                <a:cs typeface="Arial" panose="020B0604020202020204"/>
              </a:rPr>
              <a:t> 168 de </a:t>
            </a:r>
            <a:r>
              <a:rPr lang="en-US" err="1">
                <a:cs typeface="Arial" panose="020B0604020202020204"/>
              </a:rPr>
              <a:t>biți</a:t>
            </a:r>
            <a:r>
              <a:rPr lang="en-US">
                <a:cs typeface="Arial" panose="020B0604020202020204"/>
              </a:rPr>
              <a:t>)</a:t>
            </a:r>
          </a:p>
          <a:p>
            <a:pPr marL="344170" indent="-337820"/>
            <a:r>
              <a:rPr lang="en-US" err="1">
                <a:cs typeface="Arial" panose="020B0604020202020204"/>
              </a:rPr>
              <a:t>Începând</a:t>
            </a:r>
            <a:r>
              <a:rPr lang="en-US">
                <a:cs typeface="Arial" panose="020B0604020202020204"/>
              </a:rPr>
              <a:t> cu </a:t>
            </a:r>
            <a:r>
              <a:rPr lang="en-US" err="1">
                <a:cs typeface="Arial" panose="020B0604020202020204"/>
              </a:rPr>
              <a:t>anul</a:t>
            </a:r>
            <a:r>
              <a:rPr lang="en-US">
                <a:cs typeface="Arial" panose="020B0604020202020204"/>
              </a:rPr>
              <a:t> 2024 </a:t>
            </a:r>
            <a:r>
              <a:rPr lang="en-US" err="1">
                <a:cs typeface="Arial" panose="020B0604020202020204"/>
              </a:rPr>
              <a:t>și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acest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cifru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este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depreciat</a:t>
            </a:r>
            <a:r>
              <a:rPr lang="en-US">
                <a:cs typeface="Arial" panose="020B0604020202020204"/>
              </a:rPr>
              <a:t>, </a:t>
            </a:r>
            <a:r>
              <a:rPr lang="en-US" err="1">
                <a:cs typeface="Arial" panose="020B0604020202020204"/>
              </a:rPr>
              <a:t>dar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încă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utilizat</a:t>
            </a:r>
            <a:r>
              <a:rPr lang="en-US">
                <a:cs typeface="Arial" panose="020B0604020202020204"/>
              </a:rPr>
              <a:t> pe </a:t>
            </a:r>
            <a:r>
              <a:rPr lang="en-US" err="1">
                <a:cs typeface="Arial" panose="020B0604020202020204"/>
              </a:rPr>
              <a:t>scară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globală</a:t>
            </a:r>
            <a:endParaRPr lang="en-US">
              <a:cs typeface="Arial" panose="020B0604020202020204"/>
            </a:endParaRPr>
          </a:p>
        </p:txBody>
      </p:sp>
      <p:pic>
        <p:nvPicPr>
          <p:cNvPr id="4" name="Picture 3" descr="A diagram of a computer system&#10;&#10;Description automatically generated">
            <a:extLst>
              <a:ext uri="{FF2B5EF4-FFF2-40B4-BE49-F238E27FC236}">
                <a16:creationId xmlns:a16="http://schemas.microsoft.com/office/drawing/2014/main" id="{A7575B74-E75B-7575-3B64-381D9D261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314" y="1881438"/>
            <a:ext cx="2638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2183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7D64-F100-A71C-5457-4164421F1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err="1">
                <a:cs typeface="Arial"/>
              </a:rPr>
              <a:t>Unde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este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vulnerabil</a:t>
            </a:r>
            <a:r>
              <a:rPr lang="en-US">
                <a:cs typeface="Arial"/>
              </a:rPr>
              <a:t> Triple-DES?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302A6-A3EC-CA2D-89B3-78738E1F5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652" y="1716416"/>
            <a:ext cx="9751671" cy="4447683"/>
          </a:xfrm>
        </p:spPr>
        <p:txBody>
          <a:bodyPr>
            <a:normAutofit/>
          </a:bodyPr>
          <a:lstStyle/>
          <a:p>
            <a:pPr marL="344170" indent="-337820"/>
            <a:r>
              <a:rPr lang="en-US" sz="2400">
                <a:cs typeface="Arial" panose="020B0604020202020204"/>
              </a:rPr>
              <a:t>Se </a:t>
            </a:r>
            <a:r>
              <a:rPr lang="en-US" sz="2400" err="1">
                <a:cs typeface="Arial" panose="020B0604020202020204"/>
              </a:rPr>
              <a:t>poate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aplica</a:t>
            </a:r>
            <a:r>
              <a:rPr lang="en-US" sz="2400">
                <a:cs typeface="Arial" panose="020B0604020202020204"/>
              </a:rPr>
              <a:t> un </a:t>
            </a:r>
            <a:r>
              <a:rPr lang="en-US" sz="2400" err="1">
                <a:cs typeface="Arial" panose="020B0604020202020204"/>
              </a:rPr>
              <a:t>atac</a:t>
            </a:r>
            <a:r>
              <a:rPr lang="en-US" sz="2400">
                <a:cs typeface="Arial" panose="020B0604020202020204"/>
              </a:rPr>
              <a:t> Meet-in-the-middle care </a:t>
            </a:r>
            <a:r>
              <a:rPr lang="en-US" sz="2400" err="1">
                <a:cs typeface="Arial" panose="020B0604020202020204"/>
              </a:rPr>
              <a:t>scurtează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numărul</a:t>
            </a:r>
            <a:r>
              <a:rPr lang="en-US" sz="2400">
                <a:cs typeface="Arial" panose="020B0604020202020204"/>
              </a:rPr>
              <a:t> de </a:t>
            </a:r>
            <a:r>
              <a:rPr lang="en-US" sz="2400" err="1">
                <a:cs typeface="Arial" panose="020B0604020202020204"/>
              </a:rPr>
              <a:t>encriptări</a:t>
            </a:r>
            <a:r>
              <a:rPr lang="en-US" sz="2400">
                <a:cs typeface="Arial" panose="020B0604020202020204"/>
              </a:rPr>
              <a:t> la 2</a:t>
            </a:r>
            <a:r>
              <a:rPr lang="en-US" sz="2400" baseline="30000">
                <a:cs typeface="Arial" panose="020B0604020202020204"/>
              </a:rPr>
              <a:t>112</a:t>
            </a:r>
            <a:r>
              <a:rPr lang="en-US" sz="2400">
                <a:cs typeface="Arial" panose="020B0604020202020204"/>
              </a:rPr>
              <a:t> + 2</a:t>
            </a:r>
            <a:r>
              <a:rPr lang="en-US" sz="2400" baseline="30000">
                <a:cs typeface="Arial" panose="020B0604020202020204"/>
              </a:rPr>
              <a:t>56  </a:t>
            </a:r>
            <a:r>
              <a:rPr lang="en-US" sz="2400" err="1">
                <a:cs typeface="Arial" panose="020B0604020202020204"/>
              </a:rPr>
              <a:t>prin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precalcularea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tuturor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posibilităților</a:t>
            </a:r>
            <a:r>
              <a:rPr lang="en-US" sz="2400">
                <a:cs typeface="Arial" panose="020B0604020202020204"/>
              </a:rPr>
              <a:t> de </a:t>
            </a:r>
            <a:r>
              <a:rPr lang="en-US" sz="2400" err="1">
                <a:cs typeface="Arial" panose="020B0604020202020204"/>
              </a:rPr>
              <a:t>primele</a:t>
            </a:r>
            <a:r>
              <a:rPr lang="en-US" sz="2400">
                <a:cs typeface="Arial" panose="020B0604020202020204"/>
              </a:rPr>
              <a:t> 2 </a:t>
            </a:r>
            <a:r>
              <a:rPr lang="en-US" sz="2400" err="1">
                <a:cs typeface="Arial" panose="020B0604020202020204"/>
              </a:rPr>
              <a:t>chei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și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salvarea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fiecărui</a:t>
            </a:r>
            <a:r>
              <a:rPr lang="en-US" sz="2400">
                <a:cs typeface="Arial" panose="020B0604020202020204"/>
              </a:rPr>
              <a:t> text </a:t>
            </a:r>
            <a:r>
              <a:rPr lang="en-US" sz="2400" err="1">
                <a:cs typeface="Arial" panose="020B0604020202020204"/>
              </a:rPr>
              <a:t>rezultat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și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apoi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generarea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tuturor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posibilităților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pentru</a:t>
            </a:r>
            <a:r>
              <a:rPr lang="en-US" sz="2400">
                <a:cs typeface="Arial" panose="020B0604020202020204"/>
              </a:rPr>
              <a:t> a 3-a </a:t>
            </a:r>
            <a:r>
              <a:rPr lang="en-US" sz="2400" err="1">
                <a:cs typeface="Arial" panose="020B0604020202020204"/>
              </a:rPr>
              <a:t>cheie</a:t>
            </a:r>
            <a:r>
              <a:rPr lang="en-US" sz="2400">
                <a:cs typeface="Arial" panose="020B0604020202020204"/>
              </a:rPr>
              <a:t>, </a:t>
            </a:r>
            <a:r>
              <a:rPr lang="en-US" sz="2400" err="1">
                <a:cs typeface="Arial" panose="020B0604020202020204"/>
              </a:rPr>
              <a:t>encriptarea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ciphertextului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și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apoi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verificarea</a:t>
            </a:r>
            <a:r>
              <a:rPr lang="en-US" sz="2400">
                <a:cs typeface="Arial" panose="020B0604020202020204"/>
              </a:rPr>
              <a:t> cu </a:t>
            </a:r>
            <a:r>
              <a:rPr lang="en-US" sz="2400" err="1">
                <a:cs typeface="Arial" panose="020B0604020202020204"/>
              </a:rPr>
              <a:t>cele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deja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precalculate</a:t>
            </a:r>
            <a:r>
              <a:rPr lang="en-US" sz="2400">
                <a:cs typeface="Arial" panose="020B0604020202020204"/>
              </a:rPr>
              <a:t>.</a:t>
            </a:r>
          </a:p>
          <a:p>
            <a:pPr marL="344170" indent="-337820"/>
            <a:r>
              <a:rPr lang="en-US" sz="2400">
                <a:ea typeface="+mn-lt"/>
                <a:cs typeface="+mn-lt"/>
              </a:rPr>
              <a:t>Nu </a:t>
            </a:r>
            <a:r>
              <a:rPr lang="en-US" sz="2400" err="1">
                <a:ea typeface="+mn-lt"/>
                <a:cs typeface="+mn-lt"/>
              </a:rPr>
              <a:t>este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singurul</a:t>
            </a:r>
            <a:r>
              <a:rPr lang="en-US" sz="2400">
                <a:ea typeface="+mn-lt"/>
                <a:cs typeface="+mn-lt"/>
              </a:rPr>
              <a:t> tip de </a:t>
            </a:r>
            <a:r>
              <a:rPr lang="en-US" sz="2400" err="1">
                <a:ea typeface="+mn-lt"/>
                <a:cs typeface="+mn-lt"/>
              </a:rPr>
              <a:t>atac</a:t>
            </a:r>
            <a:r>
              <a:rPr lang="en-US" sz="2400">
                <a:ea typeface="+mn-lt"/>
                <a:cs typeface="+mn-lt"/>
              </a:rPr>
              <a:t>!</a:t>
            </a:r>
          </a:p>
          <a:p>
            <a:pPr marL="344170" indent="-337820"/>
            <a:endParaRPr lang="en-US" baseline="30000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800133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02575-4152-314F-F531-A5D647B3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cs typeface="Arial" panose="020B0604020202020204"/>
              </a:rPr>
              <a:t>AES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2AC68-5369-438E-E49F-E6144A32E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925" y="1868502"/>
            <a:ext cx="8999214" cy="4181442"/>
          </a:xfrm>
        </p:spPr>
        <p:txBody>
          <a:bodyPr>
            <a:normAutofit/>
          </a:bodyPr>
          <a:lstStyle/>
          <a:p>
            <a:pPr marL="344170" indent="-337820"/>
            <a:r>
              <a:rPr lang="en-US" err="1">
                <a:ea typeface="+mn-lt"/>
                <a:cs typeface="+mn-lt"/>
              </a:rPr>
              <a:t>Algoritmul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criptare</a:t>
            </a:r>
            <a:r>
              <a:rPr lang="en-US">
                <a:ea typeface="+mn-lt"/>
                <a:cs typeface="+mn-lt"/>
              </a:rPr>
              <a:t> AES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un </a:t>
            </a:r>
            <a:r>
              <a:rPr lang="en-US" err="1">
                <a:ea typeface="+mn-lt"/>
                <a:cs typeface="+mn-lt"/>
              </a:rPr>
              <a:t>algoritm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criptare</a:t>
            </a:r>
            <a:r>
              <a:rPr lang="en-US">
                <a:ea typeface="+mn-lt"/>
                <a:cs typeface="+mn-lt"/>
              </a:rPr>
              <a:t> bloc </a:t>
            </a:r>
            <a:r>
              <a:rPr lang="en-US" err="1">
                <a:ea typeface="+mn-lt"/>
                <a:cs typeface="+mn-lt"/>
              </a:rPr>
              <a:t>simetric</a:t>
            </a:r>
            <a:r>
              <a:rPr lang="en-US">
                <a:ea typeface="+mn-lt"/>
                <a:cs typeface="+mn-lt"/>
              </a:rPr>
              <a:t> </a:t>
            </a:r>
            <a:endParaRPr lang="en-US">
              <a:cs typeface="Arial"/>
            </a:endParaRPr>
          </a:p>
          <a:p>
            <a:pPr marL="344170" indent="-337820"/>
            <a:r>
              <a:rPr lang="en-US">
                <a:cs typeface="Arial"/>
              </a:rPr>
              <a:t>AES </a:t>
            </a:r>
            <a:r>
              <a:rPr lang="en-US" err="1">
                <a:cs typeface="Arial"/>
              </a:rPr>
              <a:t>înseamnă</a:t>
            </a:r>
            <a:r>
              <a:rPr lang="en-US">
                <a:cs typeface="Arial"/>
              </a:rPr>
              <a:t> Advanced Encryption Standard</a:t>
            </a:r>
            <a:endParaRPr lang="en-US"/>
          </a:p>
          <a:p>
            <a:pPr marL="344170" indent="-337820"/>
            <a:r>
              <a:rPr lang="en-US">
                <a:cs typeface="Arial"/>
              </a:rPr>
              <a:t>Este cel </a:t>
            </a:r>
            <a:r>
              <a:rPr lang="en-US" err="1">
                <a:cs typeface="Arial"/>
              </a:rPr>
              <a:t>mai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folosit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algoritm</a:t>
            </a:r>
            <a:r>
              <a:rPr lang="en-US">
                <a:cs typeface="Arial"/>
              </a:rPr>
              <a:t> de </a:t>
            </a:r>
            <a:r>
              <a:rPr lang="en-US" err="1">
                <a:cs typeface="Arial"/>
              </a:rPr>
              <a:t>ecriptare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astăzi</a:t>
            </a:r>
            <a:endParaRPr lang="en-US">
              <a:cs typeface="Arial"/>
            </a:endParaRPr>
          </a:p>
          <a:p>
            <a:pPr marL="344170" indent="-337820"/>
            <a:r>
              <a:rPr lang="en-US" err="1">
                <a:cs typeface="Arial"/>
              </a:rPr>
              <a:t>În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contextul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spargerii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primului</a:t>
            </a:r>
            <a:r>
              <a:rPr lang="en-US">
                <a:cs typeface="Arial"/>
              </a:rPr>
              <a:t> DES, a </a:t>
            </a:r>
            <a:r>
              <a:rPr lang="en-US" err="1">
                <a:cs typeface="Arial"/>
              </a:rPr>
              <a:t>fost</a:t>
            </a:r>
            <a:r>
              <a:rPr lang="en-US">
                <a:cs typeface="Arial"/>
              </a:rPr>
              <a:t> </a:t>
            </a:r>
            <a:r>
              <a:rPr lang="en-US" err="1">
                <a:cs typeface="Arial"/>
              </a:rPr>
              <a:t>necesar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crearea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unui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nou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algoritm</a:t>
            </a:r>
            <a:r>
              <a:rPr lang="en-US">
                <a:cs typeface="Arial"/>
              </a:rPr>
              <a:t> </a:t>
            </a:r>
          </a:p>
          <a:p>
            <a:pPr marL="344170" indent="-337820"/>
            <a:r>
              <a:rPr lang="en-US">
                <a:ea typeface="+mn-lt"/>
                <a:cs typeface="+mn-lt"/>
              </a:rPr>
              <a:t>Vincent </a:t>
            </a:r>
            <a:r>
              <a:rPr lang="en-US" err="1">
                <a:ea typeface="+mn-lt"/>
                <a:cs typeface="+mn-lt"/>
              </a:rPr>
              <a:t>Rijmen</a:t>
            </a:r>
            <a:r>
              <a:rPr lang="en-US">
                <a:ea typeface="+mn-lt"/>
                <a:cs typeface="+mn-lt"/>
              </a:rPr>
              <a:t> pe </a:t>
            </a:r>
            <a:r>
              <a:rPr lang="en-US" err="1">
                <a:ea typeface="+mn-lt"/>
                <a:cs typeface="+mn-lt"/>
              </a:rPr>
              <a:t>când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avea</a:t>
            </a:r>
            <a:r>
              <a:rPr lang="en-US">
                <a:ea typeface="+mn-lt"/>
                <a:cs typeface="+mn-lt"/>
              </a:rPr>
              <a:t> 27 de ani, a </a:t>
            </a:r>
            <a:r>
              <a:rPr lang="en-US" err="1">
                <a:ea typeface="+mn-lt"/>
                <a:cs typeface="+mn-lt"/>
              </a:rPr>
              <a:t>inventat</a:t>
            </a:r>
            <a:r>
              <a:rPr lang="en-US">
                <a:ea typeface="+mn-lt"/>
                <a:cs typeface="+mn-lt"/>
              </a:rPr>
              <a:t> AES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1997</a:t>
            </a:r>
          </a:p>
          <a:p>
            <a:pPr marL="344170" indent="-337820"/>
            <a:r>
              <a:rPr lang="en-US" err="1">
                <a:ea typeface="+mn-lt"/>
                <a:cs typeface="+mn-lt"/>
              </a:rPr>
              <a:t>Criptarea</a:t>
            </a:r>
            <a:r>
              <a:rPr lang="en-US">
                <a:ea typeface="+mn-lt"/>
                <a:cs typeface="+mn-lt"/>
              </a:rPr>
              <a:t> AES-256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practic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imposibil</a:t>
            </a:r>
            <a:r>
              <a:rPr lang="en-US">
                <a:ea typeface="+mn-lt"/>
                <a:cs typeface="+mn-lt"/>
              </a:rPr>
              <a:t> de spart </a:t>
            </a:r>
            <a:r>
              <a:rPr lang="en-US" err="1">
                <a:ea typeface="+mn-lt"/>
                <a:cs typeface="+mn-lt"/>
              </a:rPr>
              <a:t>folosind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orice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metodă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forță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brută</a:t>
            </a:r>
            <a:r>
              <a:rPr lang="en-US">
                <a:ea typeface="+mn-lt"/>
                <a:cs typeface="+mn-lt"/>
              </a:rPr>
              <a:t>. </a:t>
            </a:r>
            <a:r>
              <a:rPr lang="en-US" err="1">
                <a:ea typeface="+mn-lt"/>
                <a:cs typeface="+mn-lt"/>
              </a:rPr>
              <a:t>Ar</a:t>
            </a:r>
            <a:r>
              <a:rPr lang="en-US">
                <a:ea typeface="+mn-lt"/>
                <a:cs typeface="+mn-lt"/>
              </a:rPr>
              <a:t> fi </a:t>
            </a:r>
            <a:r>
              <a:rPr lang="en-US" err="1">
                <a:ea typeface="+mn-lt"/>
                <a:cs typeface="+mn-lt"/>
              </a:rPr>
              <a:t>nevoie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milioane</a:t>
            </a:r>
            <a:r>
              <a:rPr lang="en-US">
                <a:ea typeface="+mn-lt"/>
                <a:cs typeface="+mn-lt"/>
              </a:rPr>
              <a:t> de ani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a o sparge </a:t>
            </a:r>
            <a:r>
              <a:rPr lang="en-US" err="1">
                <a:ea typeface="+mn-lt"/>
                <a:cs typeface="+mn-lt"/>
              </a:rPr>
              <a:t>folosind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tehnologia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capabilitățile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calcul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actuale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0582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E8515BB-59EE-453D-82CE-EE72BF309F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F492A7-5C9A-44D0-BA44-2132810955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8CB1921-2103-4962-BC2D-CB488DD956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309053-D520-473F-B065-0965E5C88A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7F2982-9D29-4C8C-B653-C0BCE1B1F3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325BAC-AB46-48CC-9F6B-79864ABE5C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F1CE20-1BF6-42BB-AF36-D72F27ED17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CC4AF46-A1F3-4DF9-8F71-44A6B10E42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E798FC9-A14A-487D-88A2-A57F0029DC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5065053-9EF0-4668-9CF6-DD9A49BE24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CD8DEDF-3AC4-4735-B9FF-7BE084C2B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106AA5C-5136-4C1B-8030-6FE6F0F559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7410167-A5D0-4B9C-A90D-300AF6533A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902575-4152-314F-F531-A5D647B3A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5985" y="484907"/>
            <a:ext cx="2668479" cy="22685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Tipuri de AES</a:t>
            </a:r>
          </a:p>
        </p:txBody>
      </p:sp>
      <p:pic>
        <p:nvPicPr>
          <p:cNvPr id="7" name="Content Placeholder 6" descr="A white and blue list with black text&#10;&#10;Description automatically generated">
            <a:extLst>
              <a:ext uri="{FF2B5EF4-FFF2-40B4-BE49-F238E27FC236}">
                <a16:creationId xmlns:a16="http://schemas.microsoft.com/office/drawing/2014/main" id="{84B906E6-E17C-A25F-4826-DB010022D0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154293" y="1216004"/>
            <a:ext cx="7895047" cy="5257931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04A2D297-946C-413D-8762-81BB0BB726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34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3FE98-F82B-2BCA-74F3-35B7C35F5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cs typeface="Arial" panose="020B0604020202020204"/>
              </a:rPr>
              <a:t>Cu </a:t>
            </a:r>
            <a:r>
              <a:rPr lang="en-US" err="1">
                <a:cs typeface="Arial" panose="020B0604020202020204"/>
              </a:rPr>
              <a:t>ce</a:t>
            </a:r>
            <a:r>
              <a:rPr lang="en-US">
                <a:cs typeface="Arial" panose="020B0604020202020204"/>
              </a:rPr>
              <a:t> e </a:t>
            </a:r>
            <a:r>
              <a:rPr lang="en-US" err="1">
                <a:cs typeface="Arial" panose="020B0604020202020204"/>
              </a:rPr>
              <a:t>mai</a:t>
            </a:r>
            <a:r>
              <a:rPr lang="en-US">
                <a:cs typeface="Arial" panose="020B0604020202020204"/>
              </a:rPr>
              <a:t> bun AES?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FAD02-2B9F-AAC5-D8C8-863547560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96153" y="2052115"/>
            <a:ext cx="3896467" cy="71381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>
                <a:cs typeface="Arial"/>
              </a:rPr>
              <a:t>AES 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64AFA-9F85-997B-1AD6-9F8EC3242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5333" y="2851331"/>
            <a:ext cx="3893623" cy="30714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4170" indent="-337820"/>
            <a:r>
              <a:rPr lang="en-US">
                <a:cs typeface="Arial"/>
              </a:rPr>
              <a:t>Este </a:t>
            </a:r>
            <a:r>
              <a:rPr lang="en-US" err="1">
                <a:cs typeface="Arial"/>
              </a:rPr>
              <a:t>mai</a:t>
            </a:r>
            <a:r>
              <a:rPr lang="en-US">
                <a:cs typeface="Arial"/>
              </a:rPr>
              <a:t> rapid de </a:t>
            </a:r>
            <a:r>
              <a:rPr lang="en-US" err="1">
                <a:cs typeface="Arial"/>
              </a:rPr>
              <a:t>criptat</a:t>
            </a:r>
            <a:endParaRPr lang="en-US">
              <a:cs typeface="Arial"/>
            </a:endParaRPr>
          </a:p>
          <a:p>
            <a:pPr marL="344170" indent="-337820"/>
            <a:r>
              <a:rPr lang="en-US">
                <a:cs typeface="Arial"/>
              </a:rPr>
              <a:t>Nu a </a:t>
            </a:r>
            <a:r>
              <a:rPr lang="en-US" err="1">
                <a:cs typeface="Arial"/>
              </a:rPr>
              <a:t>fost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compromis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niciodată</a:t>
            </a:r>
            <a:endParaRPr lang="en-US">
              <a:cs typeface="Arial"/>
            </a:endParaRPr>
          </a:p>
          <a:p>
            <a:pPr marL="344170" indent="-337820"/>
            <a:r>
              <a:rPr lang="en-US">
                <a:ea typeface="+mn-lt"/>
                <a:cs typeface="+mn-lt"/>
              </a:rPr>
              <a:t>Este FOARTE </a:t>
            </a:r>
            <a:r>
              <a:rPr lang="en-US" err="1">
                <a:ea typeface="+mn-lt"/>
                <a:cs typeface="+mn-lt"/>
              </a:rPr>
              <a:t>greu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înțeles</a:t>
            </a:r>
          </a:p>
          <a:p>
            <a:pPr marL="344170" indent="-337820"/>
            <a:r>
              <a:rPr lang="en-US" err="1">
                <a:ea typeface="+mn-lt"/>
                <a:cs typeface="+mn-lt"/>
              </a:rPr>
              <a:t>Utilizarea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cheilor</a:t>
            </a:r>
            <a:r>
              <a:rPr lang="en-US">
                <a:ea typeface="+mn-lt"/>
                <a:cs typeface="+mn-lt"/>
              </a:rPr>
              <a:t> de 128, 192 </a:t>
            </a:r>
            <a:r>
              <a:rPr lang="en-US" err="1">
                <a:ea typeface="+mn-lt"/>
                <a:cs typeface="+mn-lt"/>
              </a:rPr>
              <a:t>sau</a:t>
            </a:r>
            <a:r>
              <a:rPr lang="en-US">
                <a:ea typeface="+mn-lt"/>
                <a:cs typeface="+mn-lt"/>
              </a:rPr>
              <a:t> 256 de </a:t>
            </a:r>
            <a:r>
              <a:rPr lang="en-US" err="1">
                <a:ea typeface="+mn-lt"/>
                <a:cs typeface="+mn-lt"/>
              </a:rPr>
              <a:t>biți</a:t>
            </a:r>
            <a:r>
              <a:rPr lang="en-US">
                <a:ea typeface="+mn-lt"/>
                <a:cs typeface="+mn-lt"/>
              </a:rPr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609486-EADF-FD5C-BD73-BB46C58547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>
                <a:cs typeface="Arial"/>
              </a:rPr>
              <a:t>DES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FA1A49-465D-3F77-CA54-52113F36639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4170" indent="-337820"/>
            <a:r>
              <a:rPr lang="en-US">
                <a:cs typeface="Arial"/>
              </a:rPr>
              <a:t>Este </a:t>
            </a:r>
            <a:r>
              <a:rPr lang="en-US" err="1">
                <a:cs typeface="Arial"/>
              </a:rPr>
              <a:t>mai</a:t>
            </a:r>
            <a:r>
              <a:rPr lang="en-US">
                <a:cs typeface="Arial"/>
              </a:rPr>
              <a:t> lent de </a:t>
            </a:r>
            <a:r>
              <a:rPr lang="en-US" err="1">
                <a:cs typeface="Arial"/>
              </a:rPr>
              <a:t>criptat</a:t>
            </a:r>
            <a:endParaRPr lang="en-US">
              <a:cs typeface="Arial"/>
            </a:endParaRPr>
          </a:p>
          <a:p>
            <a:pPr marL="344170" indent="-337820"/>
            <a:r>
              <a:rPr lang="en-US">
                <a:cs typeface="Arial"/>
              </a:rPr>
              <a:t>Se </a:t>
            </a:r>
            <a:r>
              <a:rPr lang="en-US" err="1">
                <a:cs typeface="Arial"/>
              </a:rPr>
              <a:t>compromite</a:t>
            </a:r>
            <a:r>
              <a:rPr lang="en-US">
                <a:cs typeface="Arial"/>
              </a:rPr>
              <a:t> rapid, </a:t>
            </a:r>
            <a:r>
              <a:rPr lang="en-US" err="1">
                <a:cs typeface="Arial"/>
              </a:rPr>
              <a:t>actualmente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în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câteva</a:t>
            </a:r>
            <a:r>
              <a:rPr lang="en-US">
                <a:cs typeface="Arial"/>
              </a:rPr>
              <a:t> minute</a:t>
            </a:r>
          </a:p>
          <a:p>
            <a:pPr marL="344170" indent="-337820"/>
            <a:r>
              <a:rPr lang="en-US">
                <a:cs typeface="Arial"/>
              </a:rPr>
              <a:t>Este </a:t>
            </a:r>
            <a:r>
              <a:rPr lang="en-US" err="1">
                <a:cs typeface="Arial"/>
              </a:rPr>
              <a:t>greu</a:t>
            </a:r>
            <a:r>
              <a:rPr lang="en-US">
                <a:cs typeface="Arial"/>
              </a:rPr>
              <a:t> de </a:t>
            </a:r>
            <a:r>
              <a:rPr lang="en-US" err="1">
                <a:cs typeface="Arial"/>
              </a:rPr>
              <a:t>înțeles</a:t>
            </a:r>
          </a:p>
          <a:p>
            <a:pPr marL="344170" indent="-337820"/>
            <a:r>
              <a:rPr lang="en-US" err="1">
                <a:cs typeface="Arial"/>
              </a:rPr>
              <a:t>Utilizarea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cheii</a:t>
            </a:r>
            <a:r>
              <a:rPr lang="en-US">
                <a:cs typeface="Arial"/>
              </a:rPr>
              <a:t> de 56 de </a:t>
            </a:r>
            <a:r>
              <a:rPr lang="en-US" err="1">
                <a:cs typeface="Arial"/>
              </a:rPr>
              <a:t>biți</a:t>
            </a:r>
            <a:r>
              <a:rPr lang="en-US">
                <a:cs typeface="Arial"/>
              </a:rPr>
              <a:t> </a:t>
            </a:r>
          </a:p>
          <a:p>
            <a:pPr marL="344170" indent="-337820"/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6779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9FB71-99E5-3704-4075-82360067C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err="1">
                <a:cs typeface="Arial"/>
              </a:rPr>
              <a:t>Criptare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asimetrică</a:t>
            </a:r>
            <a:r>
              <a:rPr lang="en-US">
                <a:cs typeface="Arial"/>
              </a:rPr>
              <a:t> - RSA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040F6-688C-478E-D147-AFB7D9F1C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1768" y="2052116"/>
            <a:ext cx="8448371" cy="3997828"/>
          </a:xfrm>
        </p:spPr>
        <p:txBody>
          <a:bodyPr>
            <a:normAutofit fontScale="92500" lnSpcReduction="20000"/>
          </a:bodyPr>
          <a:lstStyle/>
          <a:p>
            <a:pPr marL="344170" indent="-337820"/>
            <a:r>
              <a:rPr lang="en-US" err="1">
                <a:ea typeface="+mn-lt"/>
                <a:cs typeface="+mn-lt"/>
              </a:rPr>
              <a:t>Algoritmul</a:t>
            </a:r>
            <a:r>
              <a:rPr lang="en-US">
                <a:ea typeface="+mn-lt"/>
                <a:cs typeface="+mn-lt"/>
              </a:rPr>
              <a:t> RSA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un </a:t>
            </a:r>
            <a:r>
              <a:rPr lang="en-US" err="1">
                <a:ea typeface="+mn-lt"/>
                <a:cs typeface="+mn-lt"/>
              </a:rPr>
              <a:t>algoritm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criptare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asimetrică</a:t>
            </a:r>
            <a:r>
              <a:rPr lang="en-US">
                <a:ea typeface="+mn-lt"/>
                <a:cs typeface="+mn-lt"/>
              </a:rPr>
              <a:t>. </a:t>
            </a:r>
            <a:r>
              <a:rPr lang="en-US" err="1">
                <a:ea typeface="+mn-lt"/>
                <a:cs typeface="+mn-lt"/>
              </a:rPr>
              <a:t>Asimetric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înseamnă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funcționează</a:t>
            </a:r>
            <a:r>
              <a:rPr lang="en-US">
                <a:ea typeface="+mn-lt"/>
                <a:cs typeface="+mn-lt"/>
              </a:rPr>
              <a:t> pe </a:t>
            </a:r>
            <a:r>
              <a:rPr lang="en-US" err="1">
                <a:ea typeface="+mn-lt"/>
                <a:cs typeface="+mn-lt"/>
              </a:rPr>
              <a:t>două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chei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diferite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adică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cheie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publică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cheie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privată</a:t>
            </a:r>
            <a:r>
              <a:rPr lang="en-US">
                <a:ea typeface="+mn-lt"/>
                <a:cs typeface="+mn-lt"/>
              </a:rPr>
              <a:t>. </a:t>
            </a:r>
            <a:r>
              <a:rPr lang="en-US" err="1">
                <a:ea typeface="+mn-lt"/>
                <a:cs typeface="+mn-lt"/>
              </a:rPr>
              <a:t>După</a:t>
            </a:r>
            <a:r>
              <a:rPr lang="en-US">
                <a:ea typeface="+mn-lt"/>
                <a:cs typeface="+mn-lt"/>
              </a:rPr>
              <a:t> cum </a:t>
            </a:r>
            <a:r>
              <a:rPr lang="en-US" err="1">
                <a:ea typeface="+mn-lt"/>
                <a:cs typeface="+mn-lt"/>
              </a:rPr>
              <a:t>descrie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numele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cheia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publică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tuturor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iar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cheia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privată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păstrată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privată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 panose="020B0604020202020204"/>
            </a:endParaRPr>
          </a:p>
          <a:p>
            <a:pPr marL="344170" indent="-337820"/>
            <a:r>
              <a:rPr lang="en-US">
                <a:ea typeface="+mn-lt"/>
                <a:cs typeface="+mn-lt"/>
              </a:rPr>
              <a:t>Este cel </a:t>
            </a:r>
            <a:r>
              <a:rPr lang="en-US" err="1">
                <a:ea typeface="+mn-lt"/>
                <a:cs typeface="+mn-lt"/>
              </a:rPr>
              <a:t>mai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folosit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alături</a:t>
            </a:r>
            <a:r>
              <a:rPr lang="en-US">
                <a:ea typeface="+mn-lt"/>
                <a:cs typeface="+mn-lt"/>
              </a:rPr>
              <a:t> de AES</a:t>
            </a:r>
          </a:p>
          <a:p>
            <a:pPr marL="344170" indent="-337820"/>
            <a:r>
              <a:rPr lang="en-US">
                <a:ea typeface="+mn-lt"/>
                <a:cs typeface="+mn-lt"/>
              </a:rPr>
              <a:t>Un </a:t>
            </a:r>
            <a:r>
              <a:rPr lang="en-US" err="1">
                <a:ea typeface="+mn-lt"/>
                <a:cs typeface="+mn-lt"/>
              </a:rPr>
              <a:t>exemplu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criptografie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asimetrică</a:t>
            </a:r>
            <a:r>
              <a:rPr lang="en-US">
                <a:ea typeface="+mn-lt"/>
                <a:cs typeface="+mn-lt"/>
              </a:rPr>
              <a:t>: </a:t>
            </a:r>
            <a:endParaRPr lang="en-US"/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Un client (de </a:t>
            </a:r>
            <a:r>
              <a:rPr lang="en-US" err="1">
                <a:ea typeface="+mn-lt"/>
                <a:cs typeface="+mn-lt"/>
              </a:rPr>
              <a:t>exemplu</a:t>
            </a:r>
            <a:r>
              <a:rPr lang="en-US">
                <a:ea typeface="+mn-lt"/>
                <a:cs typeface="+mn-lt"/>
              </a:rPr>
              <a:t> browser) </a:t>
            </a:r>
            <a:r>
              <a:rPr lang="en-US" err="1">
                <a:ea typeface="+mn-lt"/>
                <a:cs typeface="+mn-lt"/>
              </a:rPr>
              <a:t>își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trimite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cheia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publică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către</a:t>
            </a:r>
            <a:r>
              <a:rPr lang="en-US">
                <a:ea typeface="+mn-lt"/>
                <a:cs typeface="+mn-lt"/>
              </a:rPr>
              <a:t> server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solicită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niște</a:t>
            </a:r>
            <a:r>
              <a:rPr lang="en-US">
                <a:ea typeface="+mn-lt"/>
                <a:cs typeface="+mn-lt"/>
              </a:rPr>
              <a:t> date.</a:t>
            </a:r>
            <a:endParaRPr lang="en-US">
              <a:cs typeface="Arial"/>
            </a:endParaRP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err="1">
                <a:ea typeface="+mn-lt"/>
                <a:cs typeface="+mn-lt"/>
              </a:rPr>
              <a:t>Serverul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criptează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datele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folosind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cheia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publică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clientului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trimite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datele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criptate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err="1">
                <a:ea typeface="+mn-lt"/>
                <a:cs typeface="+mn-lt"/>
              </a:rPr>
              <a:t>Clientul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primește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aceste</a:t>
            </a:r>
            <a:r>
              <a:rPr lang="en-US">
                <a:ea typeface="+mn-lt"/>
                <a:cs typeface="+mn-lt"/>
              </a:rPr>
              <a:t> date </a:t>
            </a:r>
            <a:r>
              <a:rPr lang="en-US" err="1">
                <a:ea typeface="+mn-lt"/>
                <a:cs typeface="+mn-lt"/>
              </a:rPr>
              <a:t>și</a:t>
            </a:r>
            <a:r>
              <a:rPr lang="en-US">
                <a:ea typeface="+mn-lt"/>
                <a:cs typeface="+mn-lt"/>
              </a:rPr>
              <a:t> le </a:t>
            </a:r>
            <a:r>
              <a:rPr lang="en-US" err="1">
                <a:ea typeface="+mn-lt"/>
                <a:cs typeface="+mn-lt"/>
              </a:rPr>
              <a:t>decriptează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77028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8AE5C-C9E9-7875-952E-DE061C875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cs typeface="Arial" panose="020B0604020202020204"/>
              </a:rPr>
              <a:t>RSA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30021-729F-342B-0C2C-D49A3CC99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5213" y="1712430"/>
            <a:ext cx="8374924" cy="4337514"/>
          </a:xfrm>
        </p:spPr>
        <p:txBody>
          <a:bodyPr>
            <a:normAutofit fontScale="85000" lnSpcReduction="20000"/>
          </a:bodyPr>
          <a:lstStyle/>
          <a:p>
            <a:pPr marL="344170" indent="-337820"/>
            <a:r>
              <a:rPr lang="en-US" sz="2400">
                <a:cs typeface="Arial" panose="020B0604020202020204"/>
              </a:rPr>
              <a:t>Se </a:t>
            </a:r>
            <a:r>
              <a:rPr lang="en-US" sz="2400" err="1">
                <a:cs typeface="Arial" panose="020B0604020202020204"/>
              </a:rPr>
              <a:t>aleg</a:t>
            </a:r>
            <a:r>
              <a:rPr lang="en-US" sz="2400">
                <a:cs typeface="Arial" panose="020B0604020202020204"/>
              </a:rPr>
              <a:t> 2 </a:t>
            </a:r>
            <a:r>
              <a:rPr lang="en-US" sz="2400" err="1">
                <a:cs typeface="Arial" panose="020B0604020202020204"/>
              </a:rPr>
              <a:t>numere</a:t>
            </a:r>
            <a:r>
              <a:rPr lang="en-US" sz="2400">
                <a:cs typeface="Arial" panose="020B0604020202020204"/>
              </a:rPr>
              <a:t> prime p, q </a:t>
            </a:r>
            <a:r>
              <a:rPr lang="en-US" sz="2400" err="1">
                <a:cs typeface="Arial" panose="020B0604020202020204"/>
              </a:rPr>
              <a:t>și</a:t>
            </a:r>
            <a:r>
              <a:rPr lang="en-US" sz="2400">
                <a:cs typeface="Arial" panose="020B0604020202020204"/>
              </a:rPr>
              <a:t> se </a:t>
            </a:r>
            <a:r>
              <a:rPr lang="en-US" sz="2400" err="1">
                <a:cs typeface="Arial" panose="020B0604020202020204"/>
              </a:rPr>
              <a:t>calculează</a:t>
            </a:r>
            <a:r>
              <a:rPr lang="en-US" sz="2400">
                <a:cs typeface="Arial" panose="020B0604020202020204"/>
              </a:rPr>
              <a:t> N = p*q</a:t>
            </a:r>
          </a:p>
          <a:p>
            <a:pPr marL="344170" indent="-337820"/>
            <a:r>
              <a:rPr lang="en-US" sz="2400">
                <a:cs typeface="Arial" panose="020B0604020202020204"/>
              </a:rPr>
              <a:t>Se </a:t>
            </a:r>
            <a:r>
              <a:rPr lang="en-US" sz="2400" err="1">
                <a:cs typeface="Arial" panose="020B0604020202020204"/>
              </a:rPr>
              <a:t>calculează</a:t>
            </a:r>
            <a:r>
              <a:rPr lang="en-US" sz="2400">
                <a:cs typeface="Arial" panose="020B0604020202020204"/>
              </a:rPr>
              <a:t>   φ(n) = (p-1)*(q-1)</a:t>
            </a:r>
          </a:p>
          <a:p>
            <a:pPr marL="344170" indent="-337820"/>
            <a:r>
              <a:rPr lang="en-US" sz="2400" err="1">
                <a:cs typeface="Arial" panose="020B0604020202020204"/>
              </a:rPr>
              <a:t>Alegem</a:t>
            </a:r>
            <a:r>
              <a:rPr lang="en-US" sz="2400">
                <a:cs typeface="Arial" panose="020B0604020202020204"/>
              </a:rPr>
              <a:t> e </a:t>
            </a:r>
            <a:r>
              <a:rPr lang="en-US" sz="2400" err="1">
                <a:cs typeface="Arial" panose="020B0604020202020204"/>
              </a:rPr>
              <a:t>astfel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încât</a:t>
            </a:r>
            <a:r>
              <a:rPr lang="en-US" sz="2400">
                <a:cs typeface="Arial" panose="020B0604020202020204"/>
              </a:rPr>
              <a:t> (e,  φ(n)) = 1 </a:t>
            </a:r>
          </a:p>
          <a:p>
            <a:pPr marL="344170" indent="-337820"/>
            <a:r>
              <a:rPr lang="en-US" sz="2400" err="1">
                <a:cs typeface="Arial" panose="020B0604020202020204"/>
              </a:rPr>
              <a:t>Dubletul</a:t>
            </a:r>
            <a:r>
              <a:rPr lang="en-US" sz="2400">
                <a:cs typeface="Arial" panose="020B0604020202020204"/>
              </a:rPr>
              <a:t> (N, e) </a:t>
            </a:r>
            <a:r>
              <a:rPr lang="en-US" sz="2400" err="1">
                <a:cs typeface="Arial" panose="020B0604020202020204"/>
              </a:rPr>
              <a:t>reprezintă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b="1" err="1">
                <a:cs typeface="Arial" panose="020B0604020202020204"/>
              </a:rPr>
              <a:t>cheia</a:t>
            </a:r>
            <a:r>
              <a:rPr lang="en-US" sz="2400" b="1">
                <a:cs typeface="Arial" panose="020B0604020202020204"/>
              </a:rPr>
              <a:t> </a:t>
            </a:r>
            <a:r>
              <a:rPr lang="en-US" sz="2400" b="1" err="1">
                <a:cs typeface="Arial" panose="020B0604020202020204"/>
              </a:rPr>
              <a:t>publică</a:t>
            </a:r>
            <a:r>
              <a:rPr lang="en-US" sz="2400" b="1">
                <a:cs typeface="Arial" panose="020B0604020202020204"/>
              </a:rPr>
              <a:t> </a:t>
            </a:r>
            <a:r>
              <a:rPr lang="en-US" sz="2400">
                <a:cs typeface="Arial" panose="020B0604020202020204"/>
              </a:rPr>
              <a:t>care </a:t>
            </a:r>
            <a:r>
              <a:rPr lang="en-US" sz="2400" err="1">
                <a:cs typeface="Arial" panose="020B0604020202020204"/>
              </a:rPr>
              <a:t>este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suficientă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pentru</a:t>
            </a:r>
            <a:r>
              <a:rPr lang="en-US" sz="2400">
                <a:cs typeface="Arial" panose="020B0604020202020204"/>
              </a:rPr>
              <a:t> a </a:t>
            </a:r>
            <a:r>
              <a:rPr lang="en-US" sz="2400" err="1">
                <a:cs typeface="Arial" panose="020B0604020202020204"/>
              </a:rPr>
              <a:t>cripta</a:t>
            </a:r>
            <a:r>
              <a:rPr lang="en-US" sz="2400">
                <a:cs typeface="Arial" panose="020B0604020202020204"/>
              </a:rPr>
              <a:t> date.</a:t>
            </a:r>
          </a:p>
          <a:p>
            <a:pPr marL="344170" indent="-337820"/>
            <a:r>
              <a:rPr lang="en-US" sz="2400" err="1">
                <a:cs typeface="Arial" panose="020B0604020202020204"/>
              </a:rPr>
              <a:t>Cheia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privată</a:t>
            </a:r>
            <a:r>
              <a:rPr lang="en-US" sz="2400">
                <a:cs typeface="Arial" panose="020B0604020202020204"/>
              </a:rPr>
              <a:t>(d) se </a:t>
            </a:r>
            <a:r>
              <a:rPr lang="en-US" sz="2400" err="1">
                <a:cs typeface="Arial" panose="020B0604020202020204"/>
              </a:rPr>
              <a:t>află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știind</a:t>
            </a:r>
            <a:r>
              <a:rPr lang="en-US" sz="2400">
                <a:cs typeface="Arial" panose="020B0604020202020204"/>
              </a:rPr>
              <a:t> φ(n) </a:t>
            </a:r>
            <a:r>
              <a:rPr lang="en-US" sz="2400" err="1">
                <a:cs typeface="Arial" panose="020B0604020202020204"/>
              </a:rPr>
              <a:t>și</a:t>
            </a:r>
            <a:r>
              <a:rPr lang="en-US" sz="2400">
                <a:cs typeface="Arial" panose="020B0604020202020204"/>
              </a:rPr>
              <a:t> e.  d </a:t>
            </a:r>
            <a:r>
              <a:rPr lang="en-US" sz="2400">
                <a:latin typeface="Arial"/>
                <a:ea typeface="Lato"/>
                <a:cs typeface="Arial"/>
              </a:rPr>
              <a:t>* e </a:t>
            </a:r>
            <a:r>
              <a:rPr lang="en-US">
                <a:latin typeface="Lato"/>
                <a:ea typeface="Lato"/>
                <a:cs typeface="Lato"/>
              </a:rPr>
              <a:t>≡ 1 mod  </a:t>
            </a:r>
            <a:r>
              <a:rPr lang="en-US" sz="2400">
                <a:latin typeface="Arial"/>
                <a:ea typeface="Lato"/>
                <a:cs typeface="Arial"/>
              </a:rPr>
              <a:t>φ(n), </a:t>
            </a:r>
            <a:r>
              <a:rPr lang="en-US" sz="2400" err="1">
                <a:latin typeface="Arial"/>
                <a:ea typeface="Lato"/>
                <a:cs typeface="Arial"/>
              </a:rPr>
              <a:t>adică</a:t>
            </a:r>
            <a:r>
              <a:rPr lang="en-US" sz="2400">
                <a:latin typeface="Arial"/>
                <a:ea typeface="Lato"/>
                <a:cs typeface="Arial"/>
              </a:rPr>
              <a:t> d </a:t>
            </a:r>
            <a:r>
              <a:rPr lang="en-US" sz="2400" err="1">
                <a:latin typeface="Arial"/>
                <a:ea typeface="Lato"/>
                <a:cs typeface="Arial"/>
              </a:rPr>
              <a:t>este</a:t>
            </a:r>
            <a:r>
              <a:rPr lang="en-US" sz="2400">
                <a:latin typeface="Arial"/>
                <a:ea typeface="Lato"/>
                <a:cs typeface="Arial"/>
              </a:rPr>
              <a:t> </a:t>
            </a:r>
            <a:r>
              <a:rPr lang="en-US" sz="2400" err="1">
                <a:latin typeface="Arial"/>
                <a:ea typeface="Lato"/>
                <a:cs typeface="Arial"/>
              </a:rPr>
              <a:t>inversul</a:t>
            </a:r>
            <a:r>
              <a:rPr lang="en-US" sz="2400">
                <a:latin typeface="Arial"/>
                <a:ea typeface="Lato"/>
                <a:cs typeface="Arial"/>
              </a:rPr>
              <a:t> modular al </a:t>
            </a:r>
            <a:r>
              <a:rPr lang="en-US" sz="2400" err="1">
                <a:latin typeface="Arial"/>
                <a:ea typeface="Lato"/>
                <a:cs typeface="Arial"/>
              </a:rPr>
              <a:t>lui</a:t>
            </a:r>
            <a:r>
              <a:rPr lang="en-US" sz="2400">
                <a:latin typeface="Arial"/>
                <a:ea typeface="Lato"/>
                <a:cs typeface="Arial"/>
              </a:rPr>
              <a:t> e.</a:t>
            </a:r>
          </a:p>
          <a:p>
            <a:pPr marL="344170" indent="-337820"/>
            <a:r>
              <a:rPr lang="en-US" sz="2400">
                <a:ea typeface="Lato"/>
                <a:cs typeface="Arial" panose="020B0604020202020204"/>
              </a:rPr>
              <a:t>p, q, d, φ(n) NU TREBUIE DEZVĂLUITE</a:t>
            </a:r>
          </a:p>
          <a:p>
            <a:pPr marL="344170" indent="-337820"/>
            <a:r>
              <a:rPr lang="en-US" sz="2400" err="1">
                <a:ea typeface="Lato"/>
                <a:cs typeface="Arial" panose="020B0604020202020204"/>
              </a:rPr>
              <a:t>În</a:t>
            </a:r>
            <a:r>
              <a:rPr lang="en-US" sz="2400">
                <a:ea typeface="Lato"/>
                <a:cs typeface="Arial" panose="020B0604020202020204"/>
              </a:rPr>
              <a:t> general p </a:t>
            </a:r>
            <a:r>
              <a:rPr lang="en-US" sz="2400" err="1">
                <a:ea typeface="Lato"/>
                <a:cs typeface="Arial" panose="020B0604020202020204"/>
              </a:rPr>
              <a:t>și</a:t>
            </a:r>
            <a:r>
              <a:rPr lang="en-US" sz="2400">
                <a:ea typeface="Lato"/>
                <a:cs typeface="Arial" panose="020B0604020202020204"/>
              </a:rPr>
              <a:t> q se </a:t>
            </a:r>
            <a:r>
              <a:rPr lang="en-US" sz="2400" err="1">
                <a:ea typeface="Lato"/>
                <a:cs typeface="Arial" panose="020B0604020202020204"/>
              </a:rPr>
              <a:t>aleg</a:t>
            </a:r>
            <a:r>
              <a:rPr lang="en-US" sz="2400">
                <a:ea typeface="Lato"/>
                <a:cs typeface="Arial" panose="020B0604020202020204"/>
              </a:rPr>
              <a:t> </a:t>
            </a:r>
            <a:r>
              <a:rPr lang="en-US" sz="2400" err="1">
                <a:ea typeface="Lato"/>
                <a:cs typeface="Arial" panose="020B0604020202020204"/>
              </a:rPr>
              <a:t>foarte</a:t>
            </a:r>
            <a:r>
              <a:rPr lang="en-US" sz="2400">
                <a:ea typeface="Lato"/>
                <a:cs typeface="Arial" panose="020B0604020202020204"/>
              </a:rPr>
              <a:t> </a:t>
            </a:r>
            <a:r>
              <a:rPr lang="en-US" sz="2400" err="1">
                <a:ea typeface="Lato"/>
                <a:cs typeface="Arial" panose="020B0604020202020204"/>
              </a:rPr>
              <a:t>mari</a:t>
            </a:r>
            <a:r>
              <a:rPr lang="en-US" sz="2400">
                <a:ea typeface="Lato"/>
                <a:cs typeface="Arial" panose="020B0604020202020204"/>
              </a:rPr>
              <a:t>, </a:t>
            </a:r>
            <a:r>
              <a:rPr lang="en-US" sz="2400" err="1">
                <a:ea typeface="Lato"/>
                <a:cs typeface="Arial" panose="020B0604020202020204"/>
              </a:rPr>
              <a:t>fiind</a:t>
            </a:r>
            <a:r>
              <a:rPr lang="en-US" sz="2400">
                <a:ea typeface="Lato"/>
                <a:cs typeface="Arial" panose="020B0604020202020204"/>
              </a:rPr>
              <a:t> </a:t>
            </a:r>
            <a:r>
              <a:rPr lang="en-US" sz="2400" err="1">
                <a:ea typeface="Lato"/>
                <a:cs typeface="Arial" panose="020B0604020202020204"/>
              </a:rPr>
              <a:t>imposibil</a:t>
            </a:r>
            <a:r>
              <a:rPr lang="en-US" sz="2400">
                <a:ea typeface="Lato"/>
                <a:cs typeface="Arial" panose="020B0604020202020204"/>
              </a:rPr>
              <a:t> cu </a:t>
            </a:r>
            <a:r>
              <a:rPr lang="en-US" sz="2400" err="1">
                <a:ea typeface="Lato"/>
                <a:cs typeface="Arial" panose="020B0604020202020204"/>
              </a:rPr>
              <a:t>metodele</a:t>
            </a:r>
            <a:r>
              <a:rPr lang="en-US" sz="2400">
                <a:ea typeface="Lato"/>
                <a:cs typeface="Arial" panose="020B0604020202020204"/>
              </a:rPr>
              <a:t> </a:t>
            </a:r>
            <a:r>
              <a:rPr lang="en-US" sz="2400" err="1">
                <a:ea typeface="Lato"/>
                <a:cs typeface="Arial" panose="020B0604020202020204"/>
              </a:rPr>
              <a:t>actuale</a:t>
            </a:r>
            <a:r>
              <a:rPr lang="en-US" sz="2400">
                <a:ea typeface="Lato"/>
                <a:cs typeface="Arial" panose="020B0604020202020204"/>
              </a:rPr>
              <a:t> de </a:t>
            </a:r>
            <a:r>
              <a:rPr lang="en-US" sz="2400" err="1">
                <a:ea typeface="Lato"/>
                <a:cs typeface="Arial" panose="020B0604020202020204"/>
              </a:rPr>
              <a:t>calcul</a:t>
            </a:r>
            <a:r>
              <a:rPr lang="en-US" sz="2400">
                <a:ea typeface="Lato"/>
                <a:cs typeface="Arial" panose="020B0604020202020204"/>
              </a:rPr>
              <a:t> </a:t>
            </a:r>
            <a:r>
              <a:rPr lang="en-US" sz="2400" err="1">
                <a:ea typeface="Lato"/>
                <a:cs typeface="Arial" panose="020B0604020202020204"/>
              </a:rPr>
              <a:t>să</a:t>
            </a:r>
            <a:r>
              <a:rPr lang="en-US" sz="2400">
                <a:ea typeface="Lato"/>
                <a:cs typeface="Arial" panose="020B0604020202020204"/>
              </a:rPr>
              <a:t> se </a:t>
            </a:r>
            <a:r>
              <a:rPr lang="en-US" sz="2400" err="1">
                <a:ea typeface="Lato"/>
                <a:cs typeface="Arial" panose="020B0604020202020204"/>
              </a:rPr>
              <a:t>afle</a:t>
            </a:r>
            <a:r>
              <a:rPr lang="en-US" sz="2400">
                <a:ea typeface="Lato"/>
                <a:cs typeface="Arial" panose="020B0604020202020204"/>
              </a:rPr>
              <a:t> N</a:t>
            </a:r>
          </a:p>
          <a:p>
            <a:pPr marL="344170" indent="-337820"/>
            <a:endParaRPr lang="en-US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5426017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8AE5C-C9E9-7875-952E-DE061C875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cs typeface="Arial" panose="020B0604020202020204"/>
              </a:rPr>
              <a:t>Cum </a:t>
            </a:r>
            <a:r>
              <a:rPr lang="en-US" err="1">
                <a:cs typeface="Arial" panose="020B0604020202020204"/>
              </a:rPr>
              <a:t>criptăm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și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decriptăm</a:t>
            </a:r>
            <a:r>
              <a:rPr lang="en-US">
                <a:cs typeface="Arial" panose="020B0604020202020204"/>
              </a:rPr>
              <a:t> RSA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30021-729F-342B-0C2C-D49A3CC99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7310" y="1712430"/>
            <a:ext cx="9393983" cy="4337514"/>
          </a:xfrm>
        </p:spPr>
        <p:txBody>
          <a:bodyPr>
            <a:normAutofit fontScale="92500" lnSpcReduction="10000"/>
          </a:bodyPr>
          <a:lstStyle/>
          <a:p>
            <a:pPr marL="344170" indent="-337820"/>
            <a:r>
              <a:rPr lang="en-US" sz="2400" err="1">
                <a:cs typeface="Arial" panose="020B0604020202020204"/>
              </a:rPr>
              <a:t>În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primul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rând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avem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nevoie</a:t>
            </a:r>
            <a:r>
              <a:rPr lang="en-US" sz="2400">
                <a:cs typeface="Arial" panose="020B0604020202020204"/>
              </a:rPr>
              <a:t> de o </a:t>
            </a:r>
            <a:r>
              <a:rPr lang="en-US" sz="2400" err="1">
                <a:cs typeface="Arial" panose="020B0604020202020204"/>
              </a:rPr>
              <a:t>metodă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ușoară</a:t>
            </a:r>
            <a:r>
              <a:rPr lang="en-US" sz="2400">
                <a:cs typeface="Arial" panose="020B0604020202020204"/>
              </a:rPr>
              <a:t> de a </a:t>
            </a:r>
            <a:r>
              <a:rPr lang="en-US" sz="2400" err="1">
                <a:cs typeface="Arial" panose="020B0604020202020204"/>
              </a:rPr>
              <a:t>converti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textul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în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număr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și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îl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vom</a:t>
            </a:r>
            <a:r>
              <a:rPr lang="en-US" sz="2400">
                <a:cs typeface="Arial" panose="020B0604020202020204"/>
              </a:rPr>
              <a:t> nota cu </a:t>
            </a:r>
            <a:r>
              <a:rPr lang="en-US" sz="2400" b="1" i="1">
                <a:cs typeface="Arial" panose="020B0604020202020204"/>
              </a:rPr>
              <a:t>m</a:t>
            </a:r>
            <a:r>
              <a:rPr lang="en-US" sz="2400">
                <a:cs typeface="Arial" panose="020B0604020202020204"/>
              </a:rPr>
              <a:t>.</a:t>
            </a:r>
            <a:endParaRPr lang="en-US"/>
          </a:p>
          <a:p>
            <a:pPr marL="344170" indent="-337820"/>
            <a:r>
              <a:rPr lang="en-US" sz="2400" err="1">
                <a:cs typeface="Arial" panose="020B0604020202020204"/>
              </a:rPr>
              <a:t>Pentru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criptare</a:t>
            </a:r>
            <a:r>
              <a:rPr lang="en-US" sz="2400">
                <a:cs typeface="Arial" panose="020B0604020202020204"/>
              </a:rPr>
              <a:t>, se </a:t>
            </a:r>
            <a:r>
              <a:rPr lang="en-US" sz="2400" err="1">
                <a:cs typeface="Arial" panose="020B0604020202020204"/>
              </a:rPr>
              <a:t>calculează</a:t>
            </a:r>
            <a:r>
              <a:rPr lang="en-US" sz="2400">
                <a:cs typeface="Arial" panose="020B0604020202020204"/>
              </a:rPr>
              <a:t>  </a:t>
            </a:r>
            <a:r>
              <a:rPr lang="en-US" sz="2400" b="1" i="1" err="1">
                <a:cs typeface="Arial" panose="020B0604020202020204"/>
              </a:rPr>
              <a:t>ct</a:t>
            </a:r>
            <a:r>
              <a:rPr lang="en-US" sz="2400" b="1" i="1">
                <a:cs typeface="Arial" panose="020B0604020202020204"/>
              </a:rPr>
              <a:t> = pow(m, e, N)</a:t>
            </a:r>
            <a:r>
              <a:rPr lang="en-US" sz="2400">
                <a:cs typeface="Arial" panose="020B0604020202020204"/>
              </a:rPr>
              <a:t>, </a:t>
            </a:r>
            <a:r>
              <a:rPr lang="en-US" sz="2400" err="1">
                <a:cs typeface="Arial" panose="020B0604020202020204"/>
              </a:rPr>
              <a:t>ct</a:t>
            </a:r>
            <a:r>
              <a:rPr lang="en-US" sz="2400">
                <a:cs typeface="Arial" panose="020B0604020202020204"/>
              </a:rPr>
              <a:t> - ciphertext</a:t>
            </a:r>
          </a:p>
          <a:p>
            <a:pPr marL="344170" indent="-337820"/>
            <a:r>
              <a:rPr lang="en-US" sz="2400">
                <a:cs typeface="Arial" panose="020B0604020202020204"/>
              </a:rPr>
              <a:t>Se </a:t>
            </a:r>
            <a:r>
              <a:rPr lang="en-US" sz="2400" err="1">
                <a:cs typeface="Arial" panose="020B0604020202020204"/>
              </a:rPr>
              <a:t>observă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că</a:t>
            </a:r>
            <a:r>
              <a:rPr lang="en-US" sz="2400">
                <a:cs typeface="Arial" panose="020B0604020202020204"/>
              </a:rPr>
              <a:t> se </a:t>
            </a:r>
            <a:r>
              <a:rPr lang="en-US" sz="2400" err="1">
                <a:cs typeface="Arial" panose="020B0604020202020204"/>
              </a:rPr>
              <a:t>poate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encripta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orice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mesaj</a:t>
            </a:r>
            <a:r>
              <a:rPr lang="en-US" sz="2400">
                <a:cs typeface="Arial" panose="020B0604020202020204"/>
              </a:rPr>
              <a:t>, </a:t>
            </a:r>
            <a:r>
              <a:rPr lang="en-US" sz="2400" err="1">
                <a:cs typeface="Arial" panose="020B0604020202020204"/>
              </a:rPr>
              <a:t>deoarece</a:t>
            </a:r>
            <a:r>
              <a:rPr lang="en-US" sz="2400">
                <a:cs typeface="Arial" panose="020B0604020202020204"/>
              </a:rPr>
              <a:t> e </a:t>
            </a:r>
            <a:r>
              <a:rPr lang="en-US" sz="2400" err="1">
                <a:cs typeface="Arial" panose="020B0604020202020204"/>
              </a:rPr>
              <a:t>și</a:t>
            </a:r>
            <a:r>
              <a:rPr lang="en-US" sz="2400">
                <a:cs typeface="Arial" panose="020B0604020202020204"/>
              </a:rPr>
              <a:t> N sunt </a:t>
            </a:r>
            <a:r>
              <a:rPr lang="en-US" sz="2400" err="1">
                <a:cs typeface="Arial" panose="020B0604020202020204"/>
              </a:rPr>
              <a:t>publice</a:t>
            </a:r>
            <a:endParaRPr lang="en-US" sz="2400">
              <a:cs typeface="Arial" panose="020B0604020202020204"/>
            </a:endParaRPr>
          </a:p>
          <a:p>
            <a:pPr marL="344170" indent="-337820"/>
            <a:r>
              <a:rPr lang="en-US" sz="2400" err="1">
                <a:cs typeface="Arial" panose="020B0604020202020204"/>
              </a:rPr>
              <a:t>Pentru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decriptare</a:t>
            </a:r>
            <a:r>
              <a:rPr lang="en-US" sz="2400">
                <a:cs typeface="Arial" panose="020B0604020202020204"/>
              </a:rPr>
              <a:t>, se </a:t>
            </a:r>
            <a:r>
              <a:rPr lang="en-US" sz="2400" err="1">
                <a:cs typeface="Arial" panose="020B0604020202020204"/>
              </a:rPr>
              <a:t>calculează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b="1" i="1">
                <a:cs typeface="Arial" panose="020B0604020202020204"/>
              </a:rPr>
              <a:t>m = pow(</a:t>
            </a:r>
            <a:r>
              <a:rPr lang="en-US" sz="2400" b="1" i="1" err="1">
                <a:cs typeface="Arial" panose="020B0604020202020204"/>
              </a:rPr>
              <a:t>ct</a:t>
            </a:r>
            <a:r>
              <a:rPr lang="en-US" sz="2400" b="1" i="1">
                <a:cs typeface="Arial" panose="020B0604020202020204"/>
              </a:rPr>
              <a:t>, d, N)</a:t>
            </a:r>
          </a:p>
          <a:p>
            <a:pPr marL="344170" indent="-337820"/>
            <a:r>
              <a:rPr lang="en-US" sz="2400">
                <a:cs typeface="Arial" panose="020B0604020202020204"/>
              </a:rPr>
              <a:t>Se </a:t>
            </a:r>
            <a:r>
              <a:rPr lang="en-US" sz="2400" err="1">
                <a:cs typeface="Arial" panose="020B0604020202020204"/>
              </a:rPr>
              <a:t>observă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că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fără</a:t>
            </a:r>
            <a:r>
              <a:rPr lang="en-US" sz="2400">
                <a:cs typeface="Arial" panose="020B0604020202020204"/>
              </a:rPr>
              <a:t> a </a:t>
            </a:r>
            <a:r>
              <a:rPr lang="en-US" sz="2400" err="1">
                <a:cs typeface="Arial" panose="020B0604020202020204"/>
              </a:rPr>
              <a:t>ști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cheia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secretă</a:t>
            </a:r>
            <a:r>
              <a:rPr lang="en-US" sz="2400">
                <a:cs typeface="Arial" panose="020B0604020202020204"/>
              </a:rPr>
              <a:t> d, </a:t>
            </a:r>
            <a:r>
              <a:rPr lang="en-US" sz="2400" err="1">
                <a:cs typeface="Arial" panose="020B0604020202020204"/>
              </a:rPr>
              <a:t>este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imposibil</a:t>
            </a:r>
            <a:r>
              <a:rPr lang="en-US" sz="2400">
                <a:cs typeface="Arial" panose="020B0604020202020204"/>
              </a:rPr>
              <a:t> de </a:t>
            </a:r>
            <a:r>
              <a:rPr lang="en-US" sz="2400" err="1">
                <a:cs typeface="Arial" panose="020B0604020202020204"/>
              </a:rPr>
              <a:t>decriptat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și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pentru</a:t>
            </a:r>
            <a:r>
              <a:rPr lang="en-US" sz="2400">
                <a:cs typeface="Arial" panose="020B0604020202020204"/>
              </a:rPr>
              <a:t> a </a:t>
            </a:r>
            <a:r>
              <a:rPr lang="en-US" sz="2400" err="1">
                <a:cs typeface="Arial" panose="020B0604020202020204"/>
              </a:rPr>
              <a:t>ști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cheia</a:t>
            </a:r>
            <a:r>
              <a:rPr lang="en-US" sz="2400">
                <a:cs typeface="Arial" panose="020B0604020202020204"/>
              </a:rPr>
              <a:t> d </a:t>
            </a:r>
            <a:r>
              <a:rPr lang="en-US" sz="2400" err="1">
                <a:cs typeface="Arial" panose="020B0604020202020204"/>
              </a:rPr>
              <a:t>este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nevoie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ori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să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factorizezi</a:t>
            </a:r>
            <a:r>
              <a:rPr lang="en-US" sz="2400">
                <a:cs typeface="Arial" panose="020B0604020202020204"/>
              </a:rPr>
              <a:t> N, </a:t>
            </a:r>
            <a:r>
              <a:rPr lang="en-US" sz="2400" err="1">
                <a:cs typeface="Arial" panose="020B0604020202020204"/>
              </a:rPr>
              <a:t>ori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să</a:t>
            </a:r>
            <a:r>
              <a:rPr lang="en-US" sz="2400">
                <a:cs typeface="Arial" panose="020B0604020202020204"/>
              </a:rPr>
              <a:t> ai o </a:t>
            </a:r>
            <a:r>
              <a:rPr lang="en-US" sz="2400" err="1">
                <a:cs typeface="Arial" panose="020B0604020202020204"/>
              </a:rPr>
              <a:t>metodă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altă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metodă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încă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nedescoperită</a:t>
            </a:r>
            <a:r>
              <a:rPr lang="en-US" sz="2400">
                <a:cs typeface="Arial" panose="020B0604020202020204"/>
              </a:rPr>
              <a:t> care </a:t>
            </a:r>
            <a:r>
              <a:rPr lang="en-US" sz="2400" err="1">
                <a:cs typeface="Arial" panose="020B0604020202020204"/>
              </a:rPr>
              <a:t>poate</a:t>
            </a:r>
            <a:r>
              <a:rPr lang="en-US" sz="2400">
                <a:cs typeface="Arial" panose="020B0604020202020204"/>
              </a:rPr>
              <a:t> </a:t>
            </a:r>
            <a:r>
              <a:rPr lang="en-US" sz="2400" err="1">
                <a:cs typeface="Arial" panose="020B0604020202020204"/>
              </a:rPr>
              <a:t>să</a:t>
            </a:r>
            <a:r>
              <a:rPr lang="en-US" sz="2400">
                <a:cs typeface="Arial" panose="020B0604020202020204"/>
              </a:rPr>
              <a:t> nu </a:t>
            </a:r>
            <a:r>
              <a:rPr lang="en-US" sz="2400" err="1">
                <a:cs typeface="Arial" panose="020B0604020202020204"/>
              </a:rPr>
              <a:t>existe</a:t>
            </a:r>
          </a:p>
          <a:p>
            <a:pPr marL="344170" indent="-337820"/>
            <a:endParaRPr lang="en-US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404527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EF757-DDAA-685A-E2F0-D43B992A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B4420-8F13-EA59-55B9-A1DFA5B31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 err="1">
                <a:cs typeface="Arial" panose="020B0604020202020204"/>
              </a:rPr>
              <a:t>În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practică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D407F-20E2-B30A-250A-C1792FB94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7310" y="1712430"/>
            <a:ext cx="9393983" cy="4337514"/>
          </a:xfrm>
        </p:spPr>
        <p:txBody>
          <a:bodyPr>
            <a:normAutofit/>
          </a:bodyPr>
          <a:lstStyle/>
          <a:p>
            <a:pPr marL="344170" indent="-337820"/>
            <a:r>
              <a:rPr lang="en-US" sz="2400" dirty="0" err="1">
                <a:ea typeface="+mn-lt"/>
                <a:cs typeface="+mn-lt"/>
              </a:rPr>
              <a:t>Criptografia</a:t>
            </a:r>
            <a:r>
              <a:rPr lang="en-US" sz="2400" dirty="0">
                <a:ea typeface="+mn-lt"/>
                <a:cs typeface="+mn-lt"/>
              </a:rPr>
              <a:t> cu </a:t>
            </a:r>
            <a:r>
              <a:rPr lang="en-US" sz="2400" dirty="0" err="1">
                <a:ea typeface="+mn-lt"/>
                <a:cs typeface="+mn-lt"/>
              </a:rPr>
              <a:t>cheie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publică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este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lentă</a:t>
            </a:r>
            <a:r>
              <a:rPr lang="en-US" sz="2400" dirty="0">
                <a:ea typeface="+mn-lt"/>
                <a:cs typeface="+mn-lt"/>
              </a:rPr>
              <a:t> (de la 100 la 1000 de </a:t>
            </a:r>
            <a:r>
              <a:rPr lang="en-US" sz="2400" dirty="0" err="1">
                <a:ea typeface="+mn-lt"/>
                <a:cs typeface="+mn-lt"/>
              </a:rPr>
              <a:t>ori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mai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lentă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decât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criptografia</a:t>
            </a:r>
            <a:r>
              <a:rPr lang="en-US" sz="2400" dirty="0">
                <a:ea typeface="+mn-lt"/>
                <a:cs typeface="+mn-lt"/>
              </a:rPr>
              <a:t> cu </a:t>
            </a:r>
            <a:r>
              <a:rPr lang="en-US" sz="2400" dirty="0" err="1">
                <a:ea typeface="+mn-lt"/>
                <a:cs typeface="+mn-lt"/>
              </a:rPr>
              <a:t>cheie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secretă</a:t>
            </a:r>
            <a:r>
              <a:rPr lang="en-US" sz="2400" dirty="0">
                <a:ea typeface="+mn-lt"/>
                <a:cs typeface="+mn-lt"/>
              </a:rPr>
              <a:t>), </a:t>
            </a:r>
            <a:r>
              <a:rPr lang="en-US" sz="2400" dirty="0" err="1">
                <a:ea typeface="+mn-lt"/>
                <a:cs typeface="+mn-lt"/>
              </a:rPr>
              <a:t>astfel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încât</a:t>
            </a:r>
            <a:r>
              <a:rPr lang="en-US" sz="2400" dirty="0">
                <a:ea typeface="+mn-lt"/>
                <a:cs typeface="+mn-lt"/>
              </a:rPr>
              <a:t> de </a:t>
            </a:r>
            <a:r>
              <a:rPr lang="en-US" sz="2400" dirty="0" err="1">
                <a:ea typeface="+mn-lt"/>
                <a:cs typeface="+mn-lt"/>
              </a:rPr>
              <a:t>obicei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în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practică</a:t>
            </a:r>
            <a:r>
              <a:rPr lang="en-US" sz="2400" dirty="0">
                <a:ea typeface="+mn-lt"/>
                <a:cs typeface="+mn-lt"/>
              </a:rPr>
              <a:t> se </a:t>
            </a:r>
            <a:r>
              <a:rPr lang="en-US" sz="2400" dirty="0" err="1">
                <a:ea typeface="+mn-lt"/>
                <a:cs typeface="+mn-lt"/>
              </a:rPr>
              <a:t>folosește</a:t>
            </a:r>
            <a:r>
              <a:rPr lang="en-US" sz="2400" dirty="0">
                <a:ea typeface="+mn-lt"/>
                <a:cs typeface="+mn-lt"/>
              </a:rPr>
              <a:t> o </a:t>
            </a:r>
            <a:r>
              <a:rPr lang="en-US" sz="2400" dirty="0" err="1">
                <a:ea typeface="+mn-lt"/>
                <a:cs typeface="+mn-lt"/>
              </a:rPr>
              <a:t>tehnică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hibridă</a:t>
            </a:r>
            <a:r>
              <a:rPr lang="en-US" sz="2400" dirty="0">
                <a:ea typeface="+mn-lt"/>
                <a:cs typeface="+mn-lt"/>
              </a:rPr>
              <a:t>. Se </a:t>
            </a:r>
            <a:r>
              <a:rPr lang="en-US" sz="2400" dirty="0" err="1">
                <a:ea typeface="+mn-lt"/>
                <a:cs typeface="+mn-lt"/>
              </a:rPr>
              <a:t>folosește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criptografia</a:t>
            </a:r>
            <a:r>
              <a:rPr lang="en-US" sz="2400" dirty="0">
                <a:ea typeface="+mn-lt"/>
                <a:cs typeface="+mn-lt"/>
              </a:rPr>
              <a:t> cu </a:t>
            </a:r>
            <a:r>
              <a:rPr lang="en-US" sz="2400" dirty="0" err="1">
                <a:ea typeface="+mn-lt"/>
                <a:cs typeface="+mn-lt"/>
              </a:rPr>
              <a:t>cheie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publică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pentru</a:t>
            </a:r>
            <a:r>
              <a:rPr lang="en-US" sz="2400" dirty="0">
                <a:ea typeface="+mn-lt"/>
                <a:cs typeface="+mn-lt"/>
              </a:rPr>
              <a:t> a </a:t>
            </a:r>
            <a:r>
              <a:rPr lang="en-US" sz="2400" dirty="0" err="1">
                <a:ea typeface="+mn-lt"/>
                <a:cs typeface="+mn-lt"/>
              </a:rPr>
              <a:t>distribui</a:t>
            </a:r>
            <a:r>
              <a:rPr lang="en-US" sz="2400" dirty="0">
                <a:ea typeface="+mn-lt"/>
                <a:cs typeface="+mn-lt"/>
              </a:rPr>
              <a:t> o </a:t>
            </a:r>
            <a:r>
              <a:rPr lang="en-US" sz="2400" dirty="0" err="1">
                <a:ea typeface="+mn-lt"/>
                <a:cs typeface="+mn-lt"/>
              </a:rPr>
              <a:t>altă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cheie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privată</a:t>
            </a:r>
            <a:r>
              <a:rPr lang="en-US" sz="2400" dirty="0">
                <a:ea typeface="+mn-lt"/>
                <a:cs typeface="+mn-lt"/>
              </a:rPr>
              <a:t> (nu </a:t>
            </a:r>
            <a:r>
              <a:rPr lang="en-US" sz="2400" dirty="0" err="1">
                <a:ea typeface="+mn-lt"/>
                <a:cs typeface="+mn-lt"/>
              </a:rPr>
              <a:t>cea</a:t>
            </a:r>
            <a:r>
              <a:rPr lang="en-US" sz="2400" dirty="0">
                <a:ea typeface="+mn-lt"/>
                <a:cs typeface="+mn-lt"/>
              </a:rPr>
              <a:t> din </a:t>
            </a:r>
            <a:r>
              <a:rPr lang="en-US" sz="2400" dirty="0" err="1">
                <a:ea typeface="+mn-lt"/>
                <a:cs typeface="+mn-lt"/>
              </a:rPr>
              <a:t>pereche</a:t>
            </a:r>
            <a:r>
              <a:rPr lang="en-US" sz="2400" dirty="0">
                <a:ea typeface="+mn-lt"/>
                <a:cs typeface="+mn-lt"/>
              </a:rPr>
              <a:t>), </a:t>
            </a:r>
            <a:r>
              <a:rPr lang="en-US" sz="2400" dirty="0" err="1">
                <a:ea typeface="+mn-lt"/>
                <a:cs typeface="+mn-lt"/>
              </a:rPr>
              <a:t>numită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cheie</a:t>
            </a:r>
            <a:r>
              <a:rPr lang="en-US" sz="2400" dirty="0">
                <a:ea typeface="+mn-lt"/>
                <a:cs typeface="+mn-lt"/>
              </a:rPr>
              <a:t> de </a:t>
            </a:r>
            <a:r>
              <a:rPr lang="en-US" sz="2400" dirty="0" err="1">
                <a:ea typeface="+mn-lt"/>
                <a:cs typeface="+mn-lt"/>
              </a:rPr>
              <a:t>sesiune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unei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alte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părți</a:t>
            </a:r>
            <a:r>
              <a:rPr lang="en-US" sz="2400" dirty="0">
                <a:ea typeface="+mn-lt"/>
                <a:cs typeface="+mn-lt"/>
              </a:rPr>
              <a:t>; </a:t>
            </a:r>
            <a:r>
              <a:rPr lang="en-US" sz="2400" dirty="0" err="1">
                <a:ea typeface="+mn-lt"/>
                <a:cs typeface="+mn-lt"/>
              </a:rPr>
              <a:t>apoi</a:t>
            </a:r>
            <a:r>
              <a:rPr lang="en-US" sz="2400" dirty="0">
                <a:ea typeface="+mn-lt"/>
                <a:cs typeface="+mn-lt"/>
              </a:rPr>
              <a:t> se </a:t>
            </a:r>
            <a:r>
              <a:rPr lang="en-US" sz="2400" dirty="0" err="1">
                <a:ea typeface="+mn-lt"/>
                <a:cs typeface="+mn-lt"/>
              </a:rPr>
              <a:t>folosește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criptografia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simetrică</a:t>
            </a:r>
            <a:r>
              <a:rPr lang="en-US" sz="2400" dirty="0">
                <a:ea typeface="+mn-lt"/>
                <a:cs typeface="+mn-lt"/>
              </a:rPr>
              <a:t> pe </a:t>
            </a:r>
            <a:r>
              <a:rPr lang="en-US" sz="2400" dirty="0" err="1">
                <a:ea typeface="+mn-lt"/>
                <a:cs typeface="+mn-lt"/>
              </a:rPr>
              <a:t>baza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cheii</a:t>
            </a:r>
            <a:r>
              <a:rPr lang="en-US" sz="2400" dirty="0">
                <a:ea typeface="+mn-lt"/>
                <a:cs typeface="+mn-lt"/>
              </a:rPr>
              <a:t> de </a:t>
            </a:r>
            <a:r>
              <a:rPr lang="en-US" sz="2400" dirty="0" err="1">
                <a:ea typeface="+mn-lt"/>
                <a:cs typeface="+mn-lt"/>
              </a:rPr>
              <a:t>sesiune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pentru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grosul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mesajelor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criptate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dirty="0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7921161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5B89-C374-2F75-7AEB-63DBD6ADB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3615" y="3548347"/>
            <a:ext cx="5518066" cy="2268559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cs typeface="Arial"/>
              </a:rPr>
              <a:t>Haideți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să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encriptăm</a:t>
            </a:r>
            <a:r>
              <a:rPr lang="en-US" dirty="0">
                <a:cs typeface="Arial"/>
              </a:rPr>
              <a:t> cu RSA </a:t>
            </a:r>
            <a:r>
              <a:rPr lang="en-US" dirty="0" err="1">
                <a:cs typeface="Arial"/>
              </a:rPr>
              <a:t>împreună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840940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962D-F312-AF34-2DAE-434601FE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821" y="2656475"/>
            <a:ext cx="8111542" cy="14893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000" b="1" err="1">
                <a:cs typeface="Arial"/>
              </a:rPr>
              <a:t>Limbaje</a:t>
            </a:r>
            <a:r>
              <a:rPr lang="en-US" sz="4000" b="1">
                <a:cs typeface="Arial"/>
              </a:rPr>
              <a:t> </a:t>
            </a:r>
            <a:r>
              <a:rPr lang="en-US" sz="4000" b="1" err="1">
                <a:cs typeface="Arial"/>
              </a:rPr>
              <a:t>ezoterice</a:t>
            </a:r>
            <a:r>
              <a:rPr lang="en-US" sz="4000" b="1">
                <a:cs typeface="Arial"/>
              </a:rPr>
              <a:t/>
            </a:r>
            <a:br>
              <a:rPr lang="en-US" sz="4000" b="1">
                <a:cs typeface="Arial"/>
              </a:rPr>
            </a:br>
            <a:r>
              <a:rPr lang="en-US" sz="4000">
                <a:cs typeface="Arial"/>
              </a:rPr>
              <a:t>​Metode </a:t>
            </a:r>
            <a:r>
              <a:rPr lang="en-US" sz="4000" err="1">
                <a:cs typeface="Arial"/>
              </a:rPr>
              <a:t>amuzante</a:t>
            </a:r>
            <a:r>
              <a:rPr lang="en-US" sz="4000">
                <a:cs typeface="Arial"/>
              </a:rPr>
              <a:t> de a </a:t>
            </a:r>
            <a:r>
              <a:rPr lang="en-US" sz="4000" err="1">
                <a:cs typeface="Arial"/>
              </a:rPr>
              <a:t>scrie</a:t>
            </a:r>
            <a:r>
              <a:rPr lang="en-US" sz="4000">
                <a:cs typeface="Arial"/>
              </a:rPr>
              <a:t> cod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A5075-4587-2AFB-F845-39C8FE246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1053" y="1713430"/>
            <a:ext cx="6590813" cy="878468"/>
          </a:xfrm>
        </p:spPr>
        <p:txBody>
          <a:bodyPr/>
          <a:lstStyle/>
          <a:p>
            <a:r>
              <a:rPr lang="en-US" sz="2800" err="1">
                <a:cs typeface="Arial"/>
              </a:rPr>
              <a:t>Capitolul</a:t>
            </a:r>
            <a:r>
              <a:rPr lang="en-US" sz="2800">
                <a:cs typeface="Arial"/>
              </a:rPr>
              <a:t> VIII</a:t>
            </a:r>
          </a:p>
        </p:txBody>
      </p:sp>
    </p:spTree>
    <p:extLst>
      <p:ext uri="{BB962C8B-B14F-4D97-AF65-F5344CB8AC3E}">
        <p14:creationId xmlns:p14="http://schemas.microsoft.com/office/powerpoint/2010/main" val="5614290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0711E-E90D-88CE-91AD-6C7158223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/>
            </a:r>
            <a:br>
              <a:rPr lang="en-US">
                <a:cs typeface="Arial"/>
              </a:rPr>
            </a:br>
            <a:r>
              <a:rPr lang="en-US" err="1">
                <a:cs typeface="Arial"/>
              </a:rPr>
              <a:t>Limbaje</a:t>
            </a:r>
            <a:r>
              <a:rPr lang="en-US">
                <a:cs typeface="Arial"/>
              </a:rPr>
              <a:t> de </a:t>
            </a:r>
            <a:r>
              <a:rPr lang="en-US" err="1">
                <a:cs typeface="Arial"/>
              </a:rPr>
              <a:t>programare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ezoterice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6F7BA-9446-FF3E-0A85-A3745AA42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37820"/>
            <a:r>
              <a:rPr lang="en-US">
                <a:ea typeface="+mn-lt"/>
                <a:cs typeface="+mn-lt"/>
              </a:rPr>
              <a:t>Un </a:t>
            </a:r>
            <a:r>
              <a:rPr lang="en-US" err="1">
                <a:ea typeface="+mn-lt"/>
                <a:cs typeface="+mn-lt"/>
              </a:rPr>
              <a:t>limbaj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programare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ezoteric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un </a:t>
            </a:r>
            <a:r>
              <a:rPr lang="en-US" err="1">
                <a:ea typeface="+mn-lt"/>
                <a:cs typeface="+mn-lt"/>
              </a:rPr>
              <a:t>limbaj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programare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proiectat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pentru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testa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limitele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limbajelor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programare</a:t>
            </a:r>
            <a:r>
              <a:rPr lang="en-US">
                <a:ea typeface="+mn-lt"/>
                <a:cs typeface="+mn-lt"/>
              </a:rPr>
              <a:t>, ca o </a:t>
            </a:r>
            <a:r>
              <a:rPr lang="en-US" err="1">
                <a:ea typeface="+mn-lt"/>
                <a:cs typeface="+mn-lt"/>
              </a:rPr>
              <a:t>dovadă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unui</a:t>
            </a:r>
            <a:r>
              <a:rPr lang="en-US">
                <a:ea typeface="+mn-lt"/>
                <a:cs typeface="+mn-lt"/>
              </a:rPr>
              <a:t> concept </a:t>
            </a:r>
            <a:r>
              <a:rPr lang="en-US" err="1">
                <a:ea typeface="+mn-lt"/>
                <a:cs typeface="+mn-lt"/>
              </a:rPr>
              <a:t>sau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doar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amuzament</a:t>
            </a:r>
            <a:r>
              <a:rPr lang="en-US">
                <a:ea typeface="+mn-lt"/>
                <a:cs typeface="+mn-lt"/>
              </a:rPr>
              <a:t>. </a:t>
            </a:r>
          </a:p>
          <a:p>
            <a:pPr marL="344170" indent="-337820"/>
            <a:r>
              <a:rPr lang="en-US">
                <a:ea typeface="+mn-lt"/>
                <a:cs typeface="+mn-lt"/>
              </a:rPr>
              <a:t>Nu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nici</a:t>
            </a:r>
            <a:r>
              <a:rPr lang="en-US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intenție</a:t>
            </a:r>
            <a:r>
              <a:rPr lang="en-US">
                <a:ea typeface="+mn-lt"/>
                <a:cs typeface="+mn-lt"/>
              </a:rPr>
              <a:t> ca un </a:t>
            </a:r>
            <a:r>
              <a:rPr lang="en-US" err="1">
                <a:ea typeface="+mn-lt"/>
                <a:cs typeface="+mn-lt"/>
              </a:rPr>
              <a:t>astfel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limbaj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să</a:t>
            </a:r>
            <a:r>
              <a:rPr lang="en-US">
                <a:ea typeface="+mn-lt"/>
                <a:cs typeface="+mn-lt"/>
              </a:rPr>
              <a:t> fie </a:t>
            </a:r>
            <a:r>
              <a:rPr lang="en-US" err="1">
                <a:ea typeface="+mn-lt"/>
                <a:cs typeface="+mn-lt"/>
              </a:rPr>
              <a:t>folosit</a:t>
            </a:r>
            <a:r>
              <a:rPr lang="en-US">
                <a:ea typeface="+mn-lt"/>
                <a:cs typeface="+mn-lt"/>
              </a:rPr>
              <a:t> pe </a:t>
            </a:r>
            <a:r>
              <a:rPr lang="en-US" err="1">
                <a:ea typeface="+mn-lt"/>
                <a:cs typeface="+mn-lt"/>
              </a:rPr>
              <a:t>scară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largă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realizarea</a:t>
            </a:r>
            <a:r>
              <a:rPr lang="en-US">
                <a:ea typeface="+mn-lt"/>
                <a:cs typeface="+mn-lt"/>
              </a:rPr>
              <a:t> de software, </a:t>
            </a:r>
            <a:r>
              <a:rPr lang="en-US" err="1">
                <a:ea typeface="+mn-lt"/>
                <a:cs typeface="+mn-lt"/>
              </a:rPr>
              <a:t>deși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unele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concepte</a:t>
            </a:r>
            <a:r>
              <a:rPr lang="en-US">
                <a:ea typeface="+mn-lt"/>
                <a:cs typeface="+mn-lt"/>
              </a:rPr>
              <a:t> pot fi </a:t>
            </a:r>
            <a:r>
              <a:rPr lang="en-US" err="1">
                <a:ea typeface="+mn-lt"/>
                <a:cs typeface="+mn-lt"/>
              </a:rPr>
              <a:t>puse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în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practică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344170" indent="-337820"/>
            <a:r>
              <a:rPr lang="en-US" err="1">
                <a:cs typeface="Arial" panose="020B0604020202020204"/>
              </a:rPr>
              <a:t>În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următoarele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slideuri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vom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vedea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câteva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limbaje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și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codul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necesar</a:t>
            </a:r>
            <a:r>
              <a:rPr lang="en-US">
                <a:cs typeface="Arial" panose="020B0604020202020204"/>
              </a:rPr>
              <a:t> </a:t>
            </a:r>
            <a:r>
              <a:rPr lang="en-US" err="1">
                <a:cs typeface="Arial" panose="020B0604020202020204"/>
              </a:rPr>
              <a:t>pentru</a:t>
            </a:r>
            <a:r>
              <a:rPr lang="en-US">
                <a:cs typeface="Arial" panose="020B0604020202020204"/>
              </a:rPr>
              <a:t> a </a:t>
            </a:r>
            <a:r>
              <a:rPr lang="en-US" err="1">
                <a:cs typeface="Arial" panose="020B0604020202020204"/>
              </a:rPr>
              <a:t>afișa</a:t>
            </a:r>
            <a:r>
              <a:rPr lang="en-US">
                <a:cs typeface="Arial" panose="020B0604020202020204"/>
              </a:rPr>
              <a:t> „</a:t>
            </a:r>
            <a:r>
              <a:rPr lang="en-US">
                <a:ea typeface="+mn-lt"/>
                <a:cs typeface="+mn-lt"/>
              </a:rPr>
              <a:t>Hello, World!”</a:t>
            </a:r>
            <a:endParaRPr lang="en-US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215623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25F9-076E-4E1C-276A-14AC1F7D1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873" y="502853"/>
            <a:ext cx="3893105" cy="10817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ea typeface="+mj-lt"/>
                <a:cs typeface="+mj-lt"/>
              </a:rPr>
              <a:t>Brainfuck</a:t>
            </a:r>
            <a:endParaRPr lang="en-US">
              <a:cs typeface="Arial" panose="020B060402020202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FD28C-6945-1DF9-2114-BBE8B05AF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76844" y="1583899"/>
            <a:ext cx="3891960" cy="3997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4170" indent="-337820"/>
            <a:r>
              <a:rPr lang="en-US" sz="2400">
                <a:ea typeface="+mn-lt"/>
                <a:cs typeface="+mn-lt"/>
              </a:rPr>
              <a:t>++++++++ [ &gt; ++++ [ &gt; ++ &gt; +++ &gt; +++ &gt; + &lt;&lt;&lt;&lt; - ] &gt; + &gt; + &gt; - &gt;&gt; + [ &lt; ] &lt; - ] &gt; &gt; . &gt; --- . +++++++ .. +++ . &gt;&gt; . &lt; - . &lt; . +++ . ------ . -------- . &gt;&gt; + . &gt; ++ .</a:t>
            </a:r>
            <a:endParaRPr lang="en-US" sz="2400">
              <a:cs typeface="Arial"/>
            </a:endParaRPr>
          </a:p>
        </p:txBody>
      </p:sp>
      <p:pic>
        <p:nvPicPr>
          <p:cNvPr id="6" name="Content Placeholder 5" descr="A recipe on a white background&#10;&#10;Description automatically generated">
            <a:extLst>
              <a:ext uri="{FF2B5EF4-FFF2-40B4-BE49-F238E27FC236}">
                <a16:creationId xmlns:a16="http://schemas.microsoft.com/office/drawing/2014/main" id="{768D234E-1738-3D44-21E6-B6538312C3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50875" y="1345199"/>
            <a:ext cx="3109358" cy="536575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340EAD-E7A6-4834-2898-2328F98C416C}"/>
              </a:ext>
            </a:extLst>
          </p:cNvPr>
          <p:cNvSpPr txBox="1"/>
          <p:nvPr/>
        </p:nvSpPr>
        <p:spPr>
          <a:xfrm>
            <a:off x="6665204" y="734457"/>
            <a:ext cx="3892626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400">
                <a:latin typeface="+mj-lt"/>
                <a:ea typeface="+mj-ea"/>
                <a:cs typeface="Arial"/>
              </a:rPr>
              <a:t>Chef</a:t>
            </a:r>
          </a:p>
        </p:txBody>
      </p:sp>
    </p:spTree>
    <p:extLst>
      <p:ext uri="{BB962C8B-B14F-4D97-AF65-F5344CB8AC3E}">
        <p14:creationId xmlns:p14="http://schemas.microsoft.com/office/powerpoint/2010/main" val="16190668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25F9-076E-4E1C-276A-14AC1F7D1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9126" y="2008492"/>
            <a:ext cx="3893105" cy="10817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ea typeface="+mj-lt"/>
                <a:cs typeface="+mj-lt"/>
              </a:rPr>
              <a:t>LOLCODE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FD28C-6945-1DF9-2114-BBE8B05AF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7445" y="3199707"/>
            <a:ext cx="2533214" cy="152821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6350" indent="0">
              <a:buNone/>
            </a:pPr>
            <a:r>
              <a:rPr lang="en-US">
                <a:latin typeface="Consolas"/>
                <a:ea typeface="+mn-lt"/>
                <a:cs typeface="+mn-lt"/>
              </a:rPr>
              <a:t>HAI
CAN HAS STDIO?
VISIBLE "HAI WORLD!"
KTHXBYE</a:t>
            </a:r>
            <a:endParaRPr lang="en-US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340EAD-E7A6-4834-2898-2328F98C416C}"/>
              </a:ext>
            </a:extLst>
          </p:cNvPr>
          <p:cNvSpPr txBox="1"/>
          <p:nvPr/>
        </p:nvSpPr>
        <p:spPr>
          <a:xfrm>
            <a:off x="1670891" y="583280"/>
            <a:ext cx="3892626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Shakespeare</a:t>
            </a:r>
          </a:p>
          <a:p>
            <a:pPr algn="ctr"/>
            <a:endParaRPr lang="en-US" sz="3400">
              <a:latin typeface="+mj-lt"/>
              <a:ea typeface="+mj-ea"/>
              <a:cs typeface="Arial"/>
            </a:endParaRP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6A29281C-B36B-A3AA-CEB5-A0D12CC09D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20853" y="1712429"/>
            <a:ext cx="4281642" cy="4484407"/>
          </a:xfrm>
        </p:spPr>
      </p:pic>
      <p:pic>
        <p:nvPicPr>
          <p:cNvPr id="9" name="Picture 8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B1DFC906-2C2C-A79C-C0F0-8F00C18C3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449" y="1634169"/>
            <a:ext cx="3996067" cy="489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3155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25F9-076E-4E1C-276A-14AC1F7D1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463" y="860902"/>
            <a:ext cx="3893105" cy="10817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cs typeface="Arial"/>
              </a:rPr>
              <a:t>PIET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340EAD-E7A6-4834-2898-2328F98C416C}"/>
              </a:ext>
            </a:extLst>
          </p:cNvPr>
          <p:cNvSpPr txBox="1"/>
          <p:nvPr/>
        </p:nvSpPr>
        <p:spPr>
          <a:xfrm>
            <a:off x="1771879" y="1092506"/>
            <a:ext cx="3892626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400">
                <a:cs typeface="Arial"/>
              </a:rPr>
              <a:t>OOK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A0B6C4-CC72-9D6D-5AF1-B1F796290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75287" y="1941946"/>
            <a:ext cx="4298173" cy="40161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6350" indent="0">
              <a:buNone/>
            </a:pPr>
            <a:r>
              <a:rPr lang="en-US" sz="1050">
                <a:ea typeface="+mn-lt"/>
                <a:cs typeface="+mn-lt"/>
              </a:rPr>
              <a:t>Ook. Ook? Ook. Ook. Ook. Ook. Ook. Ook. Ook. Ook. Ook. Ook. Ook. Ook. Ook. Ook. Ook. Ook. Ook. Ook. Ook! Ook? Ook? Ook. Ook. Ook. Ook. Ook. Ook. Ook. Ook. Ook. Ook. Ook. Ook. Ook. Ook. Ook. Ook. Ook. Ook. Ook? Ook! Ook! Ook? Ook! Ook? Ook. Ook! Ook. Ook. Ook? Ook. Ook. Ook. Ook. Ook. Ook. Ook. Ook. Ook. Ook. Ook. Ook. Ook. Ook. Ook! Ook? Ook? Ook. Ook. Ook. Ook. Ook. Ook. Ook. Ook. Ook. Ook. Ook? Ook! Ook! Ook? Ook! Ook? Ook. Ook. Ook. Ook! Ook. Ook. Ook. Ook. Ook. Ook. Ook. Ook. Ook. Ook. Ook. Ook. Ook. Ook. Ook. Ook! Ook. Ook! Ook. Ook. Ook. Ook. Ook. Ook. Ook. Ook! Ook. Ook. Ook? Ook. Ook? Ook. Ook? Ook. Ook. Ook. Ook. Ook. Ook. Ook. Ook. Ook. Ook. Ook. Ook. Ook. Ook. Ook. Ook. Ook! Ook? Ook? Ook. Ook. Ook. Ook. Ook. Ook. Ook. Ook. Ook. Ook. Ook? Ook! Ook! Ook? Ook! Ook? Ook. Ook! Ook. Ook. Ook? Ook. Ook? Ook. Ook? Ook. Ook. Ook. Ook. Ook. Ook. Ook. Ook. Ook. Ook. Ook. Ook. Ook. Ook. Ook. Ook. Ook. Ook. Ook. Ook. Ook! Ook? Ook? Ook. Ook. Ook. Ook. Ook. Ook. Ook. Ook. Ook. Ook. Ook. Ook. Ook. Ook. Ook. Ook. Ook. Ook. Ook. Ook. Ook? Ook! Ook! Ook? Ook! Ook? Ook. Ook! Ook! Ook! Ook! Ook! Ook! Ook! Ook. Ook? Ook. Ook? Ook. Ook? Ook. Ook? Ook. Ook! Ook. Ook. Ook. Ook. Ook. Ook. Ook. Ook! Ook. Ook! Ook! Ook! Ook! Ook! Ook! Ook! Ook! Ook! Ook! Ook! Ook! Ook! Ook. Ook! Ook! Ook! Ook! Ook! Ook! Ook! Ook! Ook! Ook! Ook! Ook! Ook! Ook! Ook! Ook! Ook! Ook. Ook. Ook? Ook. Ook? Ook. Ook. Ook! Ook.</a:t>
            </a:r>
            <a:endParaRPr lang="en-US" sz="1050">
              <a:cs typeface="Arial" panose="020B0604020202020204"/>
            </a:endParaRPr>
          </a:p>
        </p:txBody>
      </p:sp>
      <p:pic>
        <p:nvPicPr>
          <p:cNvPr id="7" name="Picture 6" descr="A colorful squares with a black circle&#10;&#10;Description automatically generated">
            <a:extLst>
              <a:ext uri="{FF2B5EF4-FFF2-40B4-BE49-F238E27FC236}">
                <a16:creationId xmlns:a16="http://schemas.microsoft.com/office/drawing/2014/main" id="{B393712A-19AE-CEE4-19A9-3D480B63F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491" y="2105025"/>
            <a:ext cx="418147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4539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25F9-076E-4E1C-276A-14AC1F7D1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463" y="631384"/>
            <a:ext cx="3893105" cy="10817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cs typeface="Arial"/>
              </a:rPr>
              <a:t>VELATO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340EAD-E7A6-4834-2898-2328F98C416C}"/>
              </a:ext>
            </a:extLst>
          </p:cNvPr>
          <p:cNvSpPr txBox="1"/>
          <p:nvPr/>
        </p:nvSpPr>
        <p:spPr>
          <a:xfrm>
            <a:off x="1771879" y="1092506"/>
            <a:ext cx="3892626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400">
                <a:cs typeface="Arial"/>
              </a:rPr>
              <a:t>AWAWA</a:t>
            </a:r>
          </a:p>
        </p:txBody>
      </p:sp>
      <p:pic>
        <p:nvPicPr>
          <p:cNvPr id="3" name="Online Media 2" title="AWA5.0 Overview &amp; Hello World">
            <a:hlinkClick r:id="" action="ppaction://media"/>
            <a:extLst>
              <a:ext uri="{FF2B5EF4-FFF2-40B4-BE49-F238E27FC236}">
                <a16:creationId xmlns:a16="http://schemas.microsoft.com/office/drawing/2014/main" id="{1263E057-684A-4FE4-53BC-8E92C3CCBF91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301627" y="2528118"/>
            <a:ext cx="4831610" cy="2732195"/>
          </a:xfrm>
        </p:spPr>
      </p:pic>
      <p:pic>
        <p:nvPicPr>
          <p:cNvPr id="6" name="Online Media 5" title="Velato - Hello World">
            <a:hlinkClick r:id="" action="ppaction://media"/>
            <a:extLst>
              <a:ext uri="{FF2B5EF4-FFF2-40B4-BE49-F238E27FC236}">
                <a16:creationId xmlns:a16="http://schemas.microsoft.com/office/drawing/2014/main" id="{DC95F742-1AA5-1D24-C72B-3FB6FBD6E503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6345907" y="2687197"/>
            <a:ext cx="4817413" cy="273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579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eme: &quot;Vă mulţumesc pentru atenţie!&quot; - All Templates - Meme-arsenal.com">
            <a:extLst>
              <a:ext uri="{FF2B5EF4-FFF2-40B4-BE49-F238E27FC236}">
                <a16:creationId xmlns:a16="http://schemas.microsoft.com/office/drawing/2014/main" id="{BFB4C73F-92F1-4C35-935F-8C270F857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" y="4590"/>
            <a:ext cx="12332006" cy="1272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458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3EB5-F6EA-314E-4FDD-E511AD585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err="1">
                <a:cs typeface="Arial"/>
              </a:rPr>
              <a:t>Bibliografie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55111-1A84-B992-9EE4-F5E3D01F1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257" y="2052116"/>
            <a:ext cx="8317908" cy="3997828"/>
          </a:xfrm>
        </p:spPr>
        <p:txBody>
          <a:bodyPr>
            <a:normAutofit/>
          </a:bodyPr>
          <a:lstStyle/>
          <a:p>
            <a:pPr marL="344170" indent="-344170"/>
            <a:r>
              <a:rPr lang="en-US">
                <a:ea typeface="+mn-lt"/>
                <a:cs typeface="+mn-lt"/>
                <a:hlinkClick r:id="rId2"/>
              </a:rPr>
              <a:t>https://ro.wikipedia.org/wiki/Criptografie</a:t>
            </a:r>
            <a:endParaRPr lang="en-US">
              <a:ea typeface="+mn-lt"/>
              <a:cs typeface="+mn-lt"/>
            </a:endParaRPr>
          </a:p>
          <a:p>
            <a:pPr marL="344170" indent="-344170"/>
            <a:r>
              <a:rPr lang="en-US">
                <a:ea typeface="+mn-lt"/>
                <a:cs typeface="+mn-lt"/>
                <a:hlinkClick r:id="rId3"/>
              </a:rPr>
              <a:t>https://www.mentenanta.it/blog/academia-it/ce-este-criptografia-cum-algoritmii-pastreaza-informatiile-secrete-si-sigure/</a:t>
            </a:r>
            <a:endParaRPr lang="en-US">
              <a:ea typeface="+mn-lt"/>
              <a:cs typeface="+mn-lt"/>
            </a:endParaRPr>
          </a:p>
          <a:p>
            <a:pPr marL="344170" indent="-344170"/>
            <a:r>
              <a:rPr lang="en-US">
                <a:ea typeface="+mn-lt"/>
                <a:cs typeface="+mn-lt"/>
                <a:hlinkClick r:id="rId4"/>
              </a:rPr>
              <a:t>https://ro.wikipedia.org/wiki/Criptare</a:t>
            </a:r>
            <a:endParaRPr lang="en-US">
              <a:ea typeface="+mn-lt"/>
              <a:cs typeface="+mn-lt"/>
            </a:endParaRPr>
          </a:p>
          <a:p>
            <a:pPr marL="344170" indent="-344170"/>
            <a:r>
              <a:rPr lang="en-US">
                <a:ea typeface="+mn-lt"/>
                <a:cs typeface="+mn-lt"/>
                <a:hlinkClick r:id="rId5"/>
              </a:rPr>
              <a:t>https://chatgpt.com/c/6722c9ff-cff0-8000-9651-da757dd0e4c0</a:t>
            </a:r>
          </a:p>
          <a:p>
            <a:pPr marL="344170" indent="-344170"/>
            <a:r>
              <a:rPr lang="en-US">
                <a:ea typeface="+mn-lt"/>
                <a:cs typeface="+mn-lt"/>
                <a:hlinkClick r:id="rId6"/>
              </a:rPr>
              <a:t>https://www.geeksforgeeks.org/difference-between-python-and-c/</a:t>
            </a:r>
          </a:p>
          <a:p>
            <a:pPr marL="344170" indent="-344170"/>
            <a:r>
              <a:rPr lang="en-US">
                <a:ea typeface="+mn-lt"/>
                <a:cs typeface="+mn-lt"/>
                <a:hlinkClick r:id="rId7"/>
              </a:rPr>
              <a:t>https://cryptohack.org/challenges/general/</a:t>
            </a:r>
          </a:p>
        </p:txBody>
      </p:sp>
    </p:spTree>
    <p:extLst>
      <p:ext uri="{BB962C8B-B14F-4D97-AF65-F5344CB8AC3E}">
        <p14:creationId xmlns:p14="http://schemas.microsoft.com/office/powerpoint/2010/main" val="17800287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3EB5-F6EA-314E-4FDD-E511AD585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cs typeface="Arial"/>
              </a:rPr>
              <a:t>Bibliografie</a:t>
            </a:r>
            <a:endParaRPr lang="en-US">
              <a:solidFill>
                <a:srgbClr val="000000"/>
              </a:solidFill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55111-1A84-B992-9EE4-F5E3D01F1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8322" y="2052116"/>
            <a:ext cx="8521817" cy="3997828"/>
          </a:xfrm>
        </p:spPr>
        <p:txBody>
          <a:bodyPr>
            <a:normAutofit fontScale="92500" lnSpcReduction="20000"/>
          </a:bodyPr>
          <a:lstStyle/>
          <a:p>
            <a:pPr marL="344170" indent="-344170"/>
            <a:r>
              <a:rPr lang="en-US" dirty="0">
                <a:ea typeface="+mn-lt"/>
                <a:cs typeface="+mn-lt"/>
                <a:hlinkClick r:id="rId2"/>
              </a:rPr>
              <a:t>https://moodle.usm.md/pluginfile.php/234513/mod_resource/content/0/Tema%208.%20Func%C8%9Bii%20hash%20criptografice%20%C8%99i%20semn%C4%83turi%20digitale.pdf</a:t>
            </a:r>
          </a:p>
          <a:p>
            <a:pPr marL="344170" indent="-344170"/>
            <a:r>
              <a:rPr lang="en-US" dirty="0">
                <a:ea typeface="+mn-lt"/>
                <a:cs typeface="+mn-lt"/>
                <a:hlinkClick r:id="rId3"/>
              </a:rPr>
              <a:t>https://ro.wikipedia.org/wiki/Func%C8%9Bie_hash</a:t>
            </a:r>
          </a:p>
          <a:p>
            <a:pPr marL="344170" indent="-344170"/>
            <a:r>
              <a:rPr lang="en-US" dirty="0">
                <a:ea typeface="+mn-lt"/>
                <a:cs typeface="+mn-lt"/>
                <a:hlinkClick r:id="rId4"/>
              </a:rPr>
              <a:t>https://www.infoarena.ro/problema/inversmodular</a:t>
            </a:r>
          </a:p>
          <a:p>
            <a:pPr marL="344170" indent="-344170"/>
            <a:r>
              <a:rPr lang="en-US" dirty="0">
                <a:ea typeface="+mn-lt"/>
                <a:cs typeface="+mn-lt"/>
                <a:hlinkClick r:id="rId5"/>
              </a:rPr>
              <a:t>https://www.geeksforgeeks.org/multiplicative-inverse-under-modulo-m/</a:t>
            </a:r>
          </a:p>
          <a:p>
            <a:pPr marL="344170" indent="-344170"/>
            <a:r>
              <a:rPr lang="en-US" dirty="0">
                <a:ea typeface="+mn-lt"/>
                <a:cs typeface="+mn-lt"/>
                <a:hlinkClick r:id="rId6"/>
              </a:rPr>
              <a:t>https://www.highgo.ca/2019/08/08/the-difference-in-five-modes-in-the-aes-encryption-algorithm/</a:t>
            </a:r>
          </a:p>
          <a:p>
            <a:pPr marL="344170" indent="-344170"/>
            <a:r>
              <a:rPr lang="en-US" dirty="0">
                <a:ea typeface="+mn-lt"/>
                <a:cs typeface="+mn-lt"/>
              </a:rPr>
              <a:t>https://users.utcluj.ro/~jim/SSA/Resources/Laboratory/Mesaje%20secrete%20cu%20chei%20publice.pdf</a:t>
            </a:r>
          </a:p>
          <a:p>
            <a:pPr marL="344170" indent="-344170"/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485486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3EB5-F6EA-314E-4FDD-E511AD585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err="1">
                <a:cs typeface="Arial"/>
              </a:rPr>
              <a:t>Bibliografie</a:t>
            </a:r>
            <a:endParaRPr lang="en-US" err="1">
              <a:solidFill>
                <a:srgbClr val="000000"/>
              </a:solidFill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55111-1A84-B992-9EE4-F5E3D01F1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1863" y="2052116"/>
            <a:ext cx="8468302" cy="3997828"/>
          </a:xfrm>
        </p:spPr>
        <p:txBody>
          <a:bodyPr>
            <a:normAutofit lnSpcReduction="10000"/>
          </a:bodyPr>
          <a:lstStyle/>
          <a:p>
            <a:pPr marL="344170" indent="-344170"/>
            <a:r>
              <a:rPr lang="en-US">
                <a:ea typeface="+mn-lt"/>
                <a:cs typeface="+mn-lt"/>
                <a:hlinkClick r:id="rId2"/>
              </a:rPr>
              <a:t>https://ro.wikipedia.org/wiki/Ma%C8%99ina_Enigma</a:t>
            </a:r>
            <a:endParaRPr lang="en-US"/>
          </a:p>
          <a:p>
            <a:pPr marL="344170" indent="-344170"/>
            <a:r>
              <a:rPr lang="en-US">
                <a:ea typeface="+mn-lt"/>
                <a:cs typeface="+mn-lt"/>
                <a:hlinkClick r:id="rId3"/>
              </a:rPr>
              <a:t>https://www.geeksforgeeks.org/data-encryption-standard-des-set-1/</a:t>
            </a:r>
            <a:endParaRPr lang="en-US">
              <a:ea typeface="+mn-lt"/>
              <a:cs typeface="+mn-lt"/>
            </a:endParaRPr>
          </a:p>
          <a:p>
            <a:pPr marL="344170" indent="-344170"/>
            <a:r>
              <a:rPr lang="en-US">
                <a:ea typeface="+mn-lt"/>
                <a:cs typeface="+mn-lt"/>
                <a:hlinkClick r:id="rId4"/>
              </a:rPr>
              <a:t>https://chatgpt.com/c/6723d98a-ae74-8000-8e72-cd4e963a8cad</a:t>
            </a:r>
            <a:endParaRPr lang="en-US">
              <a:ea typeface="+mn-lt"/>
              <a:cs typeface="+mn-lt"/>
            </a:endParaRPr>
          </a:p>
          <a:p>
            <a:pPr marL="344170" indent="-344170"/>
            <a:r>
              <a:rPr lang="en-US">
                <a:ea typeface="+mn-lt"/>
                <a:cs typeface="+mn-lt"/>
                <a:hlinkClick r:id="rId5"/>
              </a:rPr>
              <a:t>https://www.geeksforgeeks.org/double-des-and-triple-des/</a:t>
            </a:r>
          </a:p>
          <a:p>
            <a:pPr marL="344170" indent="-344170"/>
            <a:r>
              <a:rPr lang="en-US">
                <a:ea typeface="+mn-lt"/>
                <a:cs typeface="+mn-lt"/>
                <a:hlinkClick r:id="rId6"/>
              </a:rPr>
              <a:t>https://chatgpt.com/c/6723ea2f-e3bc-8000-9622-051818341f42</a:t>
            </a:r>
          </a:p>
          <a:p>
            <a:pPr marL="344170" indent="-344170"/>
            <a:r>
              <a:rPr lang="en-US">
                <a:ea typeface="+mn-lt"/>
                <a:cs typeface="+mn-lt"/>
                <a:hlinkClick r:id="rId7"/>
              </a:rPr>
              <a:t>https://www.simplilearn.com/tutorials/cryptography-tutorial/aes-encryption</a:t>
            </a:r>
          </a:p>
          <a:p>
            <a:pPr marL="344170" indent="-344170"/>
            <a:r>
              <a:rPr lang="en-US">
                <a:ea typeface="+mn-lt"/>
                <a:cs typeface="+mn-lt"/>
                <a:hlinkClick r:id="rId8"/>
              </a:rPr>
              <a:t>https://medium.com/@gowtham180502/implementing-rsa-algorithm-using-python-836f7da2a8e0</a:t>
            </a:r>
          </a:p>
        </p:txBody>
      </p:sp>
    </p:spTree>
    <p:extLst>
      <p:ext uri="{BB962C8B-B14F-4D97-AF65-F5344CB8AC3E}">
        <p14:creationId xmlns:p14="http://schemas.microsoft.com/office/powerpoint/2010/main" val="16131334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82E"/>
      </a:dk2>
      <a:lt2>
        <a:srgbClr val="C2F5FC"/>
      </a:lt2>
      <a:accent1>
        <a:srgbClr val="4091F3"/>
      </a:accent1>
      <a:accent2>
        <a:srgbClr val="8BBCF1"/>
      </a:accent2>
      <a:accent3>
        <a:srgbClr val="CB6A6A"/>
      </a:accent3>
      <a:accent4>
        <a:srgbClr val="C567AF"/>
      </a:accent4>
      <a:accent5>
        <a:srgbClr val="A684F9"/>
      </a:accent5>
      <a:accent6>
        <a:srgbClr val="A9ACEE"/>
      </a:accent6>
      <a:hlink>
        <a:srgbClr val="6D9CC5"/>
      </a:hlink>
      <a:folHlink>
        <a:srgbClr val="6D82A0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178B2DAB-5DDE-4060-A857-D2E1CDA925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2520</Words>
  <Application>Microsoft Office PowerPoint</Application>
  <PresentationFormat>Widescreen</PresentationFormat>
  <Paragraphs>237</Paragraphs>
  <Slides>57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5" baseType="lpstr">
      <vt:lpstr>Arial</vt:lpstr>
      <vt:lpstr>Consolas</vt:lpstr>
      <vt:lpstr>Courier New</vt:lpstr>
      <vt:lpstr>Lato</vt:lpstr>
      <vt:lpstr>MS Shell Dlg 2</vt:lpstr>
      <vt:lpstr>Wingdings</vt:lpstr>
      <vt:lpstr>Wingdings 3</vt:lpstr>
      <vt:lpstr>Madison</vt:lpstr>
      <vt:lpstr>Introducere în criptografie</vt:lpstr>
      <vt:lpstr>Cuprins</vt:lpstr>
      <vt:lpstr>Ce este criptografia? De ce trebuie să existe? Unde o folosim? Cum ne ajută?</vt:lpstr>
      <vt:lpstr>Criptografia</vt:lpstr>
      <vt:lpstr>Importanță</vt:lpstr>
      <vt:lpstr>Terminologie</vt:lpstr>
      <vt:lpstr>Ce este Python? Care sunt principalele diferențe față de C++?</vt:lpstr>
      <vt:lpstr>Python</vt:lpstr>
      <vt:lpstr>Diferențe majore</vt:lpstr>
      <vt:lpstr>Diferențe majore</vt:lpstr>
      <vt:lpstr>Hai să facem un prim cod!</vt:lpstr>
      <vt:lpstr>XOR   (SAU EXCLUSIV) </vt:lpstr>
      <vt:lpstr>XOR – SAU EXCLUSIV</vt:lpstr>
      <vt:lpstr>PROPRIETĂȚI</vt:lpstr>
      <vt:lpstr>Hai să facem un prim test!</vt:lpstr>
      <vt:lpstr>Funcții de tip HASH</vt:lpstr>
      <vt:lpstr>HASH</vt:lpstr>
      <vt:lpstr>Exemple de funcții hash</vt:lpstr>
      <vt:lpstr>ARTIMETICĂ MODULARĂ Teorema lui Bézout Algoritmul lui Euclid extins Invers modular </vt:lpstr>
      <vt:lpstr>Teorema lui Bézout (avec bisous) </vt:lpstr>
      <vt:lpstr>Algoritmul lui Euclid extins</vt:lpstr>
      <vt:lpstr>Invers modular</vt:lpstr>
      <vt:lpstr>Implementare invers modular Varianta 1</vt:lpstr>
      <vt:lpstr>Implementare invers modular Varianta 2</vt:lpstr>
      <vt:lpstr>Implementare invers modular Varianta 3</vt:lpstr>
      <vt:lpstr>Cifruri arhisimple Cifruri monoalfabetice și polialfabetice</vt:lpstr>
      <vt:lpstr>Cifruri(substituții) monoalfabetice</vt:lpstr>
      <vt:lpstr>Cifruri(substituții) monoalfabetice</vt:lpstr>
      <vt:lpstr>Cifruri(substituții) polialfabetice</vt:lpstr>
      <vt:lpstr>OTP (One-time pad)</vt:lpstr>
      <vt:lpstr>Mașina ENIGMA – o unealtă importantă</vt:lpstr>
      <vt:lpstr>Alt exemplu drăguț</vt:lpstr>
      <vt:lpstr>Cifruri avansate ​Cele mai folosite cifruri AES, DES, Triple-DES, RSA</vt:lpstr>
      <vt:lpstr>Tipuri de criptări</vt:lpstr>
      <vt:lpstr>DES (Data Encryption Standard)</vt:lpstr>
      <vt:lpstr>DES (Data Encryption Standard)</vt:lpstr>
      <vt:lpstr>De ce este DES-ul astăzi depreciat? Așa periculos este? Cum îl putem face mai bine?</vt:lpstr>
      <vt:lpstr>Triple-DES</vt:lpstr>
      <vt:lpstr>Unde este vulnerabil Triple-DES?</vt:lpstr>
      <vt:lpstr>AES</vt:lpstr>
      <vt:lpstr>Tipuri de AES</vt:lpstr>
      <vt:lpstr>Cu ce e mai bun AES?</vt:lpstr>
      <vt:lpstr>Criptare asimetrică - RSA</vt:lpstr>
      <vt:lpstr>RSA</vt:lpstr>
      <vt:lpstr>Cum criptăm și decriptăm RSA</vt:lpstr>
      <vt:lpstr>În practică</vt:lpstr>
      <vt:lpstr>Haideți să encriptăm cu RSA împreună</vt:lpstr>
      <vt:lpstr>Limbaje ezoterice ​Metode amuzante de a scrie cod</vt:lpstr>
      <vt:lpstr> Limbaje de programare ezoterice</vt:lpstr>
      <vt:lpstr>Brainfuck</vt:lpstr>
      <vt:lpstr>LOLCODE</vt:lpstr>
      <vt:lpstr>PIET</vt:lpstr>
      <vt:lpstr>VELATO</vt:lpstr>
      <vt:lpstr>PowerPoint Presentation</vt:lpstr>
      <vt:lpstr>Bibliografie</vt:lpstr>
      <vt:lpstr>Bibliografie</vt:lpstr>
      <vt:lpstr>Bibliografie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Introducere în criptografie</dc:title>
  <dc:creator>Luca</dc:creator>
  <cp:lastModifiedBy>Windows User</cp:lastModifiedBy>
  <cp:revision>19</cp:revision>
  <dcterms:created xsi:type="dcterms:W3CDTF">2024-10-30T23:51:18Z</dcterms:created>
  <dcterms:modified xsi:type="dcterms:W3CDTF">2026-10-08T18:32:38Z</dcterms:modified>
</cp:coreProperties>
</file>