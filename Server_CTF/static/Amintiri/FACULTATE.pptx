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71" r:id="rId8"/>
    <p:sldId id="270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80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1" r:id="rId25"/>
    <p:sldId id="283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-320" y="-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862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Schoolbook" panose="02040604050505020304"/>
              </a:rPr>
              <a:t>Meserii care sună interesant pe o scară de la 1 la 10, unde 10 inseamnă că sunt foarte tentat să urmez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o-R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Meserii care sună interesant pe o scară de la 1 la 10, unde 10 inseamnă că sunt foarte tentat să urmez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Profesor după 35 de ani</c:v>
                </c:pt>
                <c:pt idx="1">
                  <c:v>În domeniul securității cibernetice (Criptografie)</c:v>
                </c:pt>
                <c:pt idx="2">
                  <c:v>În domeniul inteligenței artificiale</c:v>
                </c:pt>
                <c:pt idx="3">
                  <c:v>Programator</c:v>
                </c:pt>
                <c:pt idx="4">
                  <c:v>În domeniul statisticii</c:v>
                </c:pt>
                <c:pt idx="5">
                  <c:v>Profesor înainte de 35 de ani</c:v>
                </c:pt>
                <c:pt idx="6">
                  <c:v>În domeniul roboticii pe partea tehnică</c:v>
                </c:pt>
                <c:pt idx="7">
                  <c:v>În domeniul fizicii</c:v>
                </c:pt>
                <c:pt idx="8">
                  <c:v>Altele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8.5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3.5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D8-4786-AAA1-9008D2FE50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88958624"/>
        <c:axId val="388958952"/>
      </c:barChart>
      <c:catAx>
        <c:axId val="388958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388958952"/>
        <c:crosses val="autoZero"/>
        <c:auto val="1"/>
        <c:lblAlgn val="ctr"/>
        <c:lblOffset val="100"/>
        <c:noMultiLvlLbl val="0"/>
      </c:catAx>
      <c:valAx>
        <c:axId val="388958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388958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o-R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o-R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o-R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Preferințe personale pe o scara de la 1 la 10, unde 10 inseamna ca imi place și  1 ca nu îmi place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Automatică Politehnica București</c:v>
                </c:pt>
                <c:pt idx="1">
                  <c:v>Babeș - Info</c:v>
                </c:pt>
                <c:pt idx="2">
                  <c:v>FMI - București</c:v>
                </c:pt>
                <c:pt idx="3">
                  <c:v>ASE - Cibernetică</c:v>
                </c:pt>
                <c:pt idx="4">
                  <c:v>Restul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EC-49C3-8F09-A7EC01E196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0836128"/>
        <c:axId val="500833176"/>
      </c:barChart>
      <c:catAx>
        <c:axId val="50083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500833176"/>
        <c:crosses val="autoZero"/>
        <c:auto val="1"/>
        <c:lblAlgn val="ctr"/>
        <c:lblOffset val="100"/>
        <c:noMultiLvlLbl val="0"/>
      </c:catAx>
      <c:valAx>
        <c:axId val="500833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500836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o-R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o-R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o-RO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Unde ma duc la facultate?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Sheet1!$A$2:$A$3</c:f>
              <c:strCache>
                <c:ptCount val="2"/>
                <c:pt idx="0">
                  <c:v>În România</c:v>
                </c:pt>
                <c:pt idx="1">
                  <c:v>În străinătate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0.85</c:v>
                </c:pt>
                <c:pt idx="1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BF-404B-8D6F-4AD1B50C9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o-R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o-R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3CE898-5719-4A09-84F7-BBBB7FA31511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A7E3F61E-E184-459C-9A7E-3572531B469B}">
      <dgm:prSet phldrT="[Text]"/>
      <dgm:spPr/>
      <dgm:t>
        <a:bodyPr/>
        <a:lstStyle/>
        <a:p>
          <a:r>
            <a:rPr lang="ro-RO" dirty="0" smtClean="0"/>
            <a:t>Informatică aplicată, Calculatoare</a:t>
          </a:r>
          <a:endParaRPr lang="en-US" dirty="0"/>
        </a:p>
      </dgm:t>
    </dgm:pt>
    <dgm:pt modelId="{12A1DDB2-8BD7-452C-A3D9-0F1C13DD14A6}" type="parTrans" cxnId="{08CD1B97-3EB0-4F88-89C5-6151180CD97F}">
      <dgm:prSet/>
      <dgm:spPr/>
      <dgm:t>
        <a:bodyPr/>
        <a:lstStyle/>
        <a:p>
          <a:endParaRPr lang="en-US"/>
        </a:p>
      </dgm:t>
    </dgm:pt>
    <dgm:pt modelId="{6C2DFB0D-81EB-4311-9374-789B09273B27}" type="sibTrans" cxnId="{08CD1B97-3EB0-4F88-89C5-6151180CD97F}">
      <dgm:prSet/>
      <dgm:spPr/>
      <dgm:t>
        <a:bodyPr/>
        <a:lstStyle/>
        <a:p>
          <a:endParaRPr lang="en-US"/>
        </a:p>
      </dgm:t>
    </dgm:pt>
    <dgm:pt modelId="{88BC7435-DA9E-4199-B41D-178D9034BB55}">
      <dgm:prSet phldrT="[Text]"/>
      <dgm:spPr/>
      <dgm:t>
        <a:bodyPr/>
        <a:lstStyle/>
        <a:p>
          <a:r>
            <a:rPr lang="ro-RO" dirty="0" smtClean="0"/>
            <a:t>Matematică, Statistică, etc</a:t>
          </a:r>
          <a:endParaRPr lang="en-US" dirty="0"/>
        </a:p>
      </dgm:t>
    </dgm:pt>
    <dgm:pt modelId="{96B58DD6-426F-41AC-A3E7-7F27B64A05D0}" type="parTrans" cxnId="{692E602D-4EE1-4072-B763-22C2FD75604A}">
      <dgm:prSet/>
      <dgm:spPr/>
      <dgm:t>
        <a:bodyPr/>
        <a:lstStyle/>
        <a:p>
          <a:endParaRPr lang="en-US"/>
        </a:p>
      </dgm:t>
    </dgm:pt>
    <dgm:pt modelId="{F43307F2-FF38-408A-9764-88F237EE2748}" type="sibTrans" cxnId="{692E602D-4EE1-4072-B763-22C2FD75604A}">
      <dgm:prSet/>
      <dgm:spPr/>
      <dgm:t>
        <a:bodyPr/>
        <a:lstStyle/>
        <a:p>
          <a:endParaRPr lang="en-US"/>
        </a:p>
      </dgm:t>
    </dgm:pt>
    <dgm:pt modelId="{B72DEF40-092C-404C-8B5C-A40746E2E768}">
      <dgm:prSet phldrT="[Text]"/>
      <dgm:spPr/>
      <dgm:t>
        <a:bodyPr/>
        <a:lstStyle/>
        <a:p>
          <a:r>
            <a:rPr lang="ro-RO" dirty="0" smtClean="0"/>
            <a:t>Astronomie, fizică, sau practic orice altceva</a:t>
          </a:r>
          <a:endParaRPr lang="en-US" dirty="0"/>
        </a:p>
      </dgm:t>
    </dgm:pt>
    <dgm:pt modelId="{F6D7D419-0DC2-4701-A0A3-C372804FC01A}" type="sibTrans" cxnId="{DBBB6588-1BE9-4F83-8B4D-366B251714CF}">
      <dgm:prSet/>
      <dgm:spPr/>
      <dgm:t>
        <a:bodyPr/>
        <a:lstStyle/>
        <a:p>
          <a:endParaRPr lang="en-US"/>
        </a:p>
      </dgm:t>
    </dgm:pt>
    <dgm:pt modelId="{A8153118-5FD0-498A-96C8-C78139BEC678}" type="parTrans" cxnId="{DBBB6588-1BE9-4F83-8B4D-366B251714CF}">
      <dgm:prSet/>
      <dgm:spPr/>
      <dgm:t>
        <a:bodyPr/>
        <a:lstStyle/>
        <a:p>
          <a:endParaRPr lang="en-US"/>
        </a:p>
      </dgm:t>
    </dgm:pt>
    <dgm:pt modelId="{3959C3D1-3B5C-4478-9186-20E3D297E613}" type="pres">
      <dgm:prSet presAssocID="{993CE898-5719-4A09-84F7-BBBB7FA31511}" presName="Name0" presStyleCnt="0">
        <dgm:presLayoutVars>
          <dgm:dir/>
          <dgm:animLvl val="lvl"/>
          <dgm:resizeHandles val="exact"/>
        </dgm:presLayoutVars>
      </dgm:prSet>
      <dgm:spPr/>
    </dgm:pt>
    <dgm:pt modelId="{976DE746-B464-4E29-9C50-FA9E0C4B22FA}" type="pres">
      <dgm:prSet presAssocID="{A7E3F61E-E184-459C-9A7E-3572531B469B}" presName="Name8" presStyleCnt="0"/>
      <dgm:spPr/>
    </dgm:pt>
    <dgm:pt modelId="{625BADAE-606F-494F-95DD-8A2545445ED5}" type="pres">
      <dgm:prSet presAssocID="{A7E3F61E-E184-459C-9A7E-3572531B469B}" presName="level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124D25-6BF1-441D-8550-2A8B827FB9C3}" type="pres">
      <dgm:prSet presAssocID="{A7E3F61E-E184-459C-9A7E-3572531B469B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3F5E55-A057-4479-8D8B-508E6244498A}" type="pres">
      <dgm:prSet presAssocID="{88BC7435-DA9E-4199-B41D-178D9034BB55}" presName="Name8" presStyleCnt="0"/>
      <dgm:spPr/>
    </dgm:pt>
    <dgm:pt modelId="{FA83F419-20B5-4427-A0D6-75DD795FF1B0}" type="pres">
      <dgm:prSet presAssocID="{88BC7435-DA9E-4199-B41D-178D9034BB55}" presName="level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F8C884-9C7A-46BA-8A42-BE65617874CD}" type="pres">
      <dgm:prSet presAssocID="{88BC7435-DA9E-4199-B41D-178D9034BB55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353FC4-E7AD-481F-9F81-B6BC2E30DA87}" type="pres">
      <dgm:prSet presAssocID="{B72DEF40-092C-404C-8B5C-A40746E2E768}" presName="Name8" presStyleCnt="0"/>
      <dgm:spPr/>
    </dgm:pt>
    <dgm:pt modelId="{FE315D74-6BAF-41E6-ADAD-4CD8DB961311}" type="pres">
      <dgm:prSet presAssocID="{B72DEF40-092C-404C-8B5C-A40746E2E768}" presName="level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214902-8EA8-4090-958A-643485E09401}" type="pres">
      <dgm:prSet presAssocID="{B72DEF40-092C-404C-8B5C-A40746E2E768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12B6AFD-1309-4D5F-AFCA-9660672D5C9D}" type="presOf" srcId="{88BC7435-DA9E-4199-B41D-178D9034BB55}" destId="{FA83F419-20B5-4427-A0D6-75DD795FF1B0}" srcOrd="0" destOrd="0" presId="urn:microsoft.com/office/officeart/2005/8/layout/pyramid1"/>
    <dgm:cxn modelId="{58C49738-5780-4549-B4B1-452577C82D77}" type="presOf" srcId="{A7E3F61E-E184-459C-9A7E-3572531B469B}" destId="{625BADAE-606F-494F-95DD-8A2545445ED5}" srcOrd="0" destOrd="0" presId="urn:microsoft.com/office/officeart/2005/8/layout/pyramid1"/>
    <dgm:cxn modelId="{E66E32F7-DCBC-428B-84F3-E50654C4A144}" type="presOf" srcId="{993CE898-5719-4A09-84F7-BBBB7FA31511}" destId="{3959C3D1-3B5C-4478-9186-20E3D297E613}" srcOrd="0" destOrd="0" presId="urn:microsoft.com/office/officeart/2005/8/layout/pyramid1"/>
    <dgm:cxn modelId="{DBBB6588-1BE9-4F83-8B4D-366B251714CF}" srcId="{993CE898-5719-4A09-84F7-BBBB7FA31511}" destId="{B72DEF40-092C-404C-8B5C-A40746E2E768}" srcOrd="2" destOrd="0" parTransId="{A8153118-5FD0-498A-96C8-C78139BEC678}" sibTransId="{F6D7D419-0DC2-4701-A0A3-C372804FC01A}"/>
    <dgm:cxn modelId="{1EB86CE8-E583-4A73-BA00-211D6D78E7CC}" type="presOf" srcId="{A7E3F61E-E184-459C-9A7E-3572531B469B}" destId="{3E124D25-6BF1-441D-8550-2A8B827FB9C3}" srcOrd="1" destOrd="0" presId="urn:microsoft.com/office/officeart/2005/8/layout/pyramid1"/>
    <dgm:cxn modelId="{9DAE1BB0-37CF-45AD-9F34-38F343B528C0}" type="presOf" srcId="{88BC7435-DA9E-4199-B41D-178D9034BB55}" destId="{21F8C884-9C7A-46BA-8A42-BE65617874CD}" srcOrd="1" destOrd="0" presId="urn:microsoft.com/office/officeart/2005/8/layout/pyramid1"/>
    <dgm:cxn modelId="{08CD1B97-3EB0-4F88-89C5-6151180CD97F}" srcId="{993CE898-5719-4A09-84F7-BBBB7FA31511}" destId="{A7E3F61E-E184-459C-9A7E-3572531B469B}" srcOrd="0" destOrd="0" parTransId="{12A1DDB2-8BD7-452C-A3D9-0F1C13DD14A6}" sibTransId="{6C2DFB0D-81EB-4311-9374-789B09273B27}"/>
    <dgm:cxn modelId="{692E602D-4EE1-4072-B763-22C2FD75604A}" srcId="{993CE898-5719-4A09-84F7-BBBB7FA31511}" destId="{88BC7435-DA9E-4199-B41D-178D9034BB55}" srcOrd="1" destOrd="0" parTransId="{96B58DD6-426F-41AC-A3E7-7F27B64A05D0}" sibTransId="{F43307F2-FF38-408A-9764-88F237EE2748}"/>
    <dgm:cxn modelId="{F350278F-2C13-4154-97BD-B4EBE40CABB4}" type="presOf" srcId="{B72DEF40-092C-404C-8B5C-A40746E2E768}" destId="{FE315D74-6BAF-41E6-ADAD-4CD8DB961311}" srcOrd="0" destOrd="0" presId="urn:microsoft.com/office/officeart/2005/8/layout/pyramid1"/>
    <dgm:cxn modelId="{2F3FE870-422C-45D1-B7EF-C93F58B4D9FE}" type="presOf" srcId="{B72DEF40-092C-404C-8B5C-A40746E2E768}" destId="{1C214902-8EA8-4090-958A-643485E09401}" srcOrd="1" destOrd="0" presId="urn:microsoft.com/office/officeart/2005/8/layout/pyramid1"/>
    <dgm:cxn modelId="{52883F44-861A-4A3C-8C02-E971DE66E263}" type="presParOf" srcId="{3959C3D1-3B5C-4478-9186-20E3D297E613}" destId="{976DE746-B464-4E29-9C50-FA9E0C4B22FA}" srcOrd="0" destOrd="0" presId="urn:microsoft.com/office/officeart/2005/8/layout/pyramid1"/>
    <dgm:cxn modelId="{DEB8BEFC-218F-4F2D-AD1F-4241E3E59B22}" type="presParOf" srcId="{976DE746-B464-4E29-9C50-FA9E0C4B22FA}" destId="{625BADAE-606F-494F-95DD-8A2545445ED5}" srcOrd="0" destOrd="0" presId="urn:microsoft.com/office/officeart/2005/8/layout/pyramid1"/>
    <dgm:cxn modelId="{31DBC543-B40F-478F-9FAE-7C91F0AEB79F}" type="presParOf" srcId="{976DE746-B464-4E29-9C50-FA9E0C4B22FA}" destId="{3E124D25-6BF1-441D-8550-2A8B827FB9C3}" srcOrd="1" destOrd="0" presId="urn:microsoft.com/office/officeart/2005/8/layout/pyramid1"/>
    <dgm:cxn modelId="{DE95D11B-0715-46C4-B56F-FB1DF8F48FA1}" type="presParOf" srcId="{3959C3D1-3B5C-4478-9186-20E3D297E613}" destId="{1A3F5E55-A057-4479-8D8B-508E6244498A}" srcOrd="1" destOrd="0" presId="urn:microsoft.com/office/officeart/2005/8/layout/pyramid1"/>
    <dgm:cxn modelId="{0D1EDC0D-C95C-4369-A463-D6ED3BD6026D}" type="presParOf" srcId="{1A3F5E55-A057-4479-8D8B-508E6244498A}" destId="{FA83F419-20B5-4427-A0D6-75DD795FF1B0}" srcOrd="0" destOrd="0" presId="urn:microsoft.com/office/officeart/2005/8/layout/pyramid1"/>
    <dgm:cxn modelId="{CA9F67DA-284B-4DDC-ABD2-DAB141D2474C}" type="presParOf" srcId="{1A3F5E55-A057-4479-8D8B-508E6244498A}" destId="{21F8C884-9C7A-46BA-8A42-BE65617874CD}" srcOrd="1" destOrd="0" presId="urn:microsoft.com/office/officeart/2005/8/layout/pyramid1"/>
    <dgm:cxn modelId="{1BD927E0-0901-45ED-B0B5-76A981100995}" type="presParOf" srcId="{3959C3D1-3B5C-4478-9186-20E3D297E613}" destId="{AB353FC4-E7AD-481F-9F81-B6BC2E30DA87}" srcOrd="2" destOrd="0" presId="urn:microsoft.com/office/officeart/2005/8/layout/pyramid1"/>
    <dgm:cxn modelId="{51474D81-B6BE-41EC-B281-BA87285361F7}" type="presParOf" srcId="{AB353FC4-E7AD-481F-9F81-B6BC2E30DA87}" destId="{FE315D74-6BAF-41E6-ADAD-4CD8DB961311}" srcOrd="0" destOrd="0" presId="urn:microsoft.com/office/officeart/2005/8/layout/pyramid1"/>
    <dgm:cxn modelId="{6B051BC4-909D-4EF7-B0D1-9F681F4E16D8}" type="presParOf" srcId="{AB353FC4-E7AD-481F-9F81-B6BC2E30DA87}" destId="{1C214902-8EA8-4090-958A-643485E0940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5BADAE-606F-494F-95DD-8A2545445ED5}">
      <dsp:nvSpPr>
        <dsp:cNvPr id="0" name=""/>
        <dsp:cNvSpPr/>
      </dsp:nvSpPr>
      <dsp:spPr>
        <a:xfrm>
          <a:off x="2864908" y="0"/>
          <a:ext cx="2864908" cy="1450446"/>
        </a:xfrm>
        <a:prstGeom prst="trapezoid">
          <a:avLst>
            <a:gd name="adj" fmla="val 987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300" kern="1200" dirty="0" smtClean="0"/>
            <a:t>Informatică aplicată, Calculatoare</a:t>
          </a:r>
          <a:endParaRPr lang="en-US" sz="3300" kern="1200" dirty="0"/>
        </a:p>
      </dsp:txBody>
      <dsp:txXfrm>
        <a:off x="2864908" y="0"/>
        <a:ext cx="2864908" cy="1450446"/>
      </dsp:txXfrm>
    </dsp:sp>
    <dsp:sp modelId="{FA83F419-20B5-4427-A0D6-75DD795FF1B0}">
      <dsp:nvSpPr>
        <dsp:cNvPr id="0" name=""/>
        <dsp:cNvSpPr/>
      </dsp:nvSpPr>
      <dsp:spPr>
        <a:xfrm>
          <a:off x="1432454" y="1450446"/>
          <a:ext cx="5729816" cy="1450446"/>
        </a:xfrm>
        <a:prstGeom prst="trapezoid">
          <a:avLst>
            <a:gd name="adj" fmla="val 987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300" kern="1200" dirty="0" smtClean="0"/>
            <a:t>Matematică, Statistică, etc</a:t>
          </a:r>
          <a:endParaRPr lang="en-US" sz="3300" kern="1200" dirty="0"/>
        </a:p>
      </dsp:txBody>
      <dsp:txXfrm>
        <a:off x="2435172" y="1450446"/>
        <a:ext cx="3724380" cy="1450446"/>
      </dsp:txXfrm>
    </dsp:sp>
    <dsp:sp modelId="{FE315D74-6BAF-41E6-ADAD-4CD8DB961311}">
      <dsp:nvSpPr>
        <dsp:cNvPr id="0" name=""/>
        <dsp:cNvSpPr/>
      </dsp:nvSpPr>
      <dsp:spPr>
        <a:xfrm>
          <a:off x="0" y="2900892"/>
          <a:ext cx="8594725" cy="1450446"/>
        </a:xfrm>
        <a:prstGeom prst="trapezoid">
          <a:avLst>
            <a:gd name="adj" fmla="val 987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o-RO" sz="3300" kern="1200" dirty="0" smtClean="0"/>
            <a:t>Astronomie, fizică, sau practic orice altceva</a:t>
          </a:r>
          <a:endParaRPr lang="en-US" sz="3300" kern="1200" dirty="0"/>
        </a:p>
      </dsp:txBody>
      <dsp:txXfrm>
        <a:off x="1504076" y="2900892"/>
        <a:ext cx="5586571" cy="14504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35760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90167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97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02563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8586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115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567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80238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9081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94086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80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12AD291-F556-4273-ADCD-4E180EBB7764}" type="datetimeFigureOut">
              <a:rPr lang="ro-RO" smtClean="0"/>
              <a:t>08.09.2024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CF479DB-4F87-4BE6-8929-6E6B9549235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4575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e.nl/en/education/degree-programs/bachelor-programs" TargetMode="External"/><Relationship Id="rId2" Type="http://schemas.openxmlformats.org/officeDocument/2006/relationships/hyperlink" Target="https://www.tudelft.nl/en/education/programmes/bachelors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mes.polytechnique.edu/en/bachelor/admissions/admissions-criteria-and-procedure" TargetMode="External"/><Relationship Id="rId2" Type="http://schemas.openxmlformats.org/officeDocument/2006/relationships/hyperlink" Target="https://www.polytechnique.edu/education/programmes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polito.it/en/education/bachelor-s-degree-programmes" TargetMode="External"/><Relationship Id="rId4" Type="http://schemas.openxmlformats.org/officeDocument/2006/relationships/hyperlink" Target="https://programmes.polytechnique.edu/bachelor/a-propos-du-bachelor/bachelor-of-science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s.sorbonne-universite.fr/formation-sciences/offre-de-formation/offre-de-formation-par-discipline" TargetMode="External"/><Relationship Id="rId2" Type="http://schemas.openxmlformats.org/officeDocument/2006/relationships/hyperlink" Target="https://psl.eu/formations?field_niveau%5B29%5D=29&amp;field_discipline=&amp;domaine%5B28%5D=28&amp;domaine%5B27%5D=27&amp;field_mots_cles=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fl.ch/education/bachelor/fr/programmes/" TargetMode="External"/><Relationship Id="rId2" Type="http://schemas.openxmlformats.org/officeDocument/2006/relationships/hyperlink" Target="https://ens-paris-saclay.fr/en/entites/departements" TargetMode="Externa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1"/>
            <a:ext cx="9418320" cy="4965285"/>
          </a:xfrm>
        </p:spPr>
        <p:txBody>
          <a:bodyPr>
            <a:normAutofit fontScale="90000"/>
          </a:bodyPr>
          <a:lstStyle/>
          <a:p>
            <a:r>
              <a:rPr lang="ro-RO" sz="5400" dirty="0" smtClean="0"/>
              <a:t>FACULTATE</a:t>
            </a:r>
            <a:br>
              <a:rPr lang="ro-RO" sz="5400" dirty="0" smtClean="0"/>
            </a:br>
            <a:r>
              <a:rPr lang="ro-RO" sz="5400" dirty="0" smtClean="0"/>
              <a:t>Ce planuri am?</a:t>
            </a:r>
            <a:br>
              <a:rPr lang="ro-RO" sz="5400" dirty="0" smtClean="0"/>
            </a:br>
            <a:r>
              <a:rPr lang="ro-RO" sz="5400" dirty="0" smtClean="0"/>
              <a:t>Ce urmează? </a:t>
            </a:r>
            <a:br>
              <a:rPr lang="ro-RO" sz="5400" dirty="0" smtClean="0"/>
            </a:br>
            <a:r>
              <a:rPr lang="ro-RO" sz="5400" dirty="0" smtClean="0"/>
              <a:t>Unde aș vrea să mă îndrept?</a:t>
            </a:r>
            <a:br>
              <a:rPr lang="ro-RO" sz="5400" dirty="0" smtClean="0"/>
            </a:br>
            <a:r>
              <a:rPr lang="ro-RO" sz="5400" dirty="0" smtClean="0"/>
              <a:t>De ce am ales?</a:t>
            </a:r>
            <a:br>
              <a:rPr lang="ro-RO" sz="5400" dirty="0" smtClean="0"/>
            </a:br>
            <a:r>
              <a:rPr lang="ro-RO" sz="5400" dirty="0" smtClean="0"/>
              <a:t>Practic întrebări fără răspuns!</a:t>
            </a:r>
            <a:endParaRPr lang="ro-RO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5724237"/>
            <a:ext cx="9418320" cy="676564"/>
          </a:xfrm>
        </p:spPr>
        <p:txBody>
          <a:bodyPr/>
          <a:lstStyle/>
          <a:p>
            <a:r>
              <a:rPr lang="ro-RO" dirty="0" smtClean="0"/>
              <a:t>Model creat de Tanasescu Luca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1559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6000" dirty="0" smtClean="0"/>
              <a:t>Facultatea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3200" dirty="0" smtClean="0"/>
              <a:t>Decizie grea</a:t>
            </a:r>
          </a:p>
          <a:p>
            <a:r>
              <a:rPr lang="ro-RO" sz="3200" dirty="0" smtClean="0"/>
              <a:t>Multe opțiune</a:t>
            </a:r>
          </a:p>
          <a:p>
            <a:r>
              <a:rPr lang="ro-RO" sz="3200" dirty="0" smtClean="0"/>
              <a:t>Opinii diverse</a:t>
            </a:r>
          </a:p>
          <a:p>
            <a:r>
              <a:rPr lang="ro-RO" sz="3200" dirty="0" smtClean="0"/>
              <a:t>Impact mare asupra viitorului</a:t>
            </a:r>
          </a:p>
          <a:p>
            <a:r>
              <a:rPr lang="ro-RO" sz="3200" dirty="0" smtClean="0"/>
              <a:t>Decizie profil</a:t>
            </a:r>
          </a:p>
          <a:p>
            <a:r>
              <a:rPr lang="ro-RO" sz="3200" dirty="0" smtClean="0"/>
              <a:t>Impact FOARTE mare asupra viitorului</a:t>
            </a:r>
            <a:endParaRPr lang="ro-RO" sz="3200" dirty="0"/>
          </a:p>
        </p:txBody>
      </p:sp>
    </p:spTree>
    <p:extLst>
      <p:ext uri="{BB962C8B-B14F-4D97-AF65-F5344CB8AC3E}">
        <p14:creationId xmlns:p14="http://schemas.microsoft.com/office/powerpoint/2010/main" val="337897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6000" dirty="0" smtClean="0"/>
              <a:t>Ce conține acest...material?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3200" dirty="0" smtClean="0"/>
              <a:t>Profilul meu</a:t>
            </a:r>
          </a:p>
          <a:p>
            <a:r>
              <a:rPr lang="ro-RO" sz="3200" dirty="0" smtClean="0"/>
              <a:t>Domeniul preferat</a:t>
            </a:r>
          </a:p>
          <a:p>
            <a:r>
              <a:rPr lang="ro-RO" sz="3200" dirty="0" smtClean="0"/>
              <a:t>Facultăți din țară</a:t>
            </a:r>
          </a:p>
          <a:p>
            <a:r>
              <a:rPr lang="ro-RO" sz="3200" dirty="0" smtClean="0"/>
              <a:t>Facultăți din străinătate</a:t>
            </a:r>
          </a:p>
          <a:p>
            <a:r>
              <a:rPr lang="ro-RO" sz="3200" dirty="0" smtClean="0"/>
              <a:t>Costuri</a:t>
            </a:r>
          </a:p>
          <a:p>
            <a:r>
              <a:rPr lang="ro-RO" sz="3200" dirty="0" smtClean="0"/>
              <a:t>Preferințe</a:t>
            </a:r>
          </a:p>
        </p:txBody>
      </p:sp>
    </p:spTree>
    <p:extLst>
      <p:ext uri="{BB962C8B-B14F-4D97-AF65-F5344CB8AC3E}">
        <p14:creationId xmlns:p14="http://schemas.microsoft.com/office/powerpoint/2010/main" val="150880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Portofoliu personal: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8 module ECDL</a:t>
            </a:r>
          </a:p>
          <a:p>
            <a:r>
              <a:rPr lang="ro-RO" dirty="0" smtClean="0"/>
              <a:t>4 diplome de volutariat ecologie</a:t>
            </a:r>
          </a:p>
          <a:p>
            <a:r>
              <a:rPr lang="ro-RO" dirty="0" smtClean="0"/>
              <a:t>7 diplome de voluntariat la: Asociația Broboți și Imago Mundi</a:t>
            </a:r>
          </a:p>
          <a:p>
            <a:r>
              <a:rPr lang="ro-RO" dirty="0" smtClean="0"/>
              <a:t>Cel mai probabil termin cu 10 liceul și gimnaziul</a:t>
            </a:r>
          </a:p>
          <a:p>
            <a:r>
              <a:rPr lang="ro-RO" dirty="0" smtClean="0"/>
              <a:t>Participare la 9 olimpiade naționale, cu puține spre deloc premii</a:t>
            </a:r>
          </a:p>
          <a:p>
            <a:r>
              <a:rPr lang="ro-RO" dirty="0" smtClean="0"/>
              <a:t>Nivel B2 de engleză</a:t>
            </a:r>
          </a:p>
          <a:p>
            <a:r>
              <a:rPr lang="ro-RO" dirty="0" smtClean="0"/>
              <a:t>2 proiecte Erasmus + 2 schimburi de experiență Erasmus în gimnaziu</a:t>
            </a:r>
          </a:p>
          <a:p>
            <a:r>
              <a:rPr lang="ro-RO" dirty="0" smtClean="0"/>
              <a:t>Coordonator timp de un an la un club școlar</a:t>
            </a:r>
          </a:p>
          <a:p>
            <a:r>
              <a:rPr lang="ro-RO" dirty="0" smtClean="0"/>
              <a:t>Alte lucruri diverse </a:t>
            </a:r>
          </a:p>
        </p:txBody>
      </p:sp>
    </p:spTree>
    <p:extLst>
      <p:ext uri="{BB962C8B-B14F-4D97-AF65-F5344CB8AC3E}">
        <p14:creationId xmlns:p14="http://schemas.microsoft.com/office/powerpoint/2010/main" val="425994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600" dirty="0" smtClean="0"/>
              <a:t>Ce planuri am/ nu </a:t>
            </a:r>
            <a:r>
              <a:rPr lang="ro-RO" sz="3600" dirty="0" smtClean="0"/>
              <a:t>am pentru clasa a XI-a?</a:t>
            </a:r>
            <a:endParaRPr lang="ro-RO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sz="2000" dirty="0" smtClean="0"/>
              <a:t>Susținere examen Delf B2 de nivel de limba franceză în noiembrie 2024</a:t>
            </a:r>
          </a:p>
          <a:p>
            <a:r>
              <a:rPr lang="ro-RO" sz="2000" dirty="0" smtClean="0"/>
              <a:t>Pe moment nu am în plan niciun examen de engleză</a:t>
            </a:r>
          </a:p>
          <a:p>
            <a:r>
              <a:rPr lang="ro-RO" sz="2000" dirty="0" smtClean="0"/>
              <a:t>Să progresez la </a:t>
            </a:r>
            <a:r>
              <a:rPr lang="ro-RO" sz="2000" dirty="0" smtClean="0"/>
              <a:t>informatică ( m-au primit cei de la Nerdvana) </a:t>
            </a:r>
            <a:endParaRPr lang="ro-RO" sz="2000" dirty="0" smtClean="0"/>
          </a:p>
          <a:p>
            <a:r>
              <a:rPr lang="ro-RO" sz="2000" dirty="0" smtClean="0"/>
              <a:t>Să învăț mai multă criptografie</a:t>
            </a:r>
          </a:p>
          <a:p>
            <a:r>
              <a:rPr lang="ro-RO" sz="2000" dirty="0" smtClean="0"/>
              <a:t>Să continui hobby-urile precum pianul</a:t>
            </a:r>
          </a:p>
          <a:p>
            <a:r>
              <a:rPr lang="ro-RO" sz="2000" dirty="0" smtClean="0"/>
              <a:t>Să am un program organizat după școală </a:t>
            </a:r>
          </a:p>
          <a:p>
            <a:r>
              <a:rPr lang="ro-RO" sz="2000" dirty="0" smtClean="0"/>
              <a:t>Aplicarea la tabere de vară la facultăță la care aș vrea să aplic</a:t>
            </a:r>
          </a:p>
          <a:p>
            <a:r>
              <a:rPr lang="ro-RO" sz="2000" dirty="0" smtClean="0"/>
              <a:t>Să am un rezultat cel puțin la fel de bun la olimpiade, niciuna în plus, poate în minus.</a:t>
            </a:r>
          </a:p>
        </p:txBody>
      </p:sp>
    </p:spTree>
    <p:extLst>
      <p:ext uri="{BB962C8B-B14F-4D97-AF65-F5344CB8AC3E}">
        <p14:creationId xmlns:p14="http://schemas.microsoft.com/office/powerpoint/2010/main" val="10560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La ce dau la facultate? (la licență)</a:t>
            </a:r>
            <a:endParaRPr lang="ro-RO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790999"/>
              </p:ext>
            </p:extLst>
          </p:nvPr>
        </p:nvGraphicFramePr>
        <p:xfrm>
          <a:off x="1262063" y="1828800"/>
          <a:ext cx="85947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666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4000" dirty="0" smtClean="0"/>
              <a:t>Ce meserii mă tenteză să urmez astăzi?</a:t>
            </a:r>
            <a:endParaRPr lang="ro-RO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475451"/>
              </p:ext>
            </p:extLst>
          </p:nvPr>
        </p:nvGraphicFramePr>
        <p:xfrm>
          <a:off x="831273" y="1828800"/>
          <a:ext cx="9744363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8154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 smtClean="0"/>
              <a:t>Facultăți în țară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/>
              <a:t>Facultățile din România despre care m-am documentat, reflectând pe cât mai mult posibil dorințele mele.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1602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Facultatea în România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dirty="0"/>
              <a:t>Cel mai probabil aici </a:t>
            </a:r>
            <a:r>
              <a:rPr lang="ro-RO" sz="2400" dirty="0" smtClean="0"/>
              <a:t>voi </a:t>
            </a:r>
            <a:r>
              <a:rPr lang="ro-RO" sz="2400" dirty="0"/>
              <a:t>merge</a:t>
            </a:r>
          </a:p>
          <a:p>
            <a:r>
              <a:rPr lang="ro-RO" sz="2400" dirty="0"/>
              <a:t>Prin aici mă refer la România, nu la UPIT</a:t>
            </a:r>
          </a:p>
          <a:p>
            <a:r>
              <a:rPr lang="ro-RO" sz="2400" dirty="0"/>
              <a:t>Recunoscute destul de bine pe plan local</a:t>
            </a:r>
          </a:p>
          <a:p>
            <a:r>
              <a:rPr lang="ro-RO" sz="2400" dirty="0"/>
              <a:t>Distanță relativ mică de Pitești</a:t>
            </a:r>
          </a:p>
          <a:p>
            <a:r>
              <a:rPr lang="ro-RO" sz="2400" dirty="0"/>
              <a:t>Mai </a:t>
            </a:r>
            <a:r>
              <a:rPr lang="ro-RO" sz="2400" dirty="0" smtClean="0"/>
              <a:t>ieftin</a:t>
            </a:r>
            <a:endParaRPr lang="ro-RO" sz="2000" dirty="0" smtClean="0"/>
          </a:p>
          <a:p>
            <a:r>
              <a:rPr lang="ro-RO" sz="2400" dirty="0" smtClean="0"/>
              <a:t>Nu există bariere lingvistice</a:t>
            </a:r>
          </a:p>
          <a:p>
            <a:r>
              <a:rPr lang="ro-RO" sz="2400" dirty="0" smtClean="0"/>
              <a:t>Facultăți pe care le-am studiat și de care știu lucruri</a:t>
            </a:r>
          </a:p>
          <a:p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152760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La automatică sigur, nu sunt interesat în alte facultăți precum electronica sau cea de inginerie industrială și robotică.</a:t>
            </a:r>
          </a:p>
          <a:p>
            <a:r>
              <a:rPr lang="ro-RO" dirty="0" smtClean="0"/>
              <a:t>Examen de admitere 10 itemi grilă cu opțiune de preadmitere, nu foarte greu, la mate și info/fizică</a:t>
            </a:r>
          </a:p>
          <a:p>
            <a:r>
              <a:rPr lang="ro-RO" dirty="0"/>
              <a:t>2 specializăti </a:t>
            </a:r>
            <a:r>
              <a:rPr lang="ro-RO" b="1" dirty="0"/>
              <a:t>Calculatoare şi Tehnologia </a:t>
            </a:r>
            <a:r>
              <a:rPr lang="ro-RO" b="1" dirty="0" smtClean="0"/>
              <a:t>Informaţiei </a:t>
            </a:r>
            <a:r>
              <a:rPr lang="ro-RO" dirty="0" smtClean="0"/>
              <a:t>și </a:t>
            </a:r>
            <a:r>
              <a:rPr lang="ro-RO" b="1" dirty="0"/>
              <a:t>Ingineria </a:t>
            </a:r>
            <a:r>
              <a:rPr lang="ro-RO" b="1" dirty="0" smtClean="0"/>
              <a:t>Sistemelor</a:t>
            </a:r>
          </a:p>
          <a:p>
            <a:r>
              <a:rPr lang="ro-RO" dirty="0" smtClean="0"/>
              <a:t>Oportunități diverse </a:t>
            </a:r>
          </a:p>
          <a:p>
            <a:r>
              <a:rPr lang="ro-RO" dirty="0" smtClean="0"/>
              <a:t>Cea mai bună din București </a:t>
            </a:r>
          </a:p>
          <a:p>
            <a:r>
              <a:rPr lang="ro-RO" dirty="0" smtClean="0"/>
              <a:t>Am fost de multe ori, inclusiv la cursuri și cunosc facultatea</a:t>
            </a:r>
          </a:p>
          <a:p>
            <a:r>
              <a:rPr lang="ro-RO" dirty="0" smtClean="0"/>
              <a:t>Am auzit despre profesori</a:t>
            </a:r>
          </a:p>
          <a:p>
            <a:r>
              <a:rPr lang="ro-RO" dirty="0" smtClean="0"/>
              <a:t>Nu am probleme cu admiterea, imi trebuie doar atenție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Politehnica București</a:t>
            </a:r>
            <a:endParaRPr lang="ro-RO" dirty="0"/>
          </a:p>
        </p:txBody>
      </p:sp>
      <p:pic>
        <p:nvPicPr>
          <p:cNvPr id="1028" name="Picture 4" descr="UPB Identitate Vizuală / LOGO - Universitatea Politehnica din Bucurest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038" y="182880"/>
            <a:ext cx="1691322" cy="169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1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Alte facultăți din București: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2400" dirty="0" smtClean="0"/>
              <a:t>FMI – foarte teoreticizată, mereu este o opțiune mai bună politehnica, unde înveți mai practic, o iau în considerare</a:t>
            </a:r>
          </a:p>
          <a:p>
            <a:r>
              <a:rPr lang="ro-RO" sz="2400" dirty="0" smtClean="0"/>
              <a:t>Cibernetica de la Ase, nu e cine știe ce</a:t>
            </a:r>
          </a:p>
          <a:p>
            <a:r>
              <a:rPr lang="ro-RO" sz="2400" dirty="0" smtClean="0"/>
              <a:t>Nu sunt interesat în medicină sau construcții sau muzică</a:t>
            </a:r>
          </a:p>
          <a:p>
            <a:r>
              <a:rPr lang="ro-RO" sz="2400" dirty="0"/>
              <a:t>Nu dau la Facultatea de Fizică de la </a:t>
            </a:r>
            <a:r>
              <a:rPr lang="ro-RO" sz="2400" dirty="0" smtClean="0"/>
              <a:t>Măgurele</a:t>
            </a:r>
          </a:p>
          <a:p>
            <a:r>
              <a:rPr lang="ro-RO" sz="2400" dirty="0" smtClean="0"/>
              <a:t>Cam astea ar fi opțiunile din București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350849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Babeș și Automatica de la Cluj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2400" dirty="0" smtClean="0"/>
              <a:t>FMI-ul de la Babeș are diverse programe pe mate și pe info</a:t>
            </a:r>
          </a:p>
          <a:p>
            <a:r>
              <a:rPr lang="ro-RO" sz="2400" dirty="0" smtClean="0"/>
              <a:t>Babeș cea mai bună din țară</a:t>
            </a:r>
          </a:p>
          <a:p>
            <a:r>
              <a:rPr lang="ro-RO" sz="2400" dirty="0" smtClean="0"/>
              <a:t>Clujul e departe</a:t>
            </a:r>
          </a:p>
          <a:p>
            <a:r>
              <a:rPr lang="ro-RO" sz="2400" dirty="0" smtClean="0"/>
              <a:t>Clujul e scump</a:t>
            </a:r>
          </a:p>
          <a:p>
            <a:r>
              <a:rPr lang="ro-RO" sz="2400" dirty="0" smtClean="0"/>
              <a:t>Este de luat în considerare</a:t>
            </a:r>
          </a:p>
          <a:p>
            <a:r>
              <a:rPr lang="ro-RO" sz="2400" dirty="0" smtClean="0"/>
              <a:t>Clujul, orașul IT-iștilor</a:t>
            </a:r>
          </a:p>
        </p:txBody>
      </p:sp>
    </p:spTree>
    <p:extLst>
      <p:ext uri="{BB962C8B-B14F-4D97-AF65-F5344CB8AC3E}">
        <p14:creationId xmlns:p14="http://schemas.microsoft.com/office/powerpoint/2010/main" val="374646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Restul țării, nu sunt foarte interesat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o-RO" sz="2800" dirty="0" smtClean="0"/>
              <a:t>Timișoara:</a:t>
            </a:r>
          </a:p>
          <a:p>
            <a:pPr lvl="1"/>
            <a:r>
              <a:rPr lang="ro-RO" sz="2400" dirty="0" smtClean="0"/>
              <a:t>FMI- de la univ de vest </a:t>
            </a:r>
          </a:p>
          <a:p>
            <a:pPr lvl="1"/>
            <a:r>
              <a:rPr lang="ro-RO" sz="2400" dirty="0" smtClean="0"/>
              <a:t>Politehnica – mai bine la București că e mai bună</a:t>
            </a:r>
          </a:p>
          <a:p>
            <a:r>
              <a:rPr lang="ro-RO" sz="2800" dirty="0" smtClean="0"/>
              <a:t>Iași:</a:t>
            </a:r>
          </a:p>
          <a:p>
            <a:pPr lvl="1"/>
            <a:r>
              <a:rPr lang="ro-RO" sz="2400" dirty="0" smtClean="0"/>
              <a:t>Alexandru Ioan Cuza – Informatică</a:t>
            </a:r>
            <a:endParaRPr lang="ro-RO" sz="2400" dirty="0"/>
          </a:p>
          <a:p>
            <a:pPr lvl="1"/>
            <a:r>
              <a:rPr lang="ro-RO" sz="2400" dirty="0" smtClean="0"/>
              <a:t>Automatică Iași – mai bine la București că e mai bună</a:t>
            </a:r>
          </a:p>
          <a:p>
            <a:r>
              <a:rPr lang="ro-RO" sz="2800" dirty="0" smtClean="0"/>
              <a:t>Restul țării nu.</a:t>
            </a:r>
            <a:endParaRPr lang="ro-RO" sz="2800" dirty="0"/>
          </a:p>
        </p:txBody>
      </p:sp>
    </p:spTree>
    <p:extLst>
      <p:ext uri="{BB962C8B-B14F-4D97-AF65-F5344CB8AC3E}">
        <p14:creationId xmlns:p14="http://schemas.microsoft.com/office/powerpoint/2010/main" val="404979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Ce prefer eu?</a:t>
            </a:r>
            <a:endParaRPr lang="ro-RO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4095987"/>
              </p:ext>
            </p:extLst>
          </p:nvPr>
        </p:nvGraphicFramePr>
        <p:xfrm>
          <a:off x="1262063" y="1828800"/>
          <a:ext cx="859472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5370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463388"/>
            <a:ext cx="9418320" cy="4041648"/>
          </a:xfrm>
        </p:spPr>
        <p:txBody>
          <a:bodyPr/>
          <a:lstStyle/>
          <a:p>
            <a:r>
              <a:rPr lang="ro-RO" dirty="0" smtClean="0"/>
              <a:t>Facultăți în străinătate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505036"/>
            <a:ext cx="9418320" cy="1987204"/>
          </a:xfrm>
        </p:spPr>
        <p:txBody>
          <a:bodyPr>
            <a:normAutofit fontScale="92500" lnSpcReduction="20000"/>
          </a:bodyPr>
          <a:lstStyle/>
          <a:p>
            <a:r>
              <a:rPr lang="ro-RO" dirty="0" smtClean="0"/>
              <a:t>Analiză înternațională despre facultăți </a:t>
            </a:r>
          </a:p>
          <a:p>
            <a:r>
              <a:rPr lang="ro-RO" dirty="0" smtClean="0"/>
              <a:t>Decât o universitate de rang 2 în străinătate, mai bine una de prim rang în România</a:t>
            </a:r>
          </a:p>
          <a:p>
            <a:r>
              <a:rPr lang="ro-RO" dirty="0" smtClean="0"/>
              <a:t>La fiecare facultate există diverse burse, pentru a atenua costurile</a:t>
            </a:r>
            <a:endParaRPr lang="ro-RO" dirty="0"/>
          </a:p>
          <a:p>
            <a:r>
              <a:rPr lang="ro-RO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844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Chestii de știut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2000" dirty="0" smtClean="0"/>
              <a:t>Primul an va implica costuri mai mari, fiind mai greu sau imposibil de a avea job part-time</a:t>
            </a:r>
          </a:p>
          <a:p>
            <a:r>
              <a:rPr lang="ro-RO" sz="2000" dirty="0" smtClean="0"/>
              <a:t>Sumele puse la fiecare facultate sunt inainte aplicarii unor burse sau împrumuturi studențești, etc. Cel puțin cele din UE au taxe mai mici decât cele puse acolo.</a:t>
            </a:r>
          </a:p>
          <a:p>
            <a:r>
              <a:rPr lang="ro-RO" sz="2000" dirty="0" smtClean="0"/>
              <a:t>În general licențele din străinătate puse de mine în prezentare sunt pe durata a 3 ani. Cele românești pe durata a 4 ani.</a:t>
            </a:r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137207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2857546" cy="1325562"/>
          </a:xfrm>
        </p:spPr>
        <p:txBody>
          <a:bodyPr/>
          <a:lstStyle/>
          <a:p>
            <a:r>
              <a:rPr lang="ro-RO" dirty="0" smtClean="0"/>
              <a:t>America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o-RO" sz="2800" b="1" dirty="0" smtClean="0"/>
              <a:t>Pentru:	</a:t>
            </a:r>
            <a:endParaRPr lang="ro-RO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o-RO" dirty="0" smtClean="0"/>
              <a:t>Facultăți bune și dotate</a:t>
            </a:r>
          </a:p>
          <a:p>
            <a:r>
              <a:rPr lang="ro-RO" dirty="0" smtClean="0"/>
              <a:t>Cei mai buni profesori</a:t>
            </a:r>
            <a:endParaRPr lang="ro-RO" dirty="0"/>
          </a:p>
          <a:p>
            <a:r>
              <a:rPr lang="ro-RO" dirty="0" smtClean="0"/>
              <a:t>Diplome respectate internațional</a:t>
            </a:r>
          </a:p>
          <a:p>
            <a:r>
              <a:rPr lang="ro-RO" dirty="0" smtClean="0"/>
              <a:t>Cursuri în engleză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ro-RO" sz="2800" b="1" dirty="0" smtClean="0"/>
              <a:t>Împotrivă:</a:t>
            </a:r>
            <a:endParaRPr lang="ro-RO" sz="2800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 smtClean="0"/>
              <a:t>Scump (trai + școlarizare)</a:t>
            </a:r>
          </a:p>
          <a:p>
            <a:r>
              <a:rPr lang="ro-RO" dirty="0" smtClean="0"/>
              <a:t>Admiterea e un joc de noroc</a:t>
            </a:r>
          </a:p>
          <a:p>
            <a:r>
              <a:rPr lang="ro-RO" dirty="0" smtClean="0"/>
              <a:t>Discriminarea e o problema reală</a:t>
            </a:r>
          </a:p>
          <a:p>
            <a:r>
              <a:rPr lang="ro-RO" dirty="0" smtClean="0"/>
              <a:t>Ai nevoie de mașină pentru orice </a:t>
            </a:r>
            <a:endParaRPr lang="ro-RO" dirty="0"/>
          </a:p>
          <a:p>
            <a:r>
              <a:rPr lang="ro-RO" dirty="0" smtClean="0"/>
              <a:t>Criteriile de admitere se bazează pe faptul că vii dintr-o minoritate sau că ai un handicap</a:t>
            </a:r>
          </a:p>
          <a:p>
            <a:r>
              <a:rPr lang="ro-RO" dirty="0" smtClean="0"/>
              <a:t>Sistem lipsit de meritocrație</a:t>
            </a:r>
          </a:p>
          <a:p>
            <a:r>
              <a:rPr lang="ro-RO" dirty="0" smtClean="0"/>
              <a:t>Departe de România</a:t>
            </a:r>
          </a:p>
          <a:p>
            <a:r>
              <a:rPr lang="ro-RO" dirty="0" smtClean="0"/>
              <a:t>Implică costuri mari cu firme pentru pregătirea admiterilor</a:t>
            </a:r>
            <a:endParaRPr lang="ro-RO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815727" y="365760"/>
            <a:ext cx="2857546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Tx/>
              <a:buChar char="-"/>
            </a:pPr>
            <a:r>
              <a:rPr lang="ro-RO" dirty="0" smtClean="0"/>
              <a:t>NU</a:t>
            </a:r>
          </a:p>
        </p:txBody>
      </p:sp>
    </p:spTree>
    <p:extLst>
      <p:ext uri="{BB962C8B-B14F-4D97-AF65-F5344CB8AC3E}">
        <p14:creationId xmlns:p14="http://schemas.microsoft.com/office/powerpoint/2010/main" val="111166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4480560" cy="1325562"/>
          </a:xfrm>
        </p:spPr>
        <p:txBody>
          <a:bodyPr/>
          <a:lstStyle/>
          <a:p>
            <a:r>
              <a:rPr lang="ro-RO" dirty="0" smtClean="0"/>
              <a:t>Marea Britanie: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o-RO" sz="2800" b="1" dirty="0" smtClean="0"/>
              <a:t>Pentru:</a:t>
            </a:r>
            <a:endParaRPr lang="ro-RO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o-RO" dirty="0" smtClean="0"/>
              <a:t>Profesori buni</a:t>
            </a:r>
          </a:p>
          <a:p>
            <a:r>
              <a:rPr lang="ro-RO" dirty="0" smtClean="0"/>
              <a:t>Facultăți recunoscute internațional</a:t>
            </a:r>
          </a:p>
          <a:p>
            <a:r>
              <a:rPr lang="ro-RO" dirty="0" smtClean="0"/>
              <a:t>Nu mai are sens să continui</a:t>
            </a:r>
            <a:endParaRPr lang="ro-RO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ro-RO" sz="2800" b="1" dirty="0" smtClean="0"/>
              <a:t>Împotrivă:</a:t>
            </a:r>
            <a:endParaRPr lang="ro-RO" sz="2800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o-RO" dirty="0" smtClean="0"/>
              <a:t>Minim 40 000 de euro taxă de școlarizare</a:t>
            </a:r>
          </a:p>
          <a:p>
            <a:r>
              <a:rPr lang="ro-RO" dirty="0" smtClean="0"/>
              <a:t>Burse prea puține sub 30 dintr-o mie</a:t>
            </a:r>
            <a:endParaRPr lang="ro-RO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616817" y="356906"/>
            <a:ext cx="448056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dirty="0" smtClean="0"/>
              <a:t>- NU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1339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Olanda: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ro-RO" b="1" dirty="0" smtClean="0">
                <a:hlinkClick r:id="rId2"/>
              </a:rPr>
              <a:t>Delft University of Technology</a:t>
            </a:r>
            <a:endParaRPr lang="ro-RO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o-RO" sz="2000" dirty="0" smtClean="0"/>
              <a:t>Test de admitere la mate, logică și algoritmică</a:t>
            </a:r>
            <a:endParaRPr lang="ro-RO" sz="2000" dirty="0"/>
          </a:p>
          <a:p>
            <a:r>
              <a:rPr lang="ro-RO" sz="2000" dirty="0" smtClean="0"/>
              <a:t>Taxe 2530 euro/ an</a:t>
            </a:r>
          </a:p>
          <a:p>
            <a:r>
              <a:rPr lang="ro-RO" sz="2000" dirty="0" smtClean="0"/>
              <a:t>Cazare greu de găsit</a:t>
            </a:r>
          </a:p>
          <a:p>
            <a:r>
              <a:rPr lang="ro-RO" sz="2000" dirty="0" smtClean="0"/>
              <a:t>Cursuri în engleză</a:t>
            </a:r>
          </a:p>
          <a:p>
            <a:r>
              <a:rPr lang="ro-RO" sz="2000" dirty="0" smtClean="0"/>
              <a:t>Costul vieții între 1000 si 1500 de euro pe luna</a:t>
            </a:r>
          </a:p>
          <a:p>
            <a:r>
              <a:rPr lang="ro-RO" sz="2000" dirty="0" smtClean="0"/>
              <a:t>Top 49 general, top 44 pe informatică și sisteme informatice</a:t>
            </a:r>
            <a:endParaRPr lang="ro-RO" sz="2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 smtClean="0">
                <a:hlinkClick r:id="rId3"/>
              </a:rPr>
              <a:t>Eindhoven University of Technology</a:t>
            </a:r>
            <a:endParaRPr lang="ro-RO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sz="2200" dirty="0"/>
              <a:t>Test de admitere la mate, logică și algoritmică</a:t>
            </a:r>
          </a:p>
          <a:p>
            <a:r>
              <a:rPr lang="ro-RO" sz="2200" dirty="0"/>
              <a:t>Taxe </a:t>
            </a:r>
            <a:r>
              <a:rPr lang="ro-RO" sz="2200" dirty="0"/>
              <a:t>2530 </a:t>
            </a:r>
            <a:r>
              <a:rPr lang="ro-RO" sz="2200" dirty="0"/>
              <a:t>euro/an</a:t>
            </a:r>
          </a:p>
          <a:p>
            <a:r>
              <a:rPr lang="ro-RO" sz="2200" dirty="0"/>
              <a:t>Cazare greu de găsit</a:t>
            </a:r>
          </a:p>
          <a:p>
            <a:r>
              <a:rPr lang="ro-RO" sz="2200" dirty="0"/>
              <a:t>Cursuri în engleză</a:t>
            </a:r>
          </a:p>
          <a:p>
            <a:r>
              <a:rPr lang="ro-RO" sz="2200" dirty="0"/>
              <a:t>Costul vieții între 1000 si 1500 de euro pe luna</a:t>
            </a:r>
          </a:p>
          <a:p>
            <a:r>
              <a:rPr lang="ro-RO" sz="2200" dirty="0"/>
              <a:t>Top 136 general, top 75 pe informatică și sisteme informatice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6802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Facultăți europene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 smtClean="0">
                <a:hlinkClick r:id="rId2"/>
              </a:rPr>
              <a:t>Ecole polytechnique de Paris</a:t>
            </a:r>
            <a:endParaRPr lang="ro-RO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o-RO" dirty="0" smtClean="0">
                <a:hlinkClick r:id="rId3"/>
              </a:rPr>
              <a:t>Dosar, dar trebuie Engleză C1</a:t>
            </a:r>
            <a:endParaRPr lang="ro-RO" dirty="0"/>
          </a:p>
          <a:p>
            <a:r>
              <a:rPr lang="ro-RO" dirty="0">
                <a:hlinkClick r:id="rId4"/>
              </a:rPr>
              <a:t>Taxe </a:t>
            </a:r>
            <a:r>
              <a:rPr lang="ro-RO" dirty="0" smtClean="0">
                <a:hlinkClick r:id="rId4"/>
              </a:rPr>
              <a:t>3850 </a:t>
            </a:r>
            <a:r>
              <a:rPr lang="ro-RO" dirty="0">
                <a:hlinkClick r:id="rId4"/>
              </a:rPr>
              <a:t>euro/ </a:t>
            </a:r>
            <a:r>
              <a:rPr lang="ro-RO" dirty="0" smtClean="0">
                <a:hlinkClick r:id="rId4"/>
              </a:rPr>
              <a:t>an</a:t>
            </a:r>
            <a:endParaRPr lang="ro-RO" dirty="0" smtClean="0"/>
          </a:p>
          <a:p>
            <a:r>
              <a:rPr lang="ro-RO" dirty="0" smtClean="0"/>
              <a:t>Cursuri </a:t>
            </a:r>
            <a:r>
              <a:rPr lang="ro-RO" dirty="0"/>
              <a:t>în </a:t>
            </a:r>
            <a:r>
              <a:rPr lang="ro-RO" dirty="0" smtClean="0"/>
              <a:t>engleză</a:t>
            </a:r>
          </a:p>
          <a:p>
            <a:r>
              <a:rPr lang="ro-RO" dirty="0" smtClean="0"/>
              <a:t>Am auzit și lucruri rele, dar și lucruri bune</a:t>
            </a:r>
            <a:endParaRPr lang="ro-RO" dirty="0"/>
          </a:p>
          <a:p>
            <a:r>
              <a:rPr lang="ro-RO" dirty="0"/>
              <a:t>Costul vieții între </a:t>
            </a:r>
            <a:r>
              <a:rPr lang="ro-RO" dirty="0" smtClean="0"/>
              <a:t>1150 </a:t>
            </a:r>
            <a:r>
              <a:rPr lang="ro-RO" dirty="0"/>
              <a:t>si </a:t>
            </a:r>
            <a:r>
              <a:rPr lang="ro-RO" dirty="0" smtClean="0"/>
              <a:t>1720 </a:t>
            </a:r>
            <a:r>
              <a:rPr lang="ro-RO" dirty="0"/>
              <a:t>de euro pe luna</a:t>
            </a:r>
          </a:p>
          <a:p>
            <a:r>
              <a:rPr lang="ro-RO" dirty="0"/>
              <a:t>Top </a:t>
            </a:r>
            <a:r>
              <a:rPr lang="ro-RO" dirty="0" smtClean="0"/>
              <a:t>46 </a:t>
            </a:r>
            <a:r>
              <a:rPr lang="ro-RO" dirty="0"/>
              <a:t>general, top </a:t>
            </a:r>
            <a:r>
              <a:rPr lang="ro-RO" dirty="0" smtClean="0"/>
              <a:t>36 </a:t>
            </a:r>
            <a:r>
              <a:rPr lang="ro-RO" dirty="0"/>
              <a:t>pe informatică și sisteme informatice</a:t>
            </a:r>
          </a:p>
          <a:p>
            <a:endParaRPr lang="ro-RO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 smtClean="0">
                <a:hlinkClick r:id="rId5"/>
              </a:rPr>
              <a:t>Politecnico di Torino</a:t>
            </a:r>
            <a:endParaRPr lang="ro-RO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o-RO" dirty="0"/>
              <a:t>Test de </a:t>
            </a:r>
            <a:r>
              <a:rPr lang="ro-RO" dirty="0" smtClean="0"/>
              <a:t>admitere, cică foarte simplu</a:t>
            </a:r>
            <a:endParaRPr lang="ro-RO" dirty="0"/>
          </a:p>
          <a:p>
            <a:r>
              <a:rPr lang="ro-RO" dirty="0"/>
              <a:t>Taxe </a:t>
            </a:r>
            <a:r>
              <a:rPr lang="ro-RO" dirty="0" smtClean="0"/>
              <a:t>2600 </a:t>
            </a:r>
            <a:r>
              <a:rPr lang="ro-RO" dirty="0"/>
              <a:t>euro/ </a:t>
            </a:r>
            <a:r>
              <a:rPr lang="ro-RO" dirty="0" smtClean="0"/>
              <a:t>an</a:t>
            </a:r>
          </a:p>
          <a:p>
            <a:r>
              <a:rPr lang="ro-RO" dirty="0" smtClean="0"/>
              <a:t>Fata de la astro care acum a trecut la facultate e acolo și o sa cer opinie</a:t>
            </a:r>
            <a:endParaRPr lang="ro-RO" dirty="0"/>
          </a:p>
          <a:p>
            <a:r>
              <a:rPr lang="ro-RO" dirty="0" smtClean="0"/>
              <a:t>Cursuri </a:t>
            </a:r>
            <a:r>
              <a:rPr lang="ro-RO" dirty="0"/>
              <a:t>în engleză</a:t>
            </a:r>
          </a:p>
          <a:p>
            <a:r>
              <a:rPr lang="ro-RO" dirty="0"/>
              <a:t>Costul vieții între </a:t>
            </a:r>
            <a:r>
              <a:rPr lang="ro-RO" dirty="0" smtClean="0"/>
              <a:t>900 </a:t>
            </a:r>
            <a:r>
              <a:rPr lang="ro-RO" dirty="0"/>
              <a:t>si </a:t>
            </a:r>
            <a:r>
              <a:rPr lang="ro-RO" dirty="0" smtClean="0"/>
              <a:t>1200 </a:t>
            </a:r>
            <a:r>
              <a:rPr lang="ro-RO" dirty="0"/>
              <a:t>de euro pe luna</a:t>
            </a:r>
          </a:p>
          <a:p>
            <a:r>
              <a:rPr lang="ro-RO" dirty="0"/>
              <a:t>Top </a:t>
            </a:r>
            <a:r>
              <a:rPr lang="ro-RO" dirty="0" smtClean="0"/>
              <a:t>241 general</a:t>
            </a:r>
            <a:r>
              <a:rPr lang="ro-RO" dirty="0"/>
              <a:t>, top </a:t>
            </a:r>
            <a:r>
              <a:rPr lang="ro-RO" dirty="0" smtClean="0"/>
              <a:t>92 </a:t>
            </a:r>
            <a:r>
              <a:rPr lang="ro-RO" dirty="0"/>
              <a:t>pe informatică și sisteme informatice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7785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1331608"/>
            <a:ext cx="9418320" cy="1550139"/>
          </a:xfrm>
        </p:spPr>
        <p:txBody>
          <a:bodyPr/>
          <a:lstStyle/>
          <a:p>
            <a:r>
              <a:rPr lang="ro-RO" dirty="0" smtClean="0"/>
              <a:t>De ce nu în franceză?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2881747"/>
            <a:ext cx="10071146" cy="3610493"/>
          </a:xfrm>
        </p:spPr>
        <p:txBody>
          <a:bodyPr numCol="1"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 smtClean="0"/>
              <a:t>Da, știu, este puțin ambițios,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 smtClean="0"/>
              <a:t>Nu doar puțin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 smtClean="0"/>
              <a:t>Practic este o nebunie, daaar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 smtClean="0"/>
              <a:t>Ar fi o ocazie să-mi perfecționez o </a:t>
            </a:r>
            <a:r>
              <a:rPr lang="ro-RO" b="1" dirty="0" smtClean="0"/>
              <a:t>a 3-a limbă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 smtClean="0"/>
              <a:t>Universitățile în limba națională sunt mult mai bune decât cele în engleză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 smtClean="0"/>
              <a:t>Înveți o cultură nouă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 smtClean="0"/>
              <a:t>Dacă reușesc acum să-mi iau Delful pot visa la așa ceva, majoritatea facultăților cerând minim un B2, dar recomandă C1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9568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402871"/>
            <a:ext cx="4621692" cy="1325562"/>
          </a:xfrm>
        </p:spPr>
        <p:txBody>
          <a:bodyPr/>
          <a:lstStyle/>
          <a:p>
            <a:r>
              <a:rPr lang="ro-RO" dirty="0" smtClean="0"/>
              <a:t>Paris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50766"/>
            <a:ext cx="4480560" cy="731520"/>
          </a:xfrm>
        </p:spPr>
        <p:txBody>
          <a:bodyPr/>
          <a:lstStyle/>
          <a:p>
            <a:r>
              <a:rPr lang="ro-RO" dirty="0" smtClean="0">
                <a:hlinkClick r:id="rId2"/>
              </a:rPr>
              <a:t>Paris PSL</a:t>
            </a:r>
            <a:endParaRPr lang="ro-RO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Admitere pe dosar</a:t>
            </a:r>
          </a:p>
          <a:p>
            <a:r>
              <a:rPr lang="ro-RO" dirty="0" smtClean="0"/>
              <a:t>Taxe sub 350 </a:t>
            </a:r>
            <a:r>
              <a:rPr lang="ro-RO" dirty="0"/>
              <a:t>euro/ </a:t>
            </a:r>
            <a:r>
              <a:rPr lang="ro-RO" dirty="0" smtClean="0"/>
              <a:t>an din ce am gasit pe un site aleatoriu</a:t>
            </a:r>
          </a:p>
          <a:p>
            <a:r>
              <a:rPr lang="ro-RO" dirty="0" smtClean="0"/>
              <a:t>Cursuri </a:t>
            </a:r>
            <a:r>
              <a:rPr lang="ro-RO" dirty="0"/>
              <a:t>în </a:t>
            </a:r>
            <a:r>
              <a:rPr lang="ro-RO" dirty="0" smtClean="0"/>
              <a:t>franceză</a:t>
            </a:r>
            <a:endParaRPr lang="ro-RO" dirty="0"/>
          </a:p>
          <a:p>
            <a:r>
              <a:rPr lang="ro-RO" dirty="0"/>
              <a:t>Costul vieții între 1150 si 1720 de euro pe luna</a:t>
            </a:r>
          </a:p>
          <a:p>
            <a:r>
              <a:rPr lang="ro-RO" dirty="0" smtClean="0"/>
              <a:t>Top 24 </a:t>
            </a:r>
            <a:r>
              <a:rPr lang="ro-RO" dirty="0"/>
              <a:t>general, top </a:t>
            </a:r>
            <a:r>
              <a:rPr lang="ro-RO" dirty="0" smtClean="0"/>
              <a:t>58 </a:t>
            </a:r>
            <a:r>
              <a:rPr lang="ro-RO" dirty="0"/>
              <a:t>pe informatică și sisteme informatice</a:t>
            </a:r>
          </a:p>
          <a:p>
            <a:endParaRPr lang="ro-RO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o-RO" dirty="0"/>
          </a:p>
          <a:p>
            <a:pPr algn="r"/>
            <a:r>
              <a:rPr lang="ro-RO" u="sng" dirty="0">
                <a:hlinkClick r:id="rId3"/>
              </a:rPr>
              <a:t>Sorbonne </a:t>
            </a:r>
            <a:r>
              <a:rPr lang="ro-RO" u="sng" dirty="0" smtClean="0">
                <a:hlinkClick r:id="rId3"/>
              </a:rPr>
              <a:t>Université</a:t>
            </a:r>
            <a:endParaRPr lang="ro-RO" u="sng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r"/>
            <a:r>
              <a:rPr lang="ro-RO" dirty="0" smtClean="0"/>
              <a:t>Admitere pe dosar</a:t>
            </a:r>
          </a:p>
          <a:p>
            <a:pPr algn="r"/>
            <a:r>
              <a:rPr lang="ro-RO" dirty="0" smtClean="0"/>
              <a:t>Rată de admisie 98%</a:t>
            </a:r>
            <a:endParaRPr lang="ro-RO" dirty="0"/>
          </a:p>
          <a:p>
            <a:pPr algn="r"/>
            <a:r>
              <a:rPr lang="ro-RO" dirty="0"/>
              <a:t>Taxe </a:t>
            </a:r>
            <a:r>
              <a:rPr lang="ro-RO" dirty="0" smtClean="0"/>
              <a:t>sub 200 euro</a:t>
            </a:r>
            <a:r>
              <a:rPr lang="ro-RO" dirty="0"/>
              <a:t>/ an </a:t>
            </a:r>
            <a:endParaRPr lang="ro-RO" dirty="0" smtClean="0"/>
          </a:p>
          <a:p>
            <a:pPr algn="r"/>
            <a:r>
              <a:rPr lang="ro-RO" dirty="0" smtClean="0"/>
              <a:t>Cursuri </a:t>
            </a:r>
            <a:r>
              <a:rPr lang="ro-RO" dirty="0"/>
              <a:t>în franceză</a:t>
            </a:r>
          </a:p>
          <a:p>
            <a:pPr algn="r"/>
            <a:r>
              <a:rPr lang="ro-RO" dirty="0"/>
              <a:t>Costul vieții între 1150 si 1720 de euro pe luna</a:t>
            </a:r>
          </a:p>
          <a:p>
            <a:pPr algn="r"/>
            <a:r>
              <a:rPr lang="ro-RO" dirty="0"/>
              <a:t>Top </a:t>
            </a:r>
            <a:r>
              <a:rPr lang="ro-RO" dirty="0" smtClean="0"/>
              <a:t>63 </a:t>
            </a:r>
            <a:r>
              <a:rPr lang="ro-RO" dirty="0"/>
              <a:t>general, top </a:t>
            </a:r>
            <a:r>
              <a:rPr lang="ro-RO" dirty="0" smtClean="0"/>
              <a:t>52 </a:t>
            </a:r>
            <a:r>
              <a:rPr lang="ro-RO" dirty="0"/>
              <a:t>pe informatică și sisteme informatice</a:t>
            </a:r>
          </a:p>
          <a:p>
            <a:pPr algn="r"/>
            <a:endParaRPr lang="ro-RO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883564" y="402871"/>
            <a:ext cx="4621692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o-RO" dirty="0" smtClean="0"/>
              <a:t>Paris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0871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uiExpand="1" build="p"/>
      <p:bldP spid="5" grpId="0" build="p"/>
      <p:bldP spid="6" grpId="0" uiExpand="1" build="p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4621692" cy="1325562"/>
          </a:xfrm>
        </p:spPr>
        <p:txBody>
          <a:bodyPr/>
          <a:lstStyle/>
          <a:p>
            <a:r>
              <a:rPr lang="ro-RO" dirty="0" smtClean="0"/>
              <a:t>Paris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b="1" dirty="0">
                <a:hlinkClick r:id="rId2"/>
              </a:rPr>
              <a:t>Université Paris-Saclay</a:t>
            </a:r>
            <a:endParaRPr lang="ro-RO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Admitere pe examen</a:t>
            </a:r>
          </a:p>
          <a:p>
            <a:r>
              <a:rPr lang="ro-RO" dirty="0" smtClean="0"/>
              <a:t>Taxe sub 300 euro/an</a:t>
            </a:r>
          </a:p>
          <a:p>
            <a:r>
              <a:rPr lang="ro-RO" dirty="0" smtClean="0"/>
              <a:t>Cursuri </a:t>
            </a:r>
            <a:r>
              <a:rPr lang="ro-RO" dirty="0"/>
              <a:t>în </a:t>
            </a:r>
            <a:r>
              <a:rPr lang="ro-RO" dirty="0" smtClean="0"/>
              <a:t>franceză</a:t>
            </a:r>
            <a:endParaRPr lang="ro-RO" dirty="0"/>
          </a:p>
          <a:p>
            <a:r>
              <a:rPr lang="ro-RO" dirty="0"/>
              <a:t>Costul vieții între 1150 si 1720 de euro pe luna</a:t>
            </a:r>
          </a:p>
          <a:p>
            <a:r>
              <a:rPr lang="ro-RO" dirty="0" smtClean="0"/>
              <a:t>Top 73 </a:t>
            </a:r>
            <a:r>
              <a:rPr lang="ro-RO" dirty="0"/>
              <a:t>general, top </a:t>
            </a:r>
            <a:r>
              <a:rPr lang="ro-RO" dirty="0" smtClean="0"/>
              <a:t>44 </a:t>
            </a:r>
            <a:r>
              <a:rPr lang="ro-RO" dirty="0"/>
              <a:t>pe informatică și sisteme </a:t>
            </a:r>
            <a:r>
              <a:rPr lang="ro-RO" dirty="0" smtClean="0"/>
              <a:t>informatice</a:t>
            </a:r>
            <a:endParaRPr lang="ro-RO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endParaRPr lang="ro-RO" dirty="0"/>
          </a:p>
          <a:p>
            <a:pPr algn="r"/>
            <a:r>
              <a:rPr lang="ro-RO" u="sng" dirty="0">
                <a:hlinkClick r:id="rId3"/>
              </a:rPr>
              <a:t>Ecole Polytechnique Federale de Lausanne </a:t>
            </a:r>
            <a:r>
              <a:rPr lang="ro-RO" u="sng" dirty="0" smtClean="0">
                <a:hlinkClick r:id="rId3"/>
              </a:rPr>
              <a:t>(EPFL)</a:t>
            </a:r>
            <a:endParaRPr lang="ro-RO" u="sng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r"/>
            <a:r>
              <a:rPr lang="ro-RO" dirty="0" smtClean="0"/>
              <a:t>Admitere pe dosar</a:t>
            </a:r>
          </a:p>
          <a:p>
            <a:pPr algn="r"/>
            <a:r>
              <a:rPr lang="ro-RO" dirty="0" smtClean="0"/>
              <a:t>Rată de admisie 30%</a:t>
            </a:r>
            <a:endParaRPr lang="ro-RO" dirty="0"/>
          </a:p>
          <a:p>
            <a:pPr algn="r"/>
            <a:r>
              <a:rPr lang="ro-RO" dirty="0"/>
              <a:t>Taxe </a:t>
            </a:r>
            <a:r>
              <a:rPr lang="ro-RO" dirty="0" smtClean="0"/>
              <a:t>de 1560euro</a:t>
            </a:r>
            <a:r>
              <a:rPr lang="ro-RO" dirty="0"/>
              <a:t>/ an </a:t>
            </a:r>
            <a:endParaRPr lang="ro-RO" dirty="0" smtClean="0"/>
          </a:p>
          <a:p>
            <a:pPr algn="r"/>
            <a:r>
              <a:rPr lang="ro-RO" dirty="0" smtClean="0"/>
              <a:t>Cursuri </a:t>
            </a:r>
            <a:r>
              <a:rPr lang="ro-RO" dirty="0"/>
              <a:t>în franceză</a:t>
            </a:r>
          </a:p>
          <a:p>
            <a:pPr algn="r"/>
            <a:r>
              <a:rPr lang="ro-RO" dirty="0"/>
              <a:t>Costul vieții între </a:t>
            </a:r>
            <a:r>
              <a:rPr lang="ro-RO" dirty="0" smtClean="0"/>
              <a:t>1600 </a:t>
            </a:r>
            <a:r>
              <a:rPr lang="ro-RO" dirty="0"/>
              <a:t>si </a:t>
            </a:r>
            <a:r>
              <a:rPr lang="ro-RO" dirty="0" smtClean="0"/>
              <a:t>2000 </a:t>
            </a:r>
            <a:r>
              <a:rPr lang="ro-RO" dirty="0"/>
              <a:t>de euro pe luna</a:t>
            </a:r>
          </a:p>
          <a:p>
            <a:pPr algn="r"/>
            <a:r>
              <a:rPr lang="ro-RO" dirty="0"/>
              <a:t>Top </a:t>
            </a:r>
            <a:r>
              <a:rPr lang="ro-RO" dirty="0" smtClean="0"/>
              <a:t>26 </a:t>
            </a:r>
            <a:r>
              <a:rPr lang="ro-RO" dirty="0"/>
              <a:t>general, top </a:t>
            </a:r>
            <a:r>
              <a:rPr lang="ro-RO" dirty="0" smtClean="0"/>
              <a:t>10 </a:t>
            </a:r>
            <a:r>
              <a:rPr lang="ro-RO" dirty="0"/>
              <a:t>pe informatică și sisteme </a:t>
            </a:r>
            <a:r>
              <a:rPr lang="ro-RO" dirty="0" smtClean="0"/>
              <a:t>informatice, mate și inginerie</a:t>
            </a:r>
            <a:endParaRPr lang="ro-RO" dirty="0"/>
          </a:p>
          <a:p>
            <a:pPr algn="r"/>
            <a:endParaRPr lang="ro-RO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883564" y="402871"/>
            <a:ext cx="4621692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o-RO" dirty="0" smtClean="0"/>
              <a:t>Elveția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8581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uiExpand="1" build="p"/>
      <p:bldP spid="5" grpId="0" build="p"/>
      <p:bldP spid="6" grpId="0" uiExpand="1" build="p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Tabere de vară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 smtClean="0"/>
              <a:t>Ecole Polytechnique de Paris</a:t>
            </a:r>
            <a:endParaRPr lang="ro-RO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642996"/>
            <a:ext cx="4480560" cy="1011505"/>
          </a:xfrm>
        </p:spPr>
        <p:txBody>
          <a:bodyPr/>
          <a:lstStyle/>
          <a:p>
            <a:r>
              <a:rPr lang="ro-RO" dirty="0" smtClean="0"/>
              <a:t>Organizează în iulie 2 săptămâni de cursuri la facultate</a:t>
            </a:r>
            <a:endParaRPr lang="ro-RO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 smtClean="0"/>
              <a:t>Universitatea de Vest din Timișoara</a:t>
            </a:r>
            <a:endParaRPr lang="ro-RO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61872" y="4405746"/>
            <a:ext cx="4480560" cy="1682465"/>
          </a:xfrm>
        </p:spPr>
        <p:txBody>
          <a:bodyPr/>
          <a:lstStyle/>
          <a:p>
            <a:r>
              <a:rPr lang="ro-RO" dirty="0" smtClean="0"/>
              <a:t>Organizeaza 2 săptămâni de tabere de vară</a:t>
            </a:r>
            <a:endParaRPr lang="ro-RO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1261872" y="3471026"/>
            <a:ext cx="4480560" cy="731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000" b="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 smtClean="0"/>
              <a:t>UBB - Cluj</a:t>
            </a:r>
            <a:endParaRPr lang="ro-RO" dirty="0"/>
          </a:p>
        </p:txBody>
      </p:sp>
      <p:sp>
        <p:nvSpPr>
          <p:cNvPr id="12" name="Content Placeholder 5"/>
          <p:cNvSpPr txBox="1">
            <a:spLocks/>
          </p:cNvSpPr>
          <p:nvPr/>
        </p:nvSpPr>
        <p:spPr>
          <a:xfrm>
            <a:off x="6278880" y="2642996"/>
            <a:ext cx="4480560" cy="811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 smtClean="0"/>
              <a:t>Organizează 2 sătămâni de tabere de vară</a:t>
            </a:r>
            <a:endParaRPr lang="ro-RO" dirty="0"/>
          </a:p>
        </p:txBody>
      </p:sp>
      <p:sp>
        <p:nvSpPr>
          <p:cNvPr id="13" name="Text Placeholder 4"/>
          <p:cNvSpPr txBox="1">
            <a:spLocks/>
          </p:cNvSpPr>
          <p:nvPr/>
        </p:nvSpPr>
        <p:spPr>
          <a:xfrm>
            <a:off x="6126480" y="3568215"/>
            <a:ext cx="4480560" cy="731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lang="en-US" sz="20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o-RO" dirty="0"/>
              <a:t>Ecole Polytechnique Federale de Lausanne (EPFL</a:t>
            </a:r>
            <a:r>
              <a:rPr lang="ro-RO" u="sng" dirty="0"/>
              <a:t>)</a:t>
            </a:r>
            <a:endParaRPr lang="ro-RO" u="sng" dirty="0"/>
          </a:p>
        </p:txBody>
      </p:sp>
      <p:sp>
        <p:nvSpPr>
          <p:cNvPr id="14" name="Content Placeholder 5"/>
          <p:cNvSpPr txBox="1">
            <a:spLocks/>
          </p:cNvSpPr>
          <p:nvPr/>
        </p:nvSpPr>
        <p:spPr>
          <a:xfrm>
            <a:off x="6126480" y="4413879"/>
            <a:ext cx="4480560" cy="8110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 smtClean="0"/>
              <a:t>Organizează câte o săptămână de cursuri pe diverse teme pe tot parcursrul anului.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5470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6" grpId="0" build="p"/>
      <p:bldP spid="7" grpId="0"/>
      <p:bldP spid="12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Oricum...</a:t>
            </a:r>
            <a:endParaRPr lang="ro-RO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482923"/>
              </p:ext>
            </p:extLst>
          </p:nvPr>
        </p:nvGraphicFramePr>
        <p:xfrm>
          <a:off x="1262063" y="1828800"/>
          <a:ext cx="859472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79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 smtClean="0"/>
              <a:t>Cam asta a fost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932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579</TotalTime>
  <Words>1321</Words>
  <Application>Microsoft Office PowerPoint</Application>
  <PresentationFormat>Widescreen</PresentationFormat>
  <Paragraphs>199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Century Schoolbook</vt:lpstr>
      <vt:lpstr>Wingdings 2</vt:lpstr>
      <vt:lpstr>View</vt:lpstr>
      <vt:lpstr>FACULTATE Ce planuri am? Ce urmează?  Unde aș vrea să mă îndrept? De ce am ales? Practic întrebări fără răspuns!</vt:lpstr>
      <vt:lpstr>Facultatea</vt:lpstr>
      <vt:lpstr>Ce conține acest...material?</vt:lpstr>
      <vt:lpstr>Portofoliu personal:</vt:lpstr>
      <vt:lpstr>Ce planuri am/ nu am pentru clasa a XI-a?</vt:lpstr>
      <vt:lpstr>La ce dau la facultate? (la licență)</vt:lpstr>
      <vt:lpstr>Ce meserii mă tenteză să urmez astăzi?</vt:lpstr>
      <vt:lpstr>Facultăți în țară</vt:lpstr>
      <vt:lpstr>Facultatea în România</vt:lpstr>
      <vt:lpstr>Politehnica București</vt:lpstr>
      <vt:lpstr>Alte facultăți din București:</vt:lpstr>
      <vt:lpstr>Babeș și Automatica de la Cluj</vt:lpstr>
      <vt:lpstr>Restul țării, nu sunt foarte interesat</vt:lpstr>
      <vt:lpstr>Ce prefer eu?</vt:lpstr>
      <vt:lpstr>Facultăți în străinătate</vt:lpstr>
      <vt:lpstr>Chestii de știut</vt:lpstr>
      <vt:lpstr>America</vt:lpstr>
      <vt:lpstr>Marea Britanie:</vt:lpstr>
      <vt:lpstr>Olanda:</vt:lpstr>
      <vt:lpstr>Facultăți europene</vt:lpstr>
      <vt:lpstr>De ce nu în franceză?</vt:lpstr>
      <vt:lpstr>Paris</vt:lpstr>
      <vt:lpstr>Paris</vt:lpstr>
      <vt:lpstr>Tabere de vară</vt:lpstr>
      <vt:lpstr>Oricum...</vt:lpstr>
      <vt:lpstr>Cam asta a fost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 planuri am? Ce urmează?  Unde aș vrea să mă îndrept? De ce am ales? Practic întrebări fără răspuns!</dc:title>
  <dc:creator>Windows User</dc:creator>
  <cp:lastModifiedBy>Windows User</cp:lastModifiedBy>
  <cp:revision>37</cp:revision>
  <dcterms:created xsi:type="dcterms:W3CDTF">2024-09-07T22:04:03Z</dcterms:created>
  <dcterms:modified xsi:type="dcterms:W3CDTF">2024-09-08T19:48:28Z</dcterms:modified>
</cp:coreProperties>
</file>